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Critical Design Review for the thermal surveillance UAS — an autonomous, daytime wildlife-scouting drone that detects and classifies animals by their thermal signature. This review presents the detailed design, shows it traces to requirements, and demonstrates compliance through analysis. The design is model-based in SysML v2 and version-controlled in git; everything you will see is generated from that single authoritative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purpose of a CDR is to confirm the detailed design meets requirements and is ready to build. Scope is the committed Phase 1–3 system; the Phase 4 video downlink is shown only as a deferred capability. I'll walk requirements and traceability, architecture, interfaces, behavior, the engineering analyses, then verification, risk, and closure. The exit criteria I'm holding us to are on the final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maps our package to the standard design-review content areas so you can confirm completeness at a glance. Every required area is addressed, with the slide where you'll find it. Only verification is 'plan defined' rather than complete — that is exactly right at CDR, because test execution happens at the next gate, not this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mission is autonomous daytime thermal survey of wildlife over open terrain — the thermal camera detects and classifies by heat signature, which works fine in daylight, so the concept is daytime-only. The operating point sets everything downstream: 90 to 120 meters altitude, 2.23 meters per second, a 2.8 kilometer survey line in up to 4.5 meters per second of wind, with at least a 5-degree target-to-background thermal contrast. A sortie plans a route, takes off, cruises while running live onboard thermal inference, investigates and classifies detections, then returns and lands. The autonomy stance: thermal is processed onboard in real time to drive route changes — no recording and no required downlink in the committed build, with a thermal-video downlink planned as a future capability in Phase 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OV-1 — the DoDAF High-Level Operational Concept Graphic — the one picture that tells the whole mission story. By day, the drone flies an autonomous survey pattern at 90 to 120 meters, sweeping open terrain with its thermal camera and detecting and classifying wildlife and humans by their heat signature. It processes the thermal feed onboard in real time to re-route itself, so no video downlink is required. It stays linked to a single ground operator — a laptop running QGroundControl with an ELRS control-and-telemetry link and a directional video antenna — out to a 2.8-kilometer surveillance range in up to 4.5 meters per second of wind. Every callout ties back to a driving requirement: altitude R1, speed R2, detect and classify R3, range R7. Where the block diagrams that follow show structure, this shows the concept of operations.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requirements and traceability — the foundation every later decision has to satisfy.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shows how the requirements decompose by subsystem in the model. The eight mission requirements at the top break down into per-subsystem requirement packages — airframe, battery, thermal camera, computer, ground control, and autonomy — each labeled with the number of requirements it holds. Every one of those subsets a mission requirement and is satisfied by a component. This is the structural map; the full requirement text and allocations are in the three RTM slides that follow. The point is that requirements are modeled formally in SysML, not just listed in a document.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eight top-level mission requirements, taken directly from the model. R1 and R2 set the flight envelope, R3 the thermal detect-and-classify capability, R4 the twenty-five-hundred-dollar cost cap, R6 and R8 endurance, and R7 range. The side panel shows the verification method for each. At CDR, analysis is complete for all of them; demonstrations and tests are planned and gated later.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Traceability here is bidirectional and derived from the model, not maintained by hand. Each subsystem requirement subsets its parent mission requirement, and each component carries a satisfy link to the requirements it meets. The rollup on the right shows every mission requirement decomposes and allocates to real components. The full matrix follows on the next three slides.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airframe and autonomy-behavior slice of the traceability matrix. The behavior requirements — altitude hold, speed hold, and return-to-launch on link-loss and low battery — allocate to autonomy functions and the ArduPilot firmware. Every row ties a requirement to the component responsible for meeting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Battery and thermal-camera requirements. The battery drives the endurance, energy, and voltage requirements; the camera drives detection, resolution, field of view, and NETD. These allocate to the Battery and IRCamera parts, and the cost sub-requirements roll up to the R4 budget.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onboard-computer and ground-control requirements. The SBC covers compute power, thermal video input, MAVLink data exchange, and the passive-cooling constraint. The GCS covers control authority, telemetry display, range, and video display. Note that the 2.8-kilometer range requirement allocates to the antennas and RF chain — we verify that directly in the link-budget analysis.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system architecture — how the design is physically decomposed and interconnected.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block-definition, or composition, view — the SysML v2 analog of a classic BDD. It shows each part definition and the typed part usages it is composed of: the Aerial Observation System is a Drone plus a GCS; the Drone is composed of the airframe, battery, anti-spark filter, thermal camera, FPV camera, GPS, onboard computer, receiver, video transmitter, UBEC, and antennas; and the GCS of the laptop, video receiver, USB capture, radio, telemetry link, ground antenna, and charger. Where the internal block diagrams that follow show how these parts connect, this view shows what the system is made of. Phase-4 OpenHD parts are omitted for the committed build.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top level the system is a drone plus a laptop-based ground station, joined by three wireless links: analog FPV video on 5.8 gigahertz for piloting, ELRS on 2.4 gigahertz carrying both control and telemetry, and GNSS receive for navigation. The laptop is existing kit — modeled as an external actor and excluded from cost. Phase 4 would add a digital thermal downlink on the same 5.8 band.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detailed internal wiring of the drone, with the airframe as the hub. Follow the power chain: battery, through the anti-spark filter, into the airframe, with a separate regulated 12-volt feed to the onboard computer. The thermal camera connects to that computer over USB; the computer talks MAVLink to the flight controller to modify the route in flight. A separate analog camera feeds the video transmitter purely for piloting.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the onboard computer, the software decomposes into the mission app, the thermal inference model running on the RKNN neural-processing runtime, and a MAVLink router to the flight controller. USB-A port one carries the thermal feed; port two is reserved for the Phase 4 downlink; USB-C is power. The board is passive-cooled and stays under ten watts, which is how it meets the power and thermal requirements without a fan.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ground station is the laptop running QGroundControl, a 5.8-gigahertz analog video receiver captured over USB, the handheld ELRS radio for manual control, and the directional patch antenna that closes the video link at range. The charger shown is bench support equipment — not flown, and not counted in system cost.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consolidates the interface design — internal wired interfaces on the left, external wireless on the right. The important part is the bottom box: compatibility is enforced formally. The cell-count rule keeps the battery matched to the airframe, the video-format chain stays consistent end to end, RF bands match per link, and the entire power chain is standardized on XT60. These are modeled as SysML constraints and actually enforced by our configuration sweep, so an incompatible build can't slip through.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StdV-1 — the standards profile — the open and de-facto-standard protocols the system is built on. Command and telemetry are MAVLink 2; the control link is ExpressLRS over CRSF; the thermal camera is standard USB video class; navigation is u-blox UBX; the flight stack is ArduPilot; the ground station is QGroundControl; inference runs on Rockchip's RKNN. The takeaway is no proprietary lock-in on the committed build — every committed interface rides an open or de-facto standard — and the one regulatory item, FAA Part 107 plus a BVLOS authorization, is called out here too.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functional and behavioral design — what the system does, and how it sequences and fails safe.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flight-mode state machine defines nominal operation and, more importantly, the failsafes. From the flying state, the vehicle automatically returns to launch on link-loss beyond the failsafe timeout, or when battery energy reaches the return reserve. These transitions map directly onto ArduPilot failsafe parameters. One open item to flag: the exact reserve-energy threshold value is still to be set.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autonomous detect-investigate-classify loop that runs onboard during a sortie. Sweep-and-detect runs per-frame inference and, on a confident detection, marks the point of interest and alerts the operator. Investigate-and-classify then reroutes to the target and classifies in a loop until confident, adjusting orbit if needed, before resuming the survey. Both halves formally signal the mission context. It all runs on the onboard computer and commands routes to the flight controller over MAVLink.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quantitative analyses that verify the design. For each one I'll state the method and, just as importantly, its fidelity — what it does and does not yet prove.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components were down-selected from about 110 real market candidates through documented trade studies. The selections are version-controlled and machine-enforced in the analysis code, so they cannot silently drift. The reference build lands at roughly 58 minutes hover and about eighteen-hundred-fifty dollars — inside every requirement. On the next two slides, here is the actual hardware.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actual selected flight hardware, all real purchasable parts: the iFlight Chimera9 ECO airframe, the Amprius silicon-anode Li-ion pack that drives our endurance, the PurpleRiver Mini 640 thermal core, the NanoPi M5 inference computer, the true-diversity ELRS receiver, and the anti-spark filter on the power chain. These are not concept renders — they are the components in the bill of materials.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ground-control and support hardware: the RadioMaster TX12 handheld radio, the TrueRC directional patch antenna that closes the 2.8-kilometer link, and the HOTA dual-channel charger for the Li-ion packs. The ground kit also includes the Skydroid USB video receiver, the ELRS telemetry dongle, the airframe-bundled GPS, and the existing laptop as the ground station.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one, endurance. The method is momentum, or actuator-disk, theory with a forward-flight drag term — the same physics family as eCalc. The fidelity is first-order comparative, with standard assumptions for figure-of-merit and efficiency, and — this is important — it is not yet validated against a measured hover current. The baseline predicts 58 minutes hover at only about 15 percent throttle, comfortably meeting the 30-minute requirement, though not the 60-minute stretch. Notably, the analysis is closed-loop with the model: it reads components and batteries from the model and writes ranked results back.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scatter plots every compatible configuration — total system cost against flight time, with the requirement lines overlaid. The takeaway is simple: the entire selected trade space sits to the left of the cost cap and above the 30-minute line, so cost is not the binding constraint. Our reference build sits comfortably in that sweet spot.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two, thermal detection, using the Johnson criteria. We compute ground sample distance from the sensor geometry and altitude, then pixels-on-target against the detection and recognition thresholds. The optics deliver detection-grade pixels on deer and humans across the full 90-to-120-meter band. The honest caveat is on the right: robust species-level classification depends on the trained AI model, and validating that requires real field thermal capture — geometry alone does not prove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three, the RF link budget. The method is free-space path loss with a 10-decibel fade-margin design target at 2.8 kilometers. All four links pass — control and telemetry with enormous margin, and the analog video link passing specifically because of the directional patch antenna, which is the enabling component. Fidelity: it is a free-space model, and the fade margin is what absorbs foliage and multipath. It is not yet range-tested.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four asks the practical question: does it physically fit? We model each airframe's usable deck and each component's envelope. The binding constraint is the NanoPi M5's 90-by-62-millimeter footprint. The selected Chimera9 deck accepts it with about 8 millimeters to spare — and that fit is a key reason we chose it over the lighter endurance leader, which is a no-fit. Caveat: the deck dimensions are still estimates and should be confirmed against vendor CAD before the Phase 2 build.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five, cost. The committed system rolls up to about eighteen-hundred-forty-eight dollars against the twenty-five-hundred-dollar cap — roughly 26 percent margin. The thermal camera at six-hundred-fifty dollars is the single largest line. Even all four phases together stay around two thousand dollars. Cost is a solved problem for this design.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SV-7 — the systems-measures scorecard — the quantitative bottom line of the analysis section. Each row pairs a performance measure with its requirement threshold, the as-designed value from the analysis, the margin, and a pass or fail. The headline is that every hard requirement is met with margin: endurance nearly double the thirty-minute floor, range and RF margin positive, thermal pixels-on-target above the Johnson thresholds, and cost twenty-six percent under the cap. The only miss is the sixty-minute stretch goal, which we flag rather than hide, and SBC power sits right at its ten-watt limit.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verification planning, the manufacturing approach, risk, open items, and the CDR exit assessment.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verification cross-reference matrix shows how every requirement will be verified and its status today. Cost and soldering are verified now, by inspection. Everything else is analysis-complete with test or demonstration planned — which is the correct posture at CDR; test readiness is the next gate. The one exception is the 60-minute stretch goal, which the design does not meet, and we have documented that rather than hidden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Producibility. We minimize soldering, per requirement R5, by using a plug-and-play airframe — the only solder joint in the committed build is the onboard computer's power leads. Nearly everything is off-the-shelf; the single fabricated part is a 3D-printed computer mount. And the build is phased into three incremental stages, each independently testable before the next is added.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PV-2 — the project timeline — the roadmap in one picture. Three committed phases build on each other: Phase 1 is basic flight with FPV and waypoints; Phase 2 adds the thermal payload and onboard computer; Phase 3 is software-only, the AI detection and autonomous re-routing. Phase 4, in grey, is the deferred digital video downlink. The banner marks where we are — at CDR, detailed design complete, with procurement as the next gate. There are no calendar dates yet; this shows sequence and dependency, and that each phase is independently testable before the next.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risk posture. The three highest risks are: first, the design is modeled but not yet flown, so the headline numbers are predictions; second, species classification is unproven without real thermal data; and third, the regulatory path — at 2.8 kilometers the survey is beyond visual line of sight, which requires FAA authorization, and commercial operation requires a Part 107 certificate. Operating in daylight rather than after dark lowers this risk, but the BVLOS range keeps it on the list. Each has a defined mitigation. At CDR, 'not yet built' is expected; the material risks are the estimates and these external items, and we are naming them openly.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open items are bounded and assignable — none of them block the design baseline. They include setting the return-to-launch reserve threshold, reconciling one stale entry in the issues log, confirming the selected frame's real deck dimensions, and running the empirical validation campaign. That validation — flight test, field thermal capture, and range test — is the primary pre-operational activity.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the detailed design is complete, fully traced, and verified by analysis with margin on cost, endurance, RF range, and thermal detection. The recommendation is to proceed to fabrication and integration, gated to operations on three things — an instrumented flight to validate the endurance model, field thermal capture to validate detection and classification, and an established regulatory path. Thank you; I'll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480560"/>
            <a:ext cx="12191695" cy="18288"/>
          </a:xfrm>
          <a:prstGeom prst="rect">
            <a:avLst/>
          </a:prstGeom>
          <a:solidFill>
            <a:srgbClr val="2A4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71600"/>
            <a:ext cx="11055096"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8FC5E0"/>
                </a:solidFill>
                <a:latin typeface="Segoe UI"/>
              </a:rPr>
              <a:t>CRITICAL DESIGN REVIEW  (CDR)</a:t>
            </a:r>
          </a:p>
        </p:txBody>
      </p:sp>
      <p:sp>
        <p:nvSpPr>
          <p:cNvPr id="6" name="TextBox 5"/>
          <p:cNvSpPr txBox="1"/>
          <p:nvPr/>
        </p:nvSpPr>
        <p:spPr>
          <a:xfrm>
            <a:off x="566928" y="1828800"/>
            <a:ext cx="10607040" cy="1645920"/>
          </a:xfrm>
          <a:prstGeom prst="rect">
            <a:avLst/>
          </a:prstGeom>
          <a:noFill/>
        </p:spPr>
        <p:txBody>
          <a:bodyPr wrap="square" anchor="t" lIns="0" rIns="0" tIns="0" bIns="0">
            <a:spAutoFit/>
          </a:bodyPr>
          <a:lstStyle/>
          <a:p>
            <a:pPr algn="l">
              <a:lnSpc>
                <a:spcPct val="105000"/>
              </a:lnSpc>
              <a:spcBef>
                <a:spcPts val="0"/>
              </a:spcBef>
              <a:spcAft>
                <a:spcPts val="400"/>
              </a:spcAft>
            </a:pPr>
            <a:r>
              <a:rPr sz="4600" b="1" i="0">
                <a:solidFill>
                  <a:srgbClr val="FFFFFF"/>
                </a:solidFill>
                <a:latin typeface="Segoe UI"/>
              </a:rPr>
              <a:t>Thermal Surveillance UAS</a:t>
            </a:r>
          </a:p>
          <a:p>
            <a:pPr algn="l">
              <a:lnSpc>
                <a:spcPct val="105000"/>
              </a:lnSpc>
              <a:spcBef>
                <a:spcPts val="0"/>
              </a:spcBef>
              <a:spcAft>
                <a:spcPts val="400"/>
              </a:spcAft>
            </a:pPr>
            <a:r>
              <a:rPr sz="2600" b="0" i="0">
                <a:solidFill>
                  <a:srgbClr val="C9D8E6"/>
                </a:solidFill>
                <a:latin typeface="Segoe UI"/>
              </a:rPr>
              <a:t>Autonomous Wildlife-Scouting Drone</a:t>
            </a:r>
          </a:p>
        </p:txBody>
      </p:sp>
      <p:sp>
        <p:nvSpPr>
          <p:cNvPr id="7" name="TextBox 6"/>
          <p:cNvSpPr txBox="1"/>
          <p:nvPr/>
        </p:nvSpPr>
        <p:spPr>
          <a:xfrm>
            <a:off x="566928" y="4709160"/>
            <a:ext cx="11055096" cy="1280160"/>
          </a:xfrm>
          <a:prstGeom prst="rect">
            <a:avLst/>
          </a:prstGeom>
          <a:noFill/>
        </p:spPr>
        <p:txBody>
          <a:bodyPr wrap="square" anchor="t" lIns="0" rIns="0" tIns="0" bIns="0">
            <a:spAutoFit/>
          </a:bodyPr>
          <a:lstStyle/>
          <a:p>
            <a:pPr algn="l">
              <a:lnSpc>
                <a:spcPct val="100000"/>
              </a:lnSpc>
              <a:spcBef>
                <a:spcPts val="0"/>
              </a:spcBef>
              <a:spcAft>
                <a:spcPts val="600"/>
              </a:spcAft>
            </a:pPr>
            <a:r>
              <a:rPr sz="1500" b="0" i="0">
                <a:solidFill>
                  <a:srgbClr val="B9CBDB"/>
                </a:solidFill>
                <a:latin typeface="Segoe UI"/>
              </a:rPr>
              <a:t>Detailed design baseline, requirements traceability, and verifying analyses</a:t>
            </a:r>
          </a:p>
          <a:p>
            <a:pPr algn="l">
              <a:lnSpc>
                <a:spcPct val="100000"/>
              </a:lnSpc>
              <a:spcBef>
                <a:spcPts val="0"/>
              </a:spcBef>
              <a:spcAft>
                <a:spcPts val="600"/>
              </a:spcAft>
            </a:pPr>
            <a:r>
              <a:rPr sz="1250" b="0" i="0">
                <a:solidFill>
                  <a:srgbClr val="8A9EB2"/>
                </a:solidFill>
                <a:latin typeface="Segoe UI"/>
              </a:rPr>
              <a:t>Model-Based Systems Engineering (SysML v2)  ·  Content per MIL-STD-1521B App. E / IEEE 15288.2 CDR</a:t>
            </a:r>
          </a:p>
        </p:txBody>
      </p:sp>
      <p:sp>
        <p:nvSpPr>
          <p:cNvPr id="8" name="TextBox 7"/>
          <p:cNvSpPr txBox="1"/>
          <p:nvPr/>
        </p:nvSpPr>
        <p:spPr>
          <a:xfrm>
            <a:off x="566928" y="5989320"/>
            <a:ext cx="11055096"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0" i="0">
                <a:solidFill>
                  <a:srgbClr val="7F95AB"/>
                </a:solidFill>
                <a:latin typeface="Segoe UI"/>
              </a:rPr>
              <a:t>Review date  2026-07-26        Design maturity  Detailed design complete (pre-fabrication)        Budget  ≤ $2,500 (R4)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0 · INTRODUCTION</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CDR Purpose &amp; Agenda</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1</a:t>
            </a:r>
          </a:p>
        </p:txBody>
      </p:sp>
      <p:sp>
        <p:nvSpPr>
          <p:cNvPr id="9" name="TextBox 8"/>
          <p:cNvSpPr txBox="1"/>
          <p:nvPr/>
        </p:nvSpPr>
        <p:spPr>
          <a:xfrm>
            <a:off x="566928" y="1325880"/>
            <a:ext cx="6126480" cy="4754880"/>
          </a:xfrm>
          <a:prstGeom prst="rect">
            <a:avLst/>
          </a:prstGeom>
          <a:noFill/>
        </p:spPr>
        <p:txBody>
          <a:bodyPr wrap="square" anchor="t" lIns="0" rIns="0" tIns="0" bIns="0">
            <a:spAutoFit/>
          </a:bodyPr>
          <a:lstStyle/>
          <a:p>
            <a:pPr>
              <a:lnSpc>
                <a:spcPct val="104000"/>
              </a:lnSpc>
              <a:spcBef>
                <a:spcPts val="300"/>
              </a:spcBef>
              <a:spcAft>
                <a:spcPts val="300"/>
              </a:spcAft>
            </a:pPr>
            <a:r>
              <a:rPr sz="1400" b="1">
                <a:solidFill>
                  <a:srgbClr val="2E86AB"/>
                </a:solidFill>
                <a:latin typeface="Segoe UI"/>
              </a:rPr>
              <a:t>▸  </a:t>
            </a:r>
            <a:r>
              <a:rPr sz="1400" b="1">
                <a:solidFill>
                  <a:srgbClr val="0F2540"/>
                </a:solidFill>
                <a:latin typeface="Segoe UI"/>
              </a:rPr>
              <a:t>Purpose.  </a:t>
            </a:r>
            <a:r>
              <a:rPr sz="1400" b="0">
                <a:solidFill>
                  <a:srgbClr val="1E2833"/>
                </a:solidFill>
                <a:latin typeface="Segoe UI"/>
              </a:rPr>
              <a:t>Demonstrate that the detailed design meets the mission and derived requirements, that interfaces are defined, and that the design is verified by analysis and ready to proceed to fabrication / integration.</a:t>
            </a:r>
          </a:p>
          <a:p>
            <a:pPr>
              <a:lnSpc>
                <a:spcPct val="104000"/>
              </a:lnSpc>
              <a:spcBef>
                <a:spcPts val="300"/>
              </a:spcBef>
              <a:spcAft>
                <a:spcPts val="300"/>
              </a:spcAft>
            </a:pPr>
            <a:r>
              <a:rPr sz="1400" b="1">
                <a:solidFill>
                  <a:srgbClr val="2E86AB"/>
                </a:solidFill>
                <a:latin typeface="Segoe UI"/>
              </a:rPr>
              <a:t>▸  </a:t>
            </a:r>
            <a:r>
              <a:rPr sz="1400" b="1">
                <a:solidFill>
                  <a:srgbClr val="0F2540"/>
                </a:solidFill>
                <a:latin typeface="Segoe UI"/>
              </a:rPr>
              <a:t>Scope.  </a:t>
            </a:r>
            <a:r>
              <a:rPr sz="1400" b="0">
                <a:solidFill>
                  <a:srgbClr val="1E2833"/>
                </a:solidFill>
                <a:latin typeface="Segoe UI"/>
              </a:rPr>
              <a:t>The committed Phase 1–3 system: airframe &amp; propulsion, power, thermal payload + onboard compute, RF links, ground control, and the autonomy behavior. Phase 4 (video downlink) is shown as a deferred capability.</a:t>
            </a:r>
          </a:p>
          <a:p>
            <a:pPr>
              <a:lnSpc>
                <a:spcPct val="104000"/>
              </a:lnSpc>
              <a:spcBef>
                <a:spcPts val="300"/>
              </a:spcBef>
              <a:spcAft>
                <a:spcPts val="300"/>
              </a:spcAft>
            </a:pPr>
            <a:r>
              <a:rPr sz="1400" b="1">
                <a:solidFill>
                  <a:srgbClr val="2E86AB"/>
                </a:solidFill>
                <a:latin typeface="Segoe UI"/>
              </a:rPr>
              <a:t>▸  </a:t>
            </a:r>
            <a:r>
              <a:rPr sz="1400" b="1">
                <a:solidFill>
                  <a:srgbClr val="0F2540"/>
                </a:solidFill>
                <a:latin typeface="Segoe UI"/>
              </a:rPr>
              <a:t>Authoritative source.  </a:t>
            </a:r>
            <a:r>
              <a:rPr sz="1400" b="0">
                <a:solidFill>
                  <a:srgbClr val="1E2833"/>
                </a:solidFill>
                <a:latin typeface="Segoe UI"/>
              </a:rPr>
              <a:t>A single SysML v2 model (requirements · architecture · behavior · analysis) under git version control, with real, purchasable components traded against the requirements.</a:t>
            </a:r>
          </a:p>
          <a:p>
            <a:pPr>
              <a:lnSpc>
                <a:spcPct val="104000"/>
              </a:lnSpc>
              <a:spcBef>
                <a:spcPts val="300"/>
              </a:spcBef>
              <a:spcAft>
                <a:spcPts val="300"/>
              </a:spcAft>
            </a:pPr>
            <a:r>
              <a:rPr sz="1400" b="1">
                <a:solidFill>
                  <a:srgbClr val="2E86AB"/>
                </a:solidFill>
                <a:latin typeface="Segoe UI"/>
              </a:rPr>
              <a:t>▸  </a:t>
            </a:r>
            <a:r>
              <a:rPr sz="1350" b="0">
                <a:solidFill>
                  <a:srgbClr val="5C6B7A"/>
                </a:solidFill>
                <a:latin typeface="Segoe UI"/>
              </a:rPr>
              <a:t>Exit criteria (assessed on the closing slide): design traces to requirements, analyses show compliance with margin, interfaces closed, risks identified with mitigations, open items bounded.</a:t>
            </a:r>
          </a:p>
        </p:txBody>
      </p:sp>
      <p:sp>
        <p:nvSpPr>
          <p:cNvPr id="10" name="Rounded Rectangle 9"/>
          <p:cNvSpPr/>
          <p:nvPr/>
        </p:nvSpPr>
        <p:spPr>
          <a:xfrm>
            <a:off x="7040880" y="1325880"/>
            <a:ext cx="4572000" cy="4709160"/>
          </a:xfrm>
          <a:prstGeom prst="roundRect">
            <a:avLst/>
          </a:prstGeom>
          <a:solidFill>
            <a:srgbClr val="F6F8FA"/>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69480" y="1481328"/>
            <a:ext cx="420624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86AB"/>
                </a:solidFill>
                <a:latin typeface="Segoe UI"/>
              </a:rPr>
              <a:t>AGENDA</a:t>
            </a:r>
          </a:p>
        </p:txBody>
      </p:sp>
      <p:sp>
        <p:nvSpPr>
          <p:cNvPr id="12" name="TextBox 11"/>
          <p:cNvSpPr txBox="1"/>
          <p:nvPr/>
        </p:nvSpPr>
        <p:spPr>
          <a:xfrm>
            <a:off x="7269480" y="1920240"/>
            <a:ext cx="4160520" cy="4023360"/>
          </a:xfrm>
          <a:prstGeom prst="rect">
            <a:avLst/>
          </a:prstGeom>
          <a:noFill/>
        </p:spPr>
        <p:txBody>
          <a:bodyPr wrap="square" anchor="t" lIns="0" rIns="0" tIns="0" bIns="0">
            <a:spAutoFit/>
          </a:bodyPr>
          <a:lstStyle/>
          <a:p>
            <a:pPr algn="l">
              <a:lnSpc>
                <a:spcPct val="100000"/>
              </a:lnSpc>
              <a:spcBef>
                <a:spcPts val="0"/>
              </a:spcBef>
              <a:spcAft>
                <a:spcPts val="900"/>
              </a:spcAft>
            </a:pPr>
            <a:r>
              <a:rPr sz="1350" b="0" i="0">
                <a:solidFill>
                  <a:srgbClr val="1E2833"/>
                </a:solidFill>
                <a:latin typeface="Segoe UI"/>
              </a:rPr>
              <a:t>1   Requirements &amp; traceability</a:t>
            </a:r>
          </a:p>
          <a:p>
            <a:pPr algn="l">
              <a:lnSpc>
                <a:spcPct val="100000"/>
              </a:lnSpc>
              <a:spcBef>
                <a:spcPts val="0"/>
              </a:spcBef>
              <a:spcAft>
                <a:spcPts val="900"/>
              </a:spcAft>
            </a:pPr>
            <a:r>
              <a:rPr sz="1350" b="0" i="0">
                <a:solidFill>
                  <a:srgbClr val="1E2833"/>
                </a:solidFill>
                <a:latin typeface="Segoe UI"/>
              </a:rPr>
              <a:t>2   System &amp; subsystem architecture</a:t>
            </a:r>
          </a:p>
          <a:p>
            <a:pPr algn="l">
              <a:lnSpc>
                <a:spcPct val="100000"/>
              </a:lnSpc>
              <a:spcBef>
                <a:spcPts val="0"/>
              </a:spcBef>
              <a:spcAft>
                <a:spcPts val="900"/>
              </a:spcAft>
            </a:pPr>
            <a:r>
              <a:rPr sz="1350" b="0" i="0">
                <a:solidFill>
                  <a:srgbClr val="1E2833"/>
                </a:solidFill>
                <a:latin typeface="Segoe UI"/>
              </a:rPr>
              <a:t>3   Interface design</a:t>
            </a:r>
          </a:p>
          <a:p>
            <a:pPr algn="l">
              <a:lnSpc>
                <a:spcPct val="100000"/>
              </a:lnSpc>
              <a:spcBef>
                <a:spcPts val="0"/>
              </a:spcBef>
              <a:spcAft>
                <a:spcPts val="900"/>
              </a:spcAft>
            </a:pPr>
            <a:r>
              <a:rPr sz="1350" b="0" i="0">
                <a:solidFill>
                  <a:srgbClr val="1E2833"/>
                </a:solidFill>
                <a:latin typeface="Segoe UI"/>
              </a:rPr>
              <a:t>4   Functional / behavioral design</a:t>
            </a:r>
          </a:p>
          <a:p>
            <a:pPr algn="l">
              <a:lnSpc>
                <a:spcPct val="100000"/>
              </a:lnSpc>
              <a:spcBef>
                <a:spcPts val="0"/>
              </a:spcBef>
              <a:spcAft>
                <a:spcPts val="900"/>
              </a:spcAft>
            </a:pPr>
            <a:r>
              <a:rPr sz="1350" b="0" i="0">
                <a:solidFill>
                  <a:srgbClr val="1E2833"/>
                </a:solidFill>
                <a:latin typeface="Segoe UI"/>
              </a:rPr>
              <a:t>5   Engineering analyses (endurance,
      thermal, RF, fit, cost)</a:t>
            </a:r>
          </a:p>
          <a:p>
            <a:pPr algn="l">
              <a:lnSpc>
                <a:spcPct val="100000"/>
              </a:lnSpc>
              <a:spcBef>
                <a:spcPts val="0"/>
              </a:spcBef>
              <a:spcAft>
                <a:spcPts val="900"/>
              </a:spcAft>
            </a:pPr>
            <a:r>
              <a:rPr sz="1350" b="0" i="0">
                <a:solidFill>
                  <a:srgbClr val="1E2833"/>
                </a:solidFill>
                <a:latin typeface="Segoe UI"/>
              </a:rPr>
              <a:t>6   Verification &amp; validation plan</a:t>
            </a:r>
          </a:p>
          <a:p>
            <a:pPr algn="l">
              <a:lnSpc>
                <a:spcPct val="100000"/>
              </a:lnSpc>
              <a:spcBef>
                <a:spcPts val="0"/>
              </a:spcBef>
              <a:spcAft>
                <a:spcPts val="900"/>
              </a:spcAft>
            </a:pPr>
            <a:r>
              <a:rPr sz="1350" b="0" i="0">
                <a:solidFill>
                  <a:srgbClr val="1E2833"/>
                </a:solidFill>
                <a:latin typeface="Segoe UI"/>
              </a:rPr>
              <a:t>7   Manufacturing &amp; producibility</a:t>
            </a:r>
          </a:p>
          <a:p>
            <a:pPr algn="l">
              <a:lnSpc>
                <a:spcPct val="100000"/>
              </a:lnSpc>
              <a:spcBef>
                <a:spcPts val="0"/>
              </a:spcBef>
              <a:spcAft>
                <a:spcPts val="900"/>
              </a:spcAft>
            </a:pPr>
            <a:r>
              <a:rPr sz="1350" b="0" i="0">
                <a:solidFill>
                  <a:srgbClr val="1E2833"/>
                </a:solidFill>
                <a:latin typeface="Segoe UI"/>
              </a:rPr>
              <a:t>8   Risk, open items &amp; CDR closure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0 · INTRODUCTION</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CDR Data-Item Content — Coverage Map</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2</a:t>
            </a:r>
          </a:p>
        </p:txBody>
      </p:sp>
      <p:sp>
        <p:nvSpPr>
          <p:cNvPr id="9" name="TextBox 8"/>
          <p:cNvSpPr txBox="1"/>
          <p:nvPr/>
        </p:nvSpPr>
        <p:spPr>
          <a:xfrm>
            <a:off x="566928" y="1170432"/>
            <a:ext cx="11055096"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5C6B7A"/>
                </a:solidFill>
                <a:latin typeface="Segoe UI"/>
              </a:rPr>
              <a:t>Standard design-review content areas and where each is addressed in this package.</a:t>
            </a:r>
          </a:p>
        </p:txBody>
      </p:sp>
      <p:graphicFrame>
        <p:nvGraphicFramePr>
          <p:cNvPr id="10" name="Table 9"/>
          <p:cNvGraphicFramePr>
            <a:graphicFrameLocks noGrp="1"/>
          </p:cNvGraphicFramePr>
          <p:nvPr/>
        </p:nvGraphicFramePr>
        <p:xfrm>
          <a:off x="566928" y="1554480"/>
          <a:ext cx="11055096" cy="4151376"/>
        </p:xfrm>
        <a:graphic>
          <a:graphicData uri="http://schemas.openxmlformats.org/drawingml/2006/table">
            <a:tbl>
              <a:tblPr>
                <a:tableStyleId>{5C22544A-7EE6-4342-B048-85BDC9FD1C3A}</a:tableStyleId>
              </a:tblPr>
              <a:tblGrid>
                <a:gridCol w="6483096"/>
                <a:gridCol w="2743200"/>
                <a:gridCol w="1828800"/>
              </a:tblGrid>
              <a:tr h="310896">
                <a:tc>
                  <a:txBody>
                    <a:bodyPr wrap="square"/>
                    <a:lstStyle/>
                    <a:p>
                      <a:pPr algn="l"/>
                      <a:r>
                        <a:rPr sz="1100" b="1">
                          <a:solidFill>
                            <a:srgbClr val="FFFFFF"/>
                          </a:solidFill>
                          <a:latin typeface="Segoe UI"/>
                        </a:rPr>
                        <a:t>CDR content area (per DID / MIL-STD-1521B App. E)</a:t>
                      </a:r>
                    </a:p>
                  </a:txBody>
                  <a:tcPr marL="54864" marR="54864" marT="18288" marB="18288" anchor="ctr">
                    <a:solidFill>
                      <a:srgbClr val="0F2540"/>
                    </a:solidFill>
                  </a:tcPr>
                </a:tc>
                <a:tc>
                  <a:txBody>
                    <a:bodyPr wrap="square"/>
                    <a:lstStyle/>
                    <a:p>
                      <a:pPr algn="l"/>
                      <a:r>
                        <a:rPr sz="1100" b="1">
                          <a:solidFill>
                            <a:srgbClr val="FFFFFF"/>
                          </a:solidFill>
                          <a:latin typeface="Segoe UI"/>
                        </a:rPr>
                        <a:t>Addressed in</a:t>
                      </a:r>
                    </a:p>
                  </a:txBody>
                  <a:tcPr marL="54864" marR="54864" marT="18288" marB="18288" anchor="ctr">
                    <a:solidFill>
                      <a:srgbClr val="0F2540"/>
                    </a:solidFill>
                  </a:tcPr>
                </a:tc>
                <a:tc>
                  <a:txBody>
                    <a:bodyPr wrap="square"/>
                    <a:lstStyle/>
                    <a:p>
                      <a:pPr algn="ctr"/>
                      <a:r>
                        <a:rPr sz="1100" b="1">
                          <a:solidFill>
                            <a:srgbClr val="FFFFFF"/>
                          </a:solidFill>
                          <a:latin typeface="Segoe UI"/>
                        </a:rPr>
                        <a:t>Status</a:t>
                      </a:r>
                    </a:p>
                  </a:txBody>
                  <a:tcPr marL="54864" marR="54864" marT="18288" marB="18288" anchor="ctr">
                    <a:solidFill>
                      <a:srgbClr val="0F2540"/>
                    </a:solidFill>
                  </a:tcPr>
                </a:tc>
              </a:tr>
              <a:tr h="384048">
                <a:tc>
                  <a:txBody>
                    <a:bodyPr wrap="square"/>
                    <a:lstStyle/>
                    <a:p>
                      <a:pPr algn="l"/>
                      <a:r>
                        <a:rPr sz="1100" b="0">
                          <a:solidFill>
                            <a:srgbClr val="1E2833"/>
                          </a:solidFill>
                          <a:latin typeface="Segoe UI"/>
                        </a:rPr>
                        <a:t>Mission / operational concept (ConOps)</a:t>
                      </a:r>
                    </a:p>
                  </a:txBody>
                  <a:tcPr marL="54864" marR="54864" marT="18288" marB="18288" anchor="ctr">
                    <a:solidFill>
                      <a:srgbClr val="FFFFFF"/>
                    </a:solidFill>
                  </a:tcPr>
                </a:tc>
                <a:tc>
                  <a:txBody>
                    <a:bodyPr wrap="square"/>
                    <a:lstStyle/>
                    <a:p>
                      <a:pPr algn="l"/>
                      <a:r>
                        <a:rPr sz="1100" b="0">
                          <a:solidFill>
                            <a:srgbClr val="1E2833"/>
                          </a:solidFill>
                          <a:latin typeface="Segoe UI"/>
                        </a:rPr>
                        <a:t>Mission &amp; ConOps</a:t>
                      </a:r>
                    </a:p>
                  </a:txBody>
                  <a:tcPr marL="54864" marR="54864" marT="18288" marB="18288" anchor="ctr">
                    <a:solidFill>
                      <a:srgbClr val="FFFFFF"/>
                    </a:solidFill>
                  </a:tcPr>
                </a:tc>
                <a:tc>
                  <a:txBody>
                    <a:bodyPr wrap="square"/>
                    <a:lstStyle/>
                    <a:p>
                      <a:pPr algn="ctr"/>
                      <a:r>
                        <a:rPr sz="1100" b="0">
                          <a:solidFill>
                            <a:srgbClr val="2E7D32"/>
                          </a:solidFill>
                          <a:latin typeface="Segoe UI"/>
                        </a:rPr>
                        <a:t>Complete</a:t>
                      </a:r>
                    </a:p>
                  </a:txBody>
                  <a:tcPr marL="54864" marR="54864" marT="18288" marB="18288" anchor="ctr">
                    <a:solidFill>
                      <a:srgbClr val="FFFFFF"/>
                    </a:solidFill>
                  </a:tcPr>
                </a:tc>
              </a:tr>
              <a:tr h="384048">
                <a:tc>
                  <a:txBody>
                    <a:bodyPr wrap="square"/>
                    <a:lstStyle/>
                    <a:p>
                      <a:pPr algn="l"/>
                      <a:r>
                        <a:rPr sz="1100" b="0">
                          <a:solidFill>
                            <a:srgbClr val="1E2833"/>
                          </a:solidFill>
                          <a:latin typeface="Segoe UI"/>
                        </a:rPr>
                        <a:t>System &amp; performance requirements + traceability</a:t>
                      </a:r>
                    </a:p>
                  </a:txBody>
                  <a:tcPr marL="54864" marR="54864" marT="18288" marB="18288" anchor="ctr">
                    <a:solidFill>
                      <a:srgbClr val="F6F8FA"/>
                    </a:solidFill>
                  </a:tcPr>
                </a:tc>
                <a:tc>
                  <a:txBody>
                    <a:bodyPr wrap="square"/>
                    <a:lstStyle/>
                    <a:p>
                      <a:pPr algn="l"/>
                      <a:r>
                        <a:rPr sz="1100" b="0">
                          <a:solidFill>
                            <a:srgbClr val="1E2833"/>
                          </a:solidFill>
                          <a:latin typeface="Segoe UI"/>
                        </a:rPr>
                        <a:t>Requirements (RTM)</a:t>
                      </a:r>
                    </a:p>
                  </a:txBody>
                  <a:tcPr marL="54864" marR="54864" marT="18288" marB="18288" anchor="ctr">
                    <a:solidFill>
                      <a:srgbClr val="F6F8FA"/>
                    </a:solidFill>
                  </a:tcPr>
                </a:tc>
                <a:tc>
                  <a:txBody>
                    <a:bodyPr wrap="square"/>
                    <a:lstStyle/>
                    <a:p>
                      <a:pPr algn="ctr"/>
                      <a:r>
                        <a:rPr sz="1100" b="0">
                          <a:solidFill>
                            <a:srgbClr val="2E7D32"/>
                          </a:solidFill>
                          <a:latin typeface="Segoe UI"/>
                        </a:rPr>
                        <a:t>Complete</a:t>
                      </a:r>
                    </a:p>
                  </a:txBody>
                  <a:tcPr marL="54864" marR="54864" marT="18288" marB="18288" anchor="ctr">
                    <a:solidFill>
                      <a:srgbClr val="F6F8FA"/>
                    </a:solidFill>
                  </a:tcPr>
                </a:tc>
              </a:tr>
              <a:tr h="384048">
                <a:tc>
                  <a:txBody>
                    <a:bodyPr wrap="square"/>
                    <a:lstStyle/>
                    <a:p>
                      <a:pPr algn="l"/>
                      <a:r>
                        <a:rPr sz="1100" b="0">
                          <a:solidFill>
                            <a:srgbClr val="1E2833"/>
                          </a:solidFill>
                          <a:latin typeface="Segoe UI"/>
                        </a:rPr>
                        <a:t>Detailed design — physical &amp; functional architecture</a:t>
                      </a:r>
                    </a:p>
                  </a:txBody>
                  <a:tcPr marL="54864" marR="54864" marT="18288" marB="18288" anchor="ctr">
                    <a:solidFill>
                      <a:srgbClr val="FFFFFF"/>
                    </a:solidFill>
                  </a:tcPr>
                </a:tc>
                <a:tc>
                  <a:txBody>
                    <a:bodyPr wrap="square"/>
                    <a:lstStyle/>
                    <a:p>
                      <a:pPr algn="l"/>
                      <a:r>
                        <a:rPr sz="1100" b="0">
                          <a:solidFill>
                            <a:srgbClr val="1E2833"/>
                          </a:solidFill>
                          <a:latin typeface="Segoe UI"/>
                        </a:rPr>
                        <a:t>Architecture · Behavior</a:t>
                      </a:r>
                    </a:p>
                  </a:txBody>
                  <a:tcPr marL="54864" marR="54864" marT="18288" marB="18288" anchor="ctr">
                    <a:solidFill>
                      <a:srgbClr val="FFFFFF"/>
                    </a:solidFill>
                  </a:tcPr>
                </a:tc>
                <a:tc>
                  <a:txBody>
                    <a:bodyPr wrap="square"/>
                    <a:lstStyle/>
                    <a:p>
                      <a:pPr algn="ctr"/>
                      <a:r>
                        <a:rPr sz="1100" b="0">
                          <a:solidFill>
                            <a:srgbClr val="2E7D32"/>
                          </a:solidFill>
                          <a:latin typeface="Segoe UI"/>
                        </a:rPr>
                        <a:t>Complete</a:t>
                      </a:r>
                    </a:p>
                  </a:txBody>
                  <a:tcPr marL="54864" marR="54864" marT="18288" marB="18288" anchor="ctr">
                    <a:solidFill>
                      <a:srgbClr val="FFFFFF"/>
                    </a:solidFill>
                  </a:tcPr>
                </a:tc>
              </a:tr>
              <a:tr h="384048">
                <a:tc>
                  <a:txBody>
                    <a:bodyPr wrap="square"/>
                    <a:lstStyle/>
                    <a:p>
                      <a:pPr algn="l"/>
                      <a:r>
                        <a:rPr sz="1100" b="0">
                          <a:solidFill>
                            <a:srgbClr val="1E2833"/>
                          </a:solidFill>
                          <a:latin typeface="Segoe UI"/>
                        </a:rPr>
                        <a:t>Interface design (internal &amp; external / IRS)</a:t>
                      </a:r>
                    </a:p>
                  </a:txBody>
                  <a:tcPr marL="54864" marR="54864" marT="18288" marB="18288" anchor="ctr">
                    <a:solidFill>
                      <a:srgbClr val="F6F8FA"/>
                    </a:solidFill>
                  </a:tcPr>
                </a:tc>
                <a:tc>
                  <a:txBody>
                    <a:bodyPr wrap="square"/>
                    <a:lstStyle/>
                    <a:p>
                      <a:pPr algn="l"/>
                      <a:r>
                        <a:rPr sz="1100" b="0">
                          <a:solidFill>
                            <a:srgbClr val="1E2833"/>
                          </a:solidFill>
                          <a:latin typeface="Segoe UI"/>
                        </a:rPr>
                        <a:t>Interface Design</a:t>
                      </a:r>
                    </a:p>
                  </a:txBody>
                  <a:tcPr marL="54864" marR="54864" marT="18288" marB="18288" anchor="ctr">
                    <a:solidFill>
                      <a:srgbClr val="F6F8FA"/>
                    </a:solidFill>
                  </a:tcPr>
                </a:tc>
                <a:tc>
                  <a:txBody>
                    <a:bodyPr wrap="square"/>
                    <a:lstStyle/>
                    <a:p>
                      <a:pPr algn="ctr"/>
                      <a:r>
                        <a:rPr sz="1100" b="0">
                          <a:solidFill>
                            <a:srgbClr val="2E7D32"/>
                          </a:solidFill>
                          <a:latin typeface="Segoe UI"/>
                        </a:rPr>
                        <a:t>Complete</a:t>
                      </a:r>
                    </a:p>
                  </a:txBody>
                  <a:tcPr marL="54864" marR="54864" marT="18288" marB="18288" anchor="ctr">
                    <a:solidFill>
                      <a:srgbClr val="F6F8FA"/>
                    </a:solidFill>
                  </a:tcPr>
                </a:tc>
              </a:tr>
              <a:tr h="384048">
                <a:tc>
                  <a:txBody>
                    <a:bodyPr wrap="square"/>
                    <a:lstStyle/>
                    <a:p>
                      <a:pPr algn="l"/>
                      <a:r>
                        <a:rPr sz="1100" b="0">
                          <a:solidFill>
                            <a:srgbClr val="1E2833"/>
                          </a:solidFill>
                          <a:latin typeface="Segoe UI"/>
                        </a:rPr>
                        <a:t>Design &amp; specialty-engineering analyses</a:t>
                      </a:r>
                    </a:p>
                  </a:txBody>
                  <a:tcPr marL="54864" marR="54864" marT="18288" marB="18288" anchor="ctr">
                    <a:solidFill>
                      <a:srgbClr val="FFFFFF"/>
                    </a:solidFill>
                  </a:tcPr>
                </a:tc>
                <a:tc>
                  <a:txBody>
                    <a:bodyPr wrap="square"/>
                    <a:lstStyle/>
                    <a:p>
                      <a:pPr algn="l"/>
                      <a:r>
                        <a:rPr sz="1100" b="0">
                          <a:solidFill>
                            <a:srgbClr val="1E2833"/>
                          </a:solidFill>
                          <a:latin typeface="Segoe UI"/>
                        </a:rPr>
                        <a:t>Analyses (×4)</a:t>
                      </a:r>
                    </a:p>
                  </a:txBody>
                  <a:tcPr marL="54864" marR="54864" marT="18288" marB="18288" anchor="ctr">
                    <a:solidFill>
                      <a:srgbClr val="FFFFFF"/>
                    </a:solidFill>
                  </a:tcPr>
                </a:tc>
                <a:tc>
                  <a:txBody>
                    <a:bodyPr wrap="square"/>
                    <a:lstStyle/>
                    <a:p>
                      <a:pPr algn="ctr"/>
                      <a:r>
                        <a:rPr sz="1100" b="0">
                          <a:solidFill>
                            <a:srgbClr val="2E7D32"/>
                          </a:solidFill>
                          <a:latin typeface="Segoe UI"/>
                        </a:rPr>
                        <a:t>Complete</a:t>
                      </a:r>
                    </a:p>
                  </a:txBody>
                  <a:tcPr marL="54864" marR="54864" marT="18288" marB="18288" anchor="ctr">
                    <a:solidFill>
                      <a:srgbClr val="FFFFFF"/>
                    </a:solidFill>
                  </a:tcPr>
                </a:tc>
              </a:tr>
              <a:tr h="384048">
                <a:tc>
                  <a:txBody>
                    <a:bodyPr wrap="square"/>
                    <a:lstStyle/>
                    <a:p>
                      <a:pPr algn="l"/>
                      <a:r>
                        <a:rPr sz="1100" b="0">
                          <a:solidFill>
                            <a:srgbClr val="1E2833"/>
                          </a:solidFill>
                          <a:latin typeface="Segoe UI"/>
                        </a:rPr>
                        <a:t>Trade studies / component selection</a:t>
                      </a:r>
                    </a:p>
                  </a:txBody>
                  <a:tcPr marL="54864" marR="54864" marT="18288" marB="18288" anchor="ctr">
                    <a:solidFill>
                      <a:srgbClr val="F6F8FA"/>
                    </a:solidFill>
                  </a:tcPr>
                </a:tc>
                <a:tc>
                  <a:txBody>
                    <a:bodyPr wrap="square"/>
                    <a:lstStyle/>
                    <a:p>
                      <a:pPr algn="l"/>
                      <a:r>
                        <a:rPr sz="1100" b="0">
                          <a:solidFill>
                            <a:srgbClr val="1E2833"/>
                          </a:solidFill>
                          <a:latin typeface="Segoe UI"/>
                        </a:rPr>
                        <a:t>Design Selection</a:t>
                      </a:r>
                    </a:p>
                  </a:txBody>
                  <a:tcPr marL="54864" marR="54864" marT="18288" marB="18288" anchor="ctr">
                    <a:solidFill>
                      <a:srgbClr val="F6F8FA"/>
                    </a:solidFill>
                  </a:tcPr>
                </a:tc>
                <a:tc>
                  <a:txBody>
                    <a:bodyPr wrap="square"/>
                    <a:lstStyle/>
                    <a:p>
                      <a:pPr algn="ctr"/>
                      <a:r>
                        <a:rPr sz="1100" b="0">
                          <a:solidFill>
                            <a:srgbClr val="2E7D32"/>
                          </a:solidFill>
                          <a:latin typeface="Segoe UI"/>
                        </a:rPr>
                        <a:t>Complete</a:t>
                      </a:r>
                    </a:p>
                  </a:txBody>
                  <a:tcPr marL="54864" marR="54864" marT="18288" marB="18288" anchor="ctr">
                    <a:solidFill>
                      <a:srgbClr val="F6F8FA"/>
                    </a:solidFill>
                  </a:tcPr>
                </a:tc>
              </a:tr>
              <a:tr h="384048">
                <a:tc>
                  <a:txBody>
                    <a:bodyPr wrap="square"/>
                    <a:lstStyle/>
                    <a:p>
                      <a:pPr algn="l"/>
                      <a:r>
                        <a:rPr sz="1100" b="0">
                          <a:solidFill>
                            <a:srgbClr val="1E2833"/>
                          </a:solidFill>
                          <a:latin typeface="Segoe UI"/>
                        </a:rPr>
                        <a:t>Verification &amp; validation approach (VCRM)</a:t>
                      </a:r>
                    </a:p>
                  </a:txBody>
                  <a:tcPr marL="54864" marR="54864" marT="18288" marB="18288" anchor="ctr">
                    <a:solidFill>
                      <a:srgbClr val="FFFFFF"/>
                    </a:solidFill>
                  </a:tcPr>
                </a:tc>
                <a:tc>
                  <a:txBody>
                    <a:bodyPr wrap="square"/>
                    <a:lstStyle/>
                    <a:p>
                      <a:pPr algn="l"/>
                      <a:r>
                        <a:rPr sz="1100" b="0">
                          <a:solidFill>
                            <a:srgbClr val="1E2833"/>
                          </a:solidFill>
                          <a:latin typeface="Segoe UI"/>
                        </a:rPr>
                        <a:t>V&amp;V Plan</a:t>
                      </a:r>
                    </a:p>
                  </a:txBody>
                  <a:tcPr marL="54864" marR="54864" marT="18288" marB="18288" anchor="ctr">
                    <a:solidFill>
                      <a:srgbClr val="FFFFFF"/>
                    </a:solidFill>
                  </a:tcPr>
                </a:tc>
                <a:tc>
                  <a:txBody>
                    <a:bodyPr wrap="square"/>
                    <a:lstStyle/>
                    <a:p>
                      <a:pPr algn="ctr"/>
                      <a:r>
                        <a:rPr sz="1100" b="0">
                          <a:solidFill>
                            <a:srgbClr val="D9821E"/>
                          </a:solidFill>
                          <a:latin typeface="Segoe UI"/>
                        </a:rPr>
                        <a:t>Plan defined</a:t>
                      </a:r>
                    </a:p>
                  </a:txBody>
                  <a:tcPr marL="54864" marR="54864" marT="18288" marB="18288" anchor="ctr">
                    <a:solidFill>
                      <a:srgbClr val="FFFFFF"/>
                    </a:solidFill>
                  </a:tcPr>
                </a:tc>
              </a:tr>
              <a:tr h="384048">
                <a:tc>
                  <a:txBody>
                    <a:bodyPr wrap="square"/>
                    <a:lstStyle/>
                    <a:p>
                      <a:pPr algn="l"/>
                      <a:r>
                        <a:rPr sz="1100" b="0">
                          <a:solidFill>
                            <a:srgbClr val="1E2833"/>
                          </a:solidFill>
                          <a:latin typeface="Segoe UI"/>
                        </a:rPr>
                        <a:t>Producibility / manufacturing</a:t>
                      </a:r>
                    </a:p>
                  </a:txBody>
                  <a:tcPr marL="54864" marR="54864" marT="18288" marB="18288" anchor="ctr">
                    <a:solidFill>
                      <a:srgbClr val="F6F8FA"/>
                    </a:solidFill>
                  </a:tcPr>
                </a:tc>
                <a:tc>
                  <a:txBody>
                    <a:bodyPr wrap="square"/>
                    <a:lstStyle/>
                    <a:p>
                      <a:pPr algn="l"/>
                      <a:r>
                        <a:rPr sz="1100" b="0">
                          <a:solidFill>
                            <a:srgbClr val="1E2833"/>
                          </a:solidFill>
                          <a:latin typeface="Segoe UI"/>
                        </a:rPr>
                        <a:t>Manufacturing</a:t>
                      </a:r>
                    </a:p>
                  </a:txBody>
                  <a:tcPr marL="54864" marR="54864" marT="18288" marB="18288" anchor="ctr">
                    <a:solidFill>
                      <a:srgbClr val="F6F8FA"/>
                    </a:solidFill>
                  </a:tcPr>
                </a:tc>
                <a:tc>
                  <a:txBody>
                    <a:bodyPr wrap="square"/>
                    <a:lstStyle/>
                    <a:p>
                      <a:pPr algn="ctr"/>
                      <a:r>
                        <a:rPr sz="1100" b="0">
                          <a:solidFill>
                            <a:srgbClr val="2E7D32"/>
                          </a:solidFill>
                          <a:latin typeface="Segoe UI"/>
                        </a:rPr>
                        <a:t>Complete</a:t>
                      </a:r>
                    </a:p>
                  </a:txBody>
                  <a:tcPr marL="54864" marR="54864" marT="18288" marB="18288" anchor="ctr">
                    <a:solidFill>
                      <a:srgbClr val="F6F8FA"/>
                    </a:solidFill>
                  </a:tcPr>
                </a:tc>
              </a:tr>
              <a:tr h="384048">
                <a:tc>
                  <a:txBody>
                    <a:bodyPr wrap="square"/>
                    <a:lstStyle/>
                    <a:p>
                      <a:pPr algn="l"/>
                      <a:r>
                        <a:rPr sz="1100" b="0">
                          <a:solidFill>
                            <a:srgbClr val="1E2833"/>
                          </a:solidFill>
                          <a:latin typeface="Segoe UI"/>
                        </a:rPr>
                        <a:t>Reliability &amp; safety (failsafes)</a:t>
                      </a:r>
                    </a:p>
                  </a:txBody>
                  <a:tcPr marL="54864" marR="54864" marT="18288" marB="18288" anchor="ctr">
                    <a:solidFill>
                      <a:srgbClr val="FFFFFF"/>
                    </a:solidFill>
                  </a:tcPr>
                </a:tc>
                <a:tc>
                  <a:txBody>
                    <a:bodyPr wrap="square"/>
                    <a:lstStyle/>
                    <a:p>
                      <a:pPr algn="l"/>
                      <a:r>
                        <a:rPr sz="1100" b="0">
                          <a:solidFill>
                            <a:srgbClr val="1E2833"/>
                          </a:solidFill>
                          <a:latin typeface="Segoe UI"/>
                        </a:rPr>
                        <a:t>State machine · Risk</a:t>
                      </a:r>
                    </a:p>
                  </a:txBody>
                  <a:tcPr marL="54864" marR="54864" marT="18288" marB="18288" anchor="ctr">
                    <a:solidFill>
                      <a:srgbClr val="FFFFFF"/>
                    </a:solidFill>
                  </a:tcPr>
                </a:tc>
                <a:tc>
                  <a:txBody>
                    <a:bodyPr wrap="square"/>
                    <a:lstStyle/>
                    <a:p>
                      <a:pPr algn="ctr"/>
                      <a:r>
                        <a:rPr sz="1100" b="0">
                          <a:solidFill>
                            <a:srgbClr val="2E7D32"/>
                          </a:solidFill>
                          <a:latin typeface="Segoe UI"/>
                        </a:rPr>
                        <a:t>Complete</a:t>
                      </a:r>
                    </a:p>
                  </a:txBody>
                  <a:tcPr marL="54864" marR="54864" marT="18288" marB="18288" anchor="ctr">
                    <a:solidFill>
                      <a:srgbClr val="FFFFFF"/>
                    </a:solidFill>
                  </a:tcPr>
                </a:tc>
              </a:tr>
              <a:tr h="384048">
                <a:tc>
                  <a:txBody>
                    <a:bodyPr wrap="square"/>
                    <a:lstStyle/>
                    <a:p>
                      <a:pPr algn="l"/>
                      <a:r>
                        <a:rPr sz="1100" b="0">
                          <a:solidFill>
                            <a:srgbClr val="1E2833"/>
                          </a:solidFill>
                          <a:latin typeface="Segoe UI"/>
                        </a:rPr>
                        <a:t>Risk assessment &amp; open items (TBD/TBR)</a:t>
                      </a:r>
                    </a:p>
                  </a:txBody>
                  <a:tcPr marL="54864" marR="54864" marT="18288" marB="18288" anchor="ctr">
                    <a:solidFill>
                      <a:srgbClr val="F6F8FA"/>
                    </a:solidFill>
                  </a:tcPr>
                </a:tc>
                <a:tc>
                  <a:txBody>
                    <a:bodyPr wrap="square"/>
                    <a:lstStyle/>
                    <a:p>
                      <a:pPr algn="l"/>
                      <a:r>
                        <a:rPr sz="1100" b="0">
                          <a:solidFill>
                            <a:srgbClr val="1E2833"/>
                          </a:solidFill>
                          <a:latin typeface="Segoe UI"/>
                        </a:rPr>
                        <a:t>Risk · Open Items</a:t>
                      </a:r>
                    </a:p>
                  </a:txBody>
                  <a:tcPr marL="54864" marR="54864" marT="18288" marB="18288" anchor="ctr">
                    <a:solidFill>
                      <a:srgbClr val="F6F8FA"/>
                    </a:solidFill>
                  </a:tcPr>
                </a:tc>
                <a:tc>
                  <a:txBody>
                    <a:bodyPr wrap="square"/>
                    <a:lstStyle/>
                    <a:p>
                      <a:pPr algn="ctr"/>
                      <a:r>
                        <a:rPr sz="1100" b="0">
                          <a:solidFill>
                            <a:srgbClr val="2E7D32"/>
                          </a:solidFill>
                          <a:latin typeface="Segoe UI"/>
                        </a:rPr>
                        <a:t>Complete</a:t>
                      </a:r>
                    </a:p>
                  </a:txBody>
                  <a:tcPr marL="54864" marR="54864" marT="18288" marB="18288" anchor="ctr">
                    <a:solidFill>
                      <a:srgbClr val="F6F8FA"/>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1 · SYSTEM OVERVIEW</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Mission &amp; Concept of Operations</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3</a:t>
            </a:r>
          </a:p>
        </p:txBody>
      </p:sp>
      <p:sp>
        <p:nvSpPr>
          <p:cNvPr id="9" name="TextBox 8"/>
          <p:cNvSpPr txBox="1"/>
          <p:nvPr/>
        </p:nvSpPr>
        <p:spPr>
          <a:xfrm>
            <a:off x="566928" y="1280160"/>
            <a:ext cx="6126480" cy="3840480"/>
          </a:xfrm>
          <a:prstGeom prst="rect">
            <a:avLst/>
          </a:prstGeom>
          <a:noFill/>
        </p:spPr>
        <p:txBody>
          <a:bodyPr wrap="square" anchor="t" lIns="0" rIns="0" tIns="0" bIns="0">
            <a:spAutoFit/>
          </a:bodyPr>
          <a:lstStyle/>
          <a:p>
            <a:pPr>
              <a:lnSpc>
                <a:spcPct val="104000"/>
              </a:lnSpc>
              <a:spcBef>
                <a:spcPts val="300"/>
              </a:spcBef>
              <a:spcAft>
                <a:spcPts val="300"/>
              </a:spcAft>
            </a:pPr>
            <a:r>
              <a:rPr sz="1400" b="1">
                <a:solidFill>
                  <a:srgbClr val="2E86AB"/>
                </a:solidFill>
                <a:latin typeface="Segoe UI"/>
              </a:rPr>
              <a:t>▸  </a:t>
            </a:r>
            <a:r>
              <a:rPr sz="1400" b="1">
                <a:solidFill>
                  <a:srgbClr val="0F2540"/>
                </a:solidFill>
                <a:latin typeface="Segoe UI"/>
              </a:rPr>
              <a:t>Mission.  </a:t>
            </a:r>
            <a:r>
              <a:rPr sz="1400" b="0">
                <a:solidFill>
                  <a:srgbClr val="1E2833"/>
                </a:solidFill>
                <a:latin typeface="Segoe UI"/>
              </a:rPr>
              <a:t>Autonomous daytime aerial survey to detect and classify wildlife (deer, turkey, other animals) and humans by their thermal (IR) signature over open / semi-open terrain.</a:t>
            </a:r>
          </a:p>
          <a:p>
            <a:pPr>
              <a:lnSpc>
                <a:spcPct val="104000"/>
              </a:lnSpc>
              <a:spcBef>
                <a:spcPts val="300"/>
              </a:spcBef>
              <a:spcAft>
                <a:spcPts val="300"/>
              </a:spcAft>
            </a:pPr>
            <a:r>
              <a:rPr sz="1400" b="1">
                <a:solidFill>
                  <a:srgbClr val="2E86AB"/>
                </a:solidFill>
                <a:latin typeface="Segoe UI"/>
              </a:rPr>
              <a:t>▸  </a:t>
            </a:r>
            <a:r>
              <a:rPr sz="1400" b="1">
                <a:solidFill>
                  <a:srgbClr val="0F2540"/>
                </a:solidFill>
                <a:latin typeface="Segoe UI"/>
              </a:rPr>
              <a:t>Operating point.  </a:t>
            </a:r>
            <a:r>
              <a:rPr sz="1400" b="0">
                <a:solidFill>
                  <a:srgbClr val="1E2833"/>
                </a:solidFill>
                <a:latin typeface="Segoe UI"/>
              </a:rPr>
              <a:t>90–120 m AGL (R1), 2.23 m/s ground speed (R2), ≥ 2.8 km survey line (R7) in ≤ 4.5 m/s sustained wind, with ≥ 5 °C target-to-background thermal contrast.</a:t>
            </a:r>
          </a:p>
          <a:p>
            <a:pPr>
              <a:lnSpc>
                <a:spcPct val="104000"/>
              </a:lnSpc>
              <a:spcBef>
                <a:spcPts val="300"/>
              </a:spcBef>
              <a:spcAft>
                <a:spcPts val="300"/>
              </a:spcAft>
            </a:pPr>
            <a:r>
              <a:rPr sz="1400" b="1">
                <a:solidFill>
                  <a:srgbClr val="2E86AB"/>
                </a:solidFill>
                <a:latin typeface="Segoe UI"/>
              </a:rPr>
              <a:t>▸  </a:t>
            </a:r>
            <a:r>
              <a:rPr sz="1400" b="1">
                <a:solidFill>
                  <a:srgbClr val="0F2540"/>
                </a:solidFill>
                <a:latin typeface="Segoe UI"/>
              </a:rPr>
              <a:t>Sortie.  </a:t>
            </a:r>
            <a:r>
              <a:rPr sz="1400" b="0">
                <a:solidFill>
                  <a:srgbClr val="1E2833"/>
                </a:solidFill>
                <a:latin typeface="Segoe UI"/>
              </a:rPr>
              <a:t>Plan waypoint route → auto takeoff → cruise-survey with live onboard thermal inference → investigate &amp; classify detections → return-to-launch &amp; land. Failsafes on link-loss and low battery.</a:t>
            </a:r>
          </a:p>
          <a:p>
            <a:pPr>
              <a:lnSpc>
                <a:spcPct val="104000"/>
              </a:lnSpc>
              <a:spcBef>
                <a:spcPts val="300"/>
              </a:spcBef>
              <a:spcAft>
                <a:spcPts val="300"/>
              </a:spcAft>
            </a:pPr>
            <a:r>
              <a:rPr sz="1400" b="1">
                <a:solidFill>
                  <a:srgbClr val="2E86AB"/>
                </a:solidFill>
                <a:latin typeface="Segoe UI"/>
              </a:rPr>
              <a:t>▸  </a:t>
            </a:r>
            <a:r>
              <a:rPr sz="1400" b="1">
                <a:solidFill>
                  <a:srgbClr val="0F2540"/>
                </a:solidFill>
                <a:latin typeface="Segoe UI"/>
              </a:rPr>
              <a:t>Autonomy stance.  </a:t>
            </a:r>
            <a:r>
              <a:rPr sz="1400" b="0">
                <a:solidFill>
                  <a:srgbClr val="1E2833"/>
                </a:solidFill>
                <a:latin typeface="Segoe UI"/>
              </a:rPr>
              <a:t>Thermal streams live to the onboard computer for real-time inference that drives route changes — no recording and no required downlink in the committed build; a thermal-video downlink is a planned future capability (Phase 4).</a:t>
            </a:r>
          </a:p>
        </p:txBody>
      </p:sp>
      <p:sp>
        <p:nvSpPr>
          <p:cNvPr id="10" name="Rectangle 9"/>
          <p:cNvSpPr/>
          <p:nvPr/>
        </p:nvSpPr>
        <p:spPr>
          <a:xfrm>
            <a:off x="7165850" y="1234440"/>
            <a:ext cx="1944619" cy="4800600"/>
          </a:xfrm>
          <a:prstGeom prst="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nduct_sortie_action_flow.png"/>
          <p:cNvPicPr>
            <a:picLocks noChangeAspect="1"/>
          </p:cNvPicPr>
          <p:nvPr/>
        </p:nvPicPr>
        <p:blipFill>
          <a:blip r:embed="rId2"/>
          <a:stretch>
            <a:fillRect/>
          </a:stretch>
        </p:blipFill>
        <p:spPr>
          <a:xfrm>
            <a:off x="7220714" y="1289304"/>
            <a:ext cx="1834891" cy="4690872"/>
          </a:xfrm>
          <a:prstGeom prst="rect">
            <a:avLst/>
          </a:prstGeom>
        </p:spPr>
      </p:pic>
      <p:sp>
        <p:nvSpPr>
          <p:cNvPr id="12" name="TextBox 11"/>
          <p:cNvSpPr txBox="1"/>
          <p:nvPr/>
        </p:nvSpPr>
        <p:spPr>
          <a:xfrm>
            <a:off x="6949440" y="6053328"/>
            <a:ext cx="23774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050" b="0" i="1">
                <a:solidFill>
                  <a:srgbClr val="5C6B7A"/>
                </a:solidFill>
                <a:latin typeface="Segoe UI"/>
              </a:rPr>
              <a:t>ConductSortie — top-level action flow</a:t>
            </a:r>
          </a:p>
        </p:txBody>
      </p:sp>
      <p:sp>
        <p:nvSpPr>
          <p:cNvPr id="13" name="Rounded Rectangle 12"/>
          <p:cNvSpPr/>
          <p:nvPr/>
        </p:nvSpPr>
        <p:spPr>
          <a:xfrm>
            <a:off x="9464040" y="1234440"/>
            <a:ext cx="2148840" cy="1115568"/>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464040" y="1234440"/>
            <a:ext cx="82296" cy="1115568"/>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1344168"/>
            <a:ext cx="187452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90–120 m</a:t>
            </a:r>
          </a:p>
        </p:txBody>
      </p:sp>
      <p:sp>
        <p:nvSpPr>
          <p:cNvPr id="16" name="TextBox 15"/>
          <p:cNvSpPr txBox="1"/>
          <p:nvPr/>
        </p:nvSpPr>
        <p:spPr>
          <a:xfrm>
            <a:off x="9646920" y="1783080"/>
            <a:ext cx="1874520" cy="54864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Survey altitude AGL (R1)</a:t>
            </a:r>
          </a:p>
        </p:txBody>
      </p:sp>
      <p:sp>
        <p:nvSpPr>
          <p:cNvPr id="17" name="Rounded Rectangle 16"/>
          <p:cNvSpPr/>
          <p:nvPr/>
        </p:nvSpPr>
        <p:spPr>
          <a:xfrm>
            <a:off x="9464040" y="2468880"/>
            <a:ext cx="2148840" cy="1115568"/>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464040" y="2468880"/>
            <a:ext cx="82296" cy="1115568"/>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46920" y="2578608"/>
            <a:ext cx="187452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2.8 km</a:t>
            </a:r>
          </a:p>
        </p:txBody>
      </p:sp>
      <p:sp>
        <p:nvSpPr>
          <p:cNvPr id="20" name="TextBox 19"/>
          <p:cNvSpPr txBox="1"/>
          <p:nvPr/>
        </p:nvSpPr>
        <p:spPr>
          <a:xfrm>
            <a:off x="9646920" y="3017520"/>
            <a:ext cx="1874520" cy="54864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Survey range in wind (R7)</a:t>
            </a:r>
          </a:p>
        </p:txBody>
      </p:sp>
      <p:sp>
        <p:nvSpPr>
          <p:cNvPr id="21" name="Rounded Rectangle 20"/>
          <p:cNvSpPr/>
          <p:nvPr/>
        </p:nvSpPr>
        <p:spPr>
          <a:xfrm>
            <a:off x="9464040" y="3703320"/>
            <a:ext cx="2148840" cy="1115568"/>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64040" y="3703320"/>
            <a:ext cx="82296" cy="1115568"/>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46920" y="3813048"/>
            <a:ext cx="187452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 30 min</a:t>
            </a:r>
          </a:p>
        </p:txBody>
      </p:sp>
      <p:sp>
        <p:nvSpPr>
          <p:cNvPr id="24" name="TextBox 23"/>
          <p:cNvSpPr txBox="1"/>
          <p:nvPr/>
        </p:nvSpPr>
        <p:spPr>
          <a:xfrm>
            <a:off x="9646920" y="4251960"/>
            <a:ext cx="1874520" cy="54864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Endurance, 60 stretch (R6/R8)</a:t>
            </a:r>
          </a:p>
        </p:txBody>
      </p:sp>
      <p:sp>
        <p:nvSpPr>
          <p:cNvPr id="25" name="Rounded Rectangle 24"/>
          <p:cNvSpPr/>
          <p:nvPr/>
        </p:nvSpPr>
        <p:spPr>
          <a:xfrm>
            <a:off x="9464040" y="4937760"/>
            <a:ext cx="2148840" cy="1115568"/>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464040" y="4937760"/>
            <a:ext cx="82296" cy="111556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46920" y="5047488"/>
            <a:ext cx="187452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 $2,500</a:t>
            </a:r>
          </a:p>
        </p:txBody>
      </p:sp>
      <p:sp>
        <p:nvSpPr>
          <p:cNvPr id="28" name="TextBox 27"/>
          <p:cNvSpPr txBox="1"/>
          <p:nvPr/>
        </p:nvSpPr>
        <p:spPr>
          <a:xfrm>
            <a:off x="9646920" y="5486400"/>
            <a:ext cx="1874520" cy="54864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Total system cost (R4)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1 · SYSTEM OVERVIEW</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Operational Concept  (OV-1)</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4</a:t>
            </a:r>
          </a:p>
        </p:txBody>
      </p:sp>
      <p:sp>
        <p:nvSpPr>
          <p:cNvPr id="9" name="Rectangle 8"/>
          <p:cNvSpPr/>
          <p:nvPr/>
        </p:nvSpPr>
        <p:spPr>
          <a:xfrm>
            <a:off x="869998" y="1207008"/>
            <a:ext cx="10448955" cy="4937760"/>
          </a:xfrm>
          <a:prstGeom prst="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ov1_operational_concept.png"/>
          <p:cNvPicPr>
            <a:picLocks noChangeAspect="1"/>
          </p:cNvPicPr>
          <p:nvPr/>
        </p:nvPicPr>
        <p:blipFill>
          <a:blip r:embed="rId2"/>
          <a:stretch>
            <a:fillRect/>
          </a:stretch>
        </p:blipFill>
        <p:spPr>
          <a:xfrm>
            <a:off x="924862" y="1261872"/>
            <a:ext cx="10339227" cy="4828032"/>
          </a:xfrm>
          <a:prstGeom prst="rect">
            <a:avLst/>
          </a:prstGeom>
        </p:spPr>
      </p:pic>
      <p:sp>
        <p:nvSpPr>
          <p:cNvPr id="11" name="TextBox 10"/>
          <p:cNvSpPr txBox="1"/>
          <p:nvPr/>
        </p:nvSpPr>
        <p:spPr>
          <a:xfrm>
            <a:off x="566928" y="6236208"/>
            <a:ext cx="11055096" cy="457200"/>
          </a:xfrm>
          <a:prstGeom prst="rect">
            <a:avLst/>
          </a:prstGeom>
          <a:noFill/>
        </p:spPr>
        <p:txBody>
          <a:bodyPr wrap="square" anchor="t" lIns="0" rIns="0" tIns="0" bIns="0">
            <a:spAutoFit/>
          </a:bodyPr>
          <a:lstStyle/>
          <a:p>
            <a:pPr algn="ctr">
              <a:lnSpc>
                <a:spcPct val="100000"/>
              </a:lnSpc>
              <a:spcBef>
                <a:spcPts val="0"/>
              </a:spcBef>
              <a:spcAft>
                <a:spcPts val="400"/>
              </a:spcAft>
            </a:pPr>
            <a:r>
              <a:rPr sz="1050" b="0" i="1">
                <a:solidFill>
                  <a:srgbClr val="5C6B7A"/>
                </a:solidFill>
                <a:latin typeface="Segoe UI"/>
              </a:rPr>
              <a:t>OV-1 High-Level Operational Concept Graphic (DoDAF) — the mission in context; callouts trace to R1 · R2 · R3 · R7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2761488"/>
            <a:ext cx="50292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331720"/>
            <a:ext cx="11055096"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8FC5E0"/>
                </a:solidFill>
                <a:latin typeface="Segoe UI"/>
              </a:rPr>
              <a:t>SECTION 1</a:t>
            </a:r>
          </a:p>
        </p:txBody>
      </p:sp>
      <p:sp>
        <p:nvSpPr>
          <p:cNvPr id="6" name="TextBox 5"/>
          <p:cNvSpPr txBox="1"/>
          <p:nvPr/>
        </p:nvSpPr>
        <p:spPr>
          <a:xfrm>
            <a:off x="566928" y="2880360"/>
            <a:ext cx="11055096" cy="1097280"/>
          </a:xfrm>
          <a:prstGeom prst="rect">
            <a:avLst/>
          </a:prstGeom>
          <a:noFill/>
        </p:spPr>
        <p:txBody>
          <a:bodyPr wrap="square" anchor="t" lIns="0" rIns="0" tIns="0" bIns="0">
            <a:spAutoFit/>
          </a:bodyPr>
          <a:lstStyle/>
          <a:p>
            <a:pPr algn="l">
              <a:lnSpc>
                <a:spcPct val="100000"/>
              </a:lnSpc>
              <a:spcBef>
                <a:spcPts val="0"/>
              </a:spcBef>
              <a:spcAft>
                <a:spcPts val="400"/>
              </a:spcAft>
            </a:pPr>
            <a:r>
              <a:rPr sz="4000" b="1" i="0">
                <a:solidFill>
                  <a:srgbClr val="FFFFFF"/>
                </a:solidFill>
                <a:latin typeface="Segoe UI"/>
              </a:rPr>
              <a:t>Requirements &amp; Traceability</a:t>
            </a:r>
          </a:p>
        </p:txBody>
      </p:sp>
      <p:sp>
        <p:nvSpPr>
          <p:cNvPr id="7" name="TextBox 6"/>
          <p:cNvSpPr txBox="1"/>
          <p:nvPr/>
        </p:nvSpPr>
        <p:spPr>
          <a:xfrm>
            <a:off x="566928" y="3977639"/>
            <a:ext cx="9601200" cy="1097280"/>
          </a:xfrm>
          <a:prstGeom prst="rect">
            <a:avLst/>
          </a:prstGeom>
          <a:noFill/>
        </p:spPr>
        <p:txBody>
          <a:bodyPr wrap="square" anchor="t" lIns="0" rIns="0" tIns="0" bIns="0">
            <a:spAutoFit/>
          </a:bodyPr>
          <a:lstStyle/>
          <a:p>
            <a:pPr algn="l">
              <a:lnSpc>
                <a:spcPct val="115000"/>
              </a:lnSpc>
              <a:spcBef>
                <a:spcPts val="0"/>
              </a:spcBef>
              <a:spcAft>
                <a:spcPts val="400"/>
              </a:spcAft>
            </a:pPr>
            <a:r>
              <a:rPr sz="1500" b="0" i="0">
                <a:solidFill>
                  <a:srgbClr val="B9CBDB"/>
                </a:solidFill>
                <a:latin typeface="Segoe UI"/>
              </a:rPr>
              <a:t>Eight mission requirements decomposed into subsystem requirements, each allocated to a component via a formal satisfy link. Source: requirements_traceability.csv (SysML v2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1 · REQUIREMENTS</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Requirements — Decomposition by Subsystem</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6</a:t>
            </a:r>
          </a:p>
        </p:txBody>
      </p:sp>
      <p:sp>
        <p:nvSpPr>
          <p:cNvPr id="9" name="TextBox 8"/>
          <p:cNvSpPr txBox="1"/>
          <p:nvPr/>
        </p:nvSpPr>
        <p:spPr>
          <a:xfrm>
            <a:off x="566928" y="1143000"/>
            <a:ext cx="11055096"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5C6B7A"/>
                </a:solidFill>
                <a:latin typeface="Segoe UI"/>
              </a:rPr>
              <a:t>Mission requirements decompose into per-subsystem requirement packages in the SysML v2 model; each subsystem requirement subsets a mission requirement and is satisfied by a component.</a:t>
            </a:r>
          </a:p>
        </p:txBody>
      </p:sp>
      <p:sp>
        <p:nvSpPr>
          <p:cNvPr id="10" name="Rectangle 9"/>
          <p:cNvSpPr/>
          <p:nvPr/>
        </p:nvSpPr>
        <p:spPr>
          <a:xfrm>
            <a:off x="4041648" y="1627632"/>
            <a:ext cx="4114800" cy="658368"/>
          </a:xfrm>
          <a:prstGeom prst="rect">
            <a:avLst/>
          </a:prstGeom>
          <a:solidFill>
            <a:srgbClr val="0F2540"/>
          </a:solidFill>
          <a:ln w="15875">
            <a:solidFill>
              <a:srgbClr val="0F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41648" y="1682496"/>
            <a:ext cx="4114800" cy="182880"/>
          </a:xfrm>
          <a:prstGeom prst="rect">
            <a:avLst/>
          </a:prstGeom>
          <a:noFill/>
        </p:spPr>
        <p:txBody>
          <a:bodyPr wrap="square" anchor="t" lIns="0" rIns="0" tIns="0" bIns="0">
            <a:spAutoFit/>
          </a:bodyPr>
          <a:lstStyle/>
          <a:p>
            <a:pPr algn="ctr">
              <a:lnSpc>
                <a:spcPct val="100000"/>
              </a:lnSpc>
              <a:spcBef>
                <a:spcPts val="0"/>
              </a:spcBef>
              <a:spcAft>
                <a:spcPts val="400"/>
              </a:spcAft>
            </a:pPr>
            <a:r>
              <a:rPr sz="900" b="0" i="0">
                <a:solidFill>
                  <a:srgbClr val="BBD0E0"/>
                </a:solidFill>
                <a:latin typeface="Segoe UI"/>
              </a:rPr>
              <a:t>«requirements»</a:t>
            </a:r>
          </a:p>
        </p:txBody>
      </p:sp>
      <p:sp>
        <p:nvSpPr>
          <p:cNvPr id="12" name="TextBox 11"/>
          <p:cNvSpPr txBox="1"/>
          <p:nvPr/>
        </p:nvSpPr>
        <p:spPr>
          <a:xfrm>
            <a:off x="4041648" y="1856232"/>
            <a:ext cx="4114800" cy="384048"/>
          </a:xfrm>
          <a:prstGeom prst="rect">
            <a:avLst/>
          </a:prstGeom>
          <a:noFill/>
        </p:spPr>
        <p:txBody>
          <a:bodyPr wrap="square" anchor="t" lIns="0" rIns="0" tIns="0" bIns="0">
            <a:spAutoFit/>
          </a:bodyPr>
          <a:lstStyle/>
          <a:p>
            <a:pPr algn="ctr">
              <a:lnSpc>
                <a:spcPct val="100000"/>
              </a:lnSpc>
              <a:spcBef>
                <a:spcPts val="0"/>
              </a:spcBef>
              <a:spcAft>
                <a:spcPts val="400"/>
              </a:spcAft>
            </a:pPr>
            <a:r>
              <a:rPr sz="1300" b="1" i="0">
                <a:solidFill>
                  <a:srgbClr val="FFFFFF"/>
                </a:solidFill>
                <a:latin typeface="Segoe UI"/>
              </a:rPr>
              <a:t>Mission Requirements  ·  R1–R8</a:t>
            </a:r>
          </a:p>
        </p:txBody>
      </p:sp>
      <p:sp>
        <p:nvSpPr>
          <p:cNvPr id="13" name="Rectangle 12"/>
          <p:cNvSpPr/>
          <p:nvPr/>
        </p:nvSpPr>
        <p:spPr>
          <a:xfrm>
            <a:off x="6099048" y="2286000"/>
            <a:ext cx="19050" cy="64008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03604" y="2926080"/>
            <a:ext cx="9381740" cy="1905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403604" y="2926080"/>
            <a:ext cx="19050" cy="5029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429000"/>
            <a:ext cx="1673352" cy="1371600"/>
          </a:xfrm>
          <a:prstGeom prst="rect">
            <a:avLst/>
          </a:prstGeom>
          <a:solidFill>
            <a:srgbClr val="EAF1F7"/>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538728"/>
            <a:ext cx="1673352" cy="182880"/>
          </a:xfrm>
          <a:prstGeom prst="rect">
            <a:avLst/>
          </a:prstGeom>
          <a:noFill/>
        </p:spPr>
        <p:txBody>
          <a:bodyPr wrap="square" anchor="t" lIns="0" rIns="0" tIns="0" bIns="0">
            <a:spAutoFit/>
          </a:bodyPr>
          <a:lstStyle/>
          <a:p>
            <a:pPr algn="ctr">
              <a:lnSpc>
                <a:spcPct val="100000"/>
              </a:lnSpc>
              <a:spcBef>
                <a:spcPts val="0"/>
              </a:spcBef>
              <a:spcAft>
                <a:spcPts val="400"/>
              </a:spcAft>
            </a:pPr>
            <a:r>
              <a:rPr sz="850" b="0" i="0">
                <a:solidFill>
                  <a:srgbClr val="5C6B7A"/>
                </a:solidFill>
                <a:latin typeface="Segoe UI"/>
              </a:rPr>
              <a:t>«requirements»</a:t>
            </a:r>
          </a:p>
        </p:txBody>
      </p:sp>
      <p:sp>
        <p:nvSpPr>
          <p:cNvPr id="18" name="TextBox 17"/>
          <p:cNvSpPr txBox="1"/>
          <p:nvPr/>
        </p:nvSpPr>
        <p:spPr>
          <a:xfrm>
            <a:off x="566928" y="3758184"/>
            <a:ext cx="1673352" cy="50292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0F2540"/>
                </a:solidFill>
                <a:latin typeface="Segoe UI"/>
              </a:rPr>
              <a:t>Airframe</a:t>
            </a:r>
          </a:p>
        </p:txBody>
      </p:sp>
      <p:sp>
        <p:nvSpPr>
          <p:cNvPr id="19" name="TextBox 18"/>
          <p:cNvSpPr txBox="1"/>
          <p:nvPr/>
        </p:nvSpPr>
        <p:spPr>
          <a:xfrm>
            <a:off x="566928" y="4343400"/>
            <a:ext cx="1673352"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2E86AB"/>
                </a:solidFill>
                <a:latin typeface="Segoe UI"/>
              </a:rPr>
              <a:t>8 requirements</a:t>
            </a:r>
          </a:p>
        </p:txBody>
      </p:sp>
      <p:sp>
        <p:nvSpPr>
          <p:cNvPr id="20" name="Rectangle 19"/>
          <p:cNvSpPr/>
          <p:nvPr/>
        </p:nvSpPr>
        <p:spPr>
          <a:xfrm>
            <a:off x="3279952" y="2926080"/>
            <a:ext cx="19050" cy="5029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443276" y="3429000"/>
            <a:ext cx="1673352" cy="1371600"/>
          </a:xfrm>
          <a:prstGeom prst="rect">
            <a:avLst/>
          </a:prstGeom>
          <a:solidFill>
            <a:srgbClr val="EAF1F7"/>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43276" y="3538728"/>
            <a:ext cx="1673352" cy="182880"/>
          </a:xfrm>
          <a:prstGeom prst="rect">
            <a:avLst/>
          </a:prstGeom>
          <a:noFill/>
        </p:spPr>
        <p:txBody>
          <a:bodyPr wrap="square" anchor="t" lIns="0" rIns="0" tIns="0" bIns="0">
            <a:spAutoFit/>
          </a:bodyPr>
          <a:lstStyle/>
          <a:p>
            <a:pPr algn="ctr">
              <a:lnSpc>
                <a:spcPct val="100000"/>
              </a:lnSpc>
              <a:spcBef>
                <a:spcPts val="0"/>
              </a:spcBef>
              <a:spcAft>
                <a:spcPts val="400"/>
              </a:spcAft>
            </a:pPr>
            <a:r>
              <a:rPr sz="850" b="0" i="0">
                <a:solidFill>
                  <a:srgbClr val="5C6B7A"/>
                </a:solidFill>
                <a:latin typeface="Segoe UI"/>
              </a:rPr>
              <a:t>«requirements»</a:t>
            </a:r>
          </a:p>
        </p:txBody>
      </p:sp>
      <p:sp>
        <p:nvSpPr>
          <p:cNvPr id="23" name="TextBox 22"/>
          <p:cNvSpPr txBox="1"/>
          <p:nvPr/>
        </p:nvSpPr>
        <p:spPr>
          <a:xfrm>
            <a:off x="2443276" y="3758184"/>
            <a:ext cx="1673352" cy="50292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0F2540"/>
                </a:solidFill>
                <a:latin typeface="Segoe UI"/>
              </a:rPr>
              <a:t>Battery</a:t>
            </a:r>
          </a:p>
        </p:txBody>
      </p:sp>
      <p:sp>
        <p:nvSpPr>
          <p:cNvPr id="24" name="TextBox 23"/>
          <p:cNvSpPr txBox="1"/>
          <p:nvPr/>
        </p:nvSpPr>
        <p:spPr>
          <a:xfrm>
            <a:off x="2443276" y="4343400"/>
            <a:ext cx="1673352"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2E86AB"/>
                </a:solidFill>
                <a:latin typeface="Segoe UI"/>
              </a:rPr>
              <a:t>7 requirements</a:t>
            </a:r>
          </a:p>
        </p:txBody>
      </p:sp>
      <p:sp>
        <p:nvSpPr>
          <p:cNvPr id="25" name="Rectangle 24"/>
          <p:cNvSpPr/>
          <p:nvPr/>
        </p:nvSpPr>
        <p:spPr>
          <a:xfrm>
            <a:off x="5156300" y="2926080"/>
            <a:ext cx="19050" cy="5029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19624" y="3429000"/>
            <a:ext cx="1673352" cy="1371600"/>
          </a:xfrm>
          <a:prstGeom prst="rect">
            <a:avLst/>
          </a:prstGeom>
          <a:solidFill>
            <a:srgbClr val="EAF1F7"/>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19624" y="3538728"/>
            <a:ext cx="1673352" cy="182880"/>
          </a:xfrm>
          <a:prstGeom prst="rect">
            <a:avLst/>
          </a:prstGeom>
          <a:noFill/>
        </p:spPr>
        <p:txBody>
          <a:bodyPr wrap="square" anchor="t" lIns="0" rIns="0" tIns="0" bIns="0">
            <a:spAutoFit/>
          </a:bodyPr>
          <a:lstStyle/>
          <a:p>
            <a:pPr algn="ctr">
              <a:lnSpc>
                <a:spcPct val="100000"/>
              </a:lnSpc>
              <a:spcBef>
                <a:spcPts val="0"/>
              </a:spcBef>
              <a:spcAft>
                <a:spcPts val="400"/>
              </a:spcAft>
            </a:pPr>
            <a:r>
              <a:rPr sz="850" b="0" i="0">
                <a:solidFill>
                  <a:srgbClr val="5C6B7A"/>
                </a:solidFill>
                <a:latin typeface="Segoe UI"/>
              </a:rPr>
              <a:t>«requirements»</a:t>
            </a:r>
          </a:p>
        </p:txBody>
      </p:sp>
      <p:sp>
        <p:nvSpPr>
          <p:cNvPr id="28" name="TextBox 27"/>
          <p:cNvSpPr txBox="1"/>
          <p:nvPr/>
        </p:nvSpPr>
        <p:spPr>
          <a:xfrm>
            <a:off x="4319624" y="3758184"/>
            <a:ext cx="1673352" cy="50292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0F2540"/>
                </a:solidFill>
                <a:latin typeface="Segoe UI"/>
              </a:rPr>
              <a:t>Thermal Camera</a:t>
            </a:r>
          </a:p>
        </p:txBody>
      </p:sp>
      <p:sp>
        <p:nvSpPr>
          <p:cNvPr id="29" name="TextBox 28"/>
          <p:cNvSpPr txBox="1"/>
          <p:nvPr/>
        </p:nvSpPr>
        <p:spPr>
          <a:xfrm>
            <a:off x="4319624" y="4343400"/>
            <a:ext cx="1673352"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2E86AB"/>
                </a:solidFill>
                <a:latin typeface="Segoe UI"/>
              </a:rPr>
              <a:t>7 requirements</a:t>
            </a:r>
          </a:p>
        </p:txBody>
      </p:sp>
      <p:sp>
        <p:nvSpPr>
          <p:cNvPr id="30" name="Rectangle 29"/>
          <p:cNvSpPr/>
          <p:nvPr/>
        </p:nvSpPr>
        <p:spPr>
          <a:xfrm>
            <a:off x="7032648" y="2926080"/>
            <a:ext cx="19050" cy="5029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95972" y="3429000"/>
            <a:ext cx="1673352" cy="1371600"/>
          </a:xfrm>
          <a:prstGeom prst="rect">
            <a:avLst/>
          </a:prstGeom>
          <a:solidFill>
            <a:srgbClr val="EAF1F7"/>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5972" y="3538728"/>
            <a:ext cx="1673352" cy="182880"/>
          </a:xfrm>
          <a:prstGeom prst="rect">
            <a:avLst/>
          </a:prstGeom>
          <a:noFill/>
        </p:spPr>
        <p:txBody>
          <a:bodyPr wrap="square" anchor="t" lIns="0" rIns="0" tIns="0" bIns="0">
            <a:spAutoFit/>
          </a:bodyPr>
          <a:lstStyle/>
          <a:p>
            <a:pPr algn="ctr">
              <a:lnSpc>
                <a:spcPct val="100000"/>
              </a:lnSpc>
              <a:spcBef>
                <a:spcPts val="0"/>
              </a:spcBef>
              <a:spcAft>
                <a:spcPts val="400"/>
              </a:spcAft>
            </a:pPr>
            <a:r>
              <a:rPr sz="850" b="0" i="0">
                <a:solidFill>
                  <a:srgbClr val="5C6B7A"/>
                </a:solidFill>
                <a:latin typeface="Segoe UI"/>
              </a:rPr>
              <a:t>«requirements»</a:t>
            </a:r>
          </a:p>
        </p:txBody>
      </p:sp>
      <p:sp>
        <p:nvSpPr>
          <p:cNvPr id="33" name="TextBox 32"/>
          <p:cNvSpPr txBox="1"/>
          <p:nvPr/>
        </p:nvSpPr>
        <p:spPr>
          <a:xfrm>
            <a:off x="6195972" y="3758184"/>
            <a:ext cx="1673352" cy="50292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0F2540"/>
                </a:solidFill>
                <a:latin typeface="Segoe UI"/>
              </a:rPr>
              <a:t>SBC / Compute</a:t>
            </a:r>
          </a:p>
        </p:txBody>
      </p:sp>
      <p:sp>
        <p:nvSpPr>
          <p:cNvPr id="34" name="TextBox 33"/>
          <p:cNvSpPr txBox="1"/>
          <p:nvPr/>
        </p:nvSpPr>
        <p:spPr>
          <a:xfrm>
            <a:off x="6195972" y="4343400"/>
            <a:ext cx="1673352"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2E86AB"/>
                </a:solidFill>
                <a:latin typeface="Segoe UI"/>
              </a:rPr>
              <a:t>7 requirements</a:t>
            </a:r>
          </a:p>
        </p:txBody>
      </p:sp>
      <p:sp>
        <p:nvSpPr>
          <p:cNvPr id="35" name="Rectangle 34"/>
          <p:cNvSpPr/>
          <p:nvPr/>
        </p:nvSpPr>
        <p:spPr>
          <a:xfrm>
            <a:off x="8908996" y="2926080"/>
            <a:ext cx="19050" cy="5029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72320" y="3429000"/>
            <a:ext cx="1673352" cy="1371600"/>
          </a:xfrm>
          <a:prstGeom prst="rect">
            <a:avLst/>
          </a:prstGeom>
          <a:solidFill>
            <a:srgbClr val="EAF1F7"/>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72320" y="3538728"/>
            <a:ext cx="1673352" cy="182880"/>
          </a:xfrm>
          <a:prstGeom prst="rect">
            <a:avLst/>
          </a:prstGeom>
          <a:noFill/>
        </p:spPr>
        <p:txBody>
          <a:bodyPr wrap="square" anchor="t" lIns="0" rIns="0" tIns="0" bIns="0">
            <a:spAutoFit/>
          </a:bodyPr>
          <a:lstStyle/>
          <a:p>
            <a:pPr algn="ctr">
              <a:lnSpc>
                <a:spcPct val="100000"/>
              </a:lnSpc>
              <a:spcBef>
                <a:spcPts val="0"/>
              </a:spcBef>
              <a:spcAft>
                <a:spcPts val="400"/>
              </a:spcAft>
            </a:pPr>
            <a:r>
              <a:rPr sz="850" b="0" i="0">
                <a:solidFill>
                  <a:srgbClr val="5C6B7A"/>
                </a:solidFill>
                <a:latin typeface="Segoe UI"/>
              </a:rPr>
              <a:t>«requirements»</a:t>
            </a:r>
          </a:p>
        </p:txBody>
      </p:sp>
      <p:sp>
        <p:nvSpPr>
          <p:cNvPr id="38" name="TextBox 37"/>
          <p:cNvSpPr txBox="1"/>
          <p:nvPr/>
        </p:nvSpPr>
        <p:spPr>
          <a:xfrm>
            <a:off x="8072320" y="3758184"/>
            <a:ext cx="1673352" cy="50292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0F2540"/>
                </a:solidFill>
                <a:latin typeface="Segoe UI"/>
              </a:rPr>
              <a:t>Ground Control</a:t>
            </a:r>
          </a:p>
        </p:txBody>
      </p:sp>
      <p:sp>
        <p:nvSpPr>
          <p:cNvPr id="39" name="TextBox 38"/>
          <p:cNvSpPr txBox="1"/>
          <p:nvPr/>
        </p:nvSpPr>
        <p:spPr>
          <a:xfrm>
            <a:off x="8072320" y="4343400"/>
            <a:ext cx="1673352"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2E86AB"/>
                </a:solidFill>
                <a:latin typeface="Segoe UI"/>
              </a:rPr>
              <a:t>9 requirements</a:t>
            </a:r>
          </a:p>
        </p:txBody>
      </p:sp>
      <p:sp>
        <p:nvSpPr>
          <p:cNvPr id="40" name="Rectangle 39"/>
          <p:cNvSpPr/>
          <p:nvPr/>
        </p:nvSpPr>
        <p:spPr>
          <a:xfrm>
            <a:off x="10785344" y="2926080"/>
            <a:ext cx="19050" cy="5029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48668" y="3429000"/>
            <a:ext cx="1673352" cy="1371600"/>
          </a:xfrm>
          <a:prstGeom prst="rect">
            <a:avLst/>
          </a:prstGeom>
          <a:solidFill>
            <a:srgbClr val="EAF1F7"/>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948668" y="3538728"/>
            <a:ext cx="1673352" cy="182880"/>
          </a:xfrm>
          <a:prstGeom prst="rect">
            <a:avLst/>
          </a:prstGeom>
          <a:noFill/>
        </p:spPr>
        <p:txBody>
          <a:bodyPr wrap="square" anchor="t" lIns="0" rIns="0" tIns="0" bIns="0">
            <a:spAutoFit/>
          </a:bodyPr>
          <a:lstStyle/>
          <a:p>
            <a:pPr algn="ctr">
              <a:lnSpc>
                <a:spcPct val="100000"/>
              </a:lnSpc>
              <a:spcBef>
                <a:spcPts val="0"/>
              </a:spcBef>
              <a:spcAft>
                <a:spcPts val="400"/>
              </a:spcAft>
            </a:pPr>
            <a:r>
              <a:rPr sz="850" b="0" i="0">
                <a:solidFill>
                  <a:srgbClr val="5C6B7A"/>
                </a:solidFill>
                <a:latin typeface="Segoe UI"/>
              </a:rPr>
              <a:t>«requirements»</a:t>
            </a:r>
          </a:p>
        </p:txBody>
      </p:sp>
      <p:sp>
        <p:nvSpPr>
          <p:cNvPr id="43" name="TextBox 42"/>
          <p:cNvSpPr txBox="1"/>
          <p:nvPr/>
        </p:nvSpPr>
        <p:spPr>
          <a:xfrm>
            <a:off x="9948668" y="3758184"/>
            <a:ext cx="1673352" cy="50292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0F2540"/>
                </a:solidFill>
                <a:latin typeface="Segoe UI"/>
              </a:rPr>
              <a:t>Autonomy / Behavior</a:t>
            </a:r>
          </a:p>
        </p:txBody>
      </p:sp>
      <p:sp>
        <p:nvSpPr>
          <p:cNvPr id="44" name="TextBox 43"/>
          <p:cNvSpPr txBox="1"/>
          <p:nvPr/>
        </p:nvSpPr>
        <p:spPr>
          <a:xfrm>
            <a:off x="9948668" y="4343400"/>
            <a:ext cx="1673352"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2E86AB"/>
                </a:solidFill>
                <a:latin typeface="Segoe UI"/>
              </a:rPr>
              <a:t>5 requirements</a:t>
            </a:r>
          </a:p>
        </p:txBody>
      </p:sp>
      <p:sp>
        <p:nvSpPr>
          <p:cNvPr id="45" name="Rounded Rectangle 44"/>
          <p:cNvSpPr/>
          <p:nvPr/>
        </p:nvSpPr>
        <p:spPr>
          <a:xfrm>
            <a:off x="566928" y="5074920"/>
            <a:ext cx="11055096" cy="86868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9808" y="5193792"/>
            <a:ext cx="10689336" cy="685800"/>
          </a:xfrm>
          <a:prstGeom prst="rect">
            <a:avLst/>
          </a:prstGeom>
          <a:noFill/>
        </p:spPr>
        <p:txBody>
          <a:bodyPr wrap="square" anchor="t" lIns="0" rIns="0" tIns="0" bIns="0">
            <a:spAutoFit/>
          </a:bodyPr>
          <a:lstStyle/>
          <a:p>
            <a:pPr algn="l">
              <a:lnSpc>
                <a:spcPct val="108000"/>
              </a:lnSpc>
              <a:spcBef>
                <a:spcPts val="0"/>
              </a:spcBef>
              <a:spcAft>
                <a:spcPts val="400"/>
              </a:spcAft>
            </a:pPr>
            <a:r>
              <a:rPr sz="1150" b="1" i="0">
                <a:solidFill>
                  <a:srgbClr val="0F2540"/>
                </a:solidFill>
                <a:latin typeface="Segoe UI"/>
              </a:rPr>
              <a:t>Purpose of this view: </a:t>
            </a:r>
            <a:r>
              <a:rPr sz="1150" b="0" i="0">
                <a:solidFill>
                  <a:srgbClr val="1E2833"/>
                </a:solidFill>
                <a:latin typeface="Segoe UI"/>
              </a:rPr>
              <a:t>show the requirement decomposition structure — that requirements are modeled formally per subsystem and all trace up to R1–R8 and down to a component. The full requirement text and per-requirement allocation are in the three RTM slides that follow and in the model; this slide is the map, not the fine print.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1 · REQUIREMENTS</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Mission Requirements  (R1–R8)</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7</a:t>
            </a:r>
          </a:p>
        </p:txBody>
      </p:sp>
      <p:sp>
        <p:nvSpPr>
          <p:cNvPr id="9" name="Rectangle 8"/>
          <p:cNvSpPr/>
          <p:nvPr/>
        </p:nvSpPr>
        <p:spPr>
          <a:xfrm>
            <a:off x="1033918" y="1234440"/>
            <a:ext cx="5786859" cy="4846320"/>
          </a:xfrm>
          <a:prstGeom prst="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ystem_level_requirements.png"/>
          <p:cNvPicPr>
            <a:picLocks noChangeAspect="1"/>
          </p:cNvPicPr>
          <p:nvPr/>
        </p:nvPicPr>
        <p:blipFill>
          <a:blip r:embed="rId2"/>
          <a:stretch>
            <a:fillRect/>
          </a:stretch>
        </p:blipFill>
        <p:spPr>
          <a:xfrm>
            <a:off x="1088782" y="1289304"/>
            <a:ext cx="5677131" cy="4736592"/>
          </a:xfrm>
          <a:prstGeom prst="rect">
            <a:avLst/>
          </a:prstGeom>
        </p:spPr>
      </p:pic>
      <p:sp>
        <p:nvSpPr>
          <p:cNvPr id="11" name="TextBox 10"/>
          <p:cNvSpPr txBox="1"/>
          <p:nvPr/>
        </p:nvSpPr>
        <p:spPr>
          <a:xfrm>
            <a:off x="566928" y="6108192"/>
            <a:ext cx="67208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050" b="0" i="1">
                <a:solidFill>
                  <a:srgbClr val="5C6B7A"/>
                </a:solidFill>
                <a:latin typeface="Segoe UI"/>
              </a:rPr>
              <a:t>Mission &amp; autonomy requirements — SysML v2 Requirements Table (SysON export from model.sysml)</a:t>
            </a:r>
          </a:p>
        </p:txBody>
      </p:sp>
      <p:graphicFrame>
        <p:nvGraphicFramePr>
          <p:cNvPr id="12" name="Table 11"/>
          <p:cNvGraphicFramePr>
            <a:graphicFrameLocks noGrp="1"/>
          </p:cNvGraphicFramePr>
          <p:nvPr/>
        </p:nvGraphicFramePr>
        <p:xfrm>
          <a:off x="7635240" y="1234440"/>
          <a:ext cx="2148840" cy="3191256"/>
        </p:xfrm>
        <a:graphic>
          <a:graphicData uri="http://schemas.openxmlformats.org/drawingml/2006/table">
            <a:tbl>
              <a:tblPr>
                <a:tableStyleId>{5C22544A-7EE6-4342-B048-85BDC9FD1C3A}</a:tableStyleId>
              </a:tblPr>
              <a:tblGrid>
                <a:gridCol w="1051560"/>
                <a:gridCol w="1097280"/>
              </a:tblGrid>
              <a:tr h="310896">
                <a:tc>
                  <a:txBody>
                    <a:bodyPr wrap="square"/>
                    <a:lstStyle/>
                    <a:p>
                      <a:pPr algn="l"/>
                      <a:r>
                        <a:rPr sz="1050" b="1">
                          <a:solidFill>
                            <a:srgbClr val="FFFFFF"/>
                          </a:solidFill>
                          <a:latin typeface="Segoe UI"/>
                        </a:rPr>
                        <a:t>Req</a:t>
                      </a:r>
                    </a:p>
                  </a:txBody>
                  <a:tcPr marL="54864" marR="54864" marT="18288" marB="18288" anchor="ctr">
                    <a:solidFill>
                      <a:srgbClr val="0F2540"/>
                    </a:solidFill>
                  </a:tcPr>
                </a:tc>
                <a:tc>
                  <a:txBody>
                    <a:bodyPr wrap="square"/>
                    <a:lstStyle/>
                    <a:p>
                      <a:pPr algn="ctr"/>
                      <a:r>
                        <a:rPr sz="1050" b="1">
                          <a:solidFill>
                            <a:srgbClr val="FFFFFF"/>
                          </a:solidFill>
                          <a:latin typeface="Segoe UI"/>
                        </a:rPr>
                        <a:t>Verify</a:t>
                      </a:r>
                    </a:p>
                  </a:txBody>
                  <a:tcPr marL="54864" marR="54864" marT="18288" marB="18288" anchor="ctr">
                    <a:solidFill>
                      <a:srgbClr val="0F2540"/>
                    </a:solidFill>
                  </a:tcPr>
                </a:tc>
              </a:tr>
              <a:tr h="288036">
                <a:tc>
                  <a:txBody>
                    <a:bodyPr wrap="square"/>
                    <a:lstStyle/>
                    <a:p>
                      <a:pPr algn="l"/>
                      <a:r>
                        <a:rPr sz="1050" b="0">
                          <a:solidFill>
                            <a:srgbClr val="1E2833"/>
                          </a:solidFill>
                          <a:latin typeface="Segoe UI"/>
                        </a:rPr>
                        <a:t>R1</a:t>
                      </a:r>
                    </a:p>
                  </a:txBody>
                  <a:tcPr marL="54864" marR="54864" marT="18288" marB="18288" anchor="ctr">
                    <a:solidFill>
                      <a:srgbClr val="FFFFFF"/>
                    </a:solidFill>
                  </a:tcPr>
                </a:tc>
                <a:tc>
                  <a:txBody>
                    <a:bodyPr wrap="square"/>
                    <a:lstStyle/>
                    <a:p>
                      <a:pPr algn="ctr"/>
                      <a:r>
                        <a:rPr sz="1050" b="0">
                          <a:solidFill>
                            <a:srgbClr val="1E2833"/>
                          </a:solidFill>
                          <a:latin typeface="Segoe UI"/>
                        </a:rPr>
                        <a:t>A, T</a:t>
                      </a:r>
                    </a:p>
                  </a:txBody>
                  <a:tcPr marL="54864" marR="54864" marT="18288" marB="18288" anchor="ctr">
                    <a:solidFill>
                      <a:srgbClr val="FFFFFF"/>
                    </a:solidFill>
                  </a:tcPr>
                </a:tc>
              </a:tr>
              <a:tr h="288036">
                <a:tc>
                  <a:txBody>
                    <a:bodyPr wrap="square"/>
                    <a:lstStyle/>
                    <a:p>
                      <a:pPr algn="l"/>
                      <a:r>
                        <a:rPr sz="1050" b="0">
                          <a:solidFill>
                            <a:srgbClr val="1E2833"/>
                          </a:solidFill>
                          <a:latin typeface="Segoe UI"/>
                        </a:rPr>
                        <a:t>R2</a:t>
                      </a:r>
                    </a:p>
                  </a:txBody>
                  <a:tcPr marL="54864" marR="54864" marT="18288" marB="18288" anchor="ctr">
                    <a:solidFill>
                      <a:srgbClr val="F6F8FA"/>
                    </a:solidFill>
                  </a:tcPr>
                </a:tc>
                <a:tc>
                  <a:txBody>
                    <a:bodyPr wrap="square"/>
                    <a:lstStyle/>
                    <a:p>
                      <a:pPr algn="ctr"/>
                      <a:r>
                        <a:rPr sz="1050" b="0">
                          <a:solidFill>
                            <a:srgbClr val="1E2833"/>
                          </a:solidFill>
                          <a:latin typeface="Segoe UI"/>
                        </a:rPr>
                        <a:t>A, T</a:t>
                      </a:r>
                    </a:p>
                  </a:txBody>
                  <a:tcPr marL="54864" marR="54864" marT="18288" marB="18288" anchor="ctr">
                    <a:solidFill>
                      <a:srgbClr val="F6F8FA"/>
                    </a:solidFill>
                  </a:tcPr>
                </a:tc>
              </a:tr>
              <a:tr h="288036">
                <a:tc>
                  <a:txBody>
                    <a:bodyPr wrap="square"/>
                    <a:lstStyle/>
                    <a:p>
                      <a:pPr algn="l"/>
                      <a:r>
                        <a:rPr sz="1050" b="0">
                          <a:solidFill>
                            <a:srgbClr val="1E2833"/>
                          </a:solidFill>
                          <a:latin typeface="Segoe UI"/>
                        </a:rPr>
                        <a:t>R3</a:t>
                      </a:r>
                    </a:p>
                  </a:txBody>
                  <a:tcPr marL="54864" marR="54864" marT="18288" marB="18288" anchor="ctr">
                    <a:solidFill>
                      <a:srgbClr val="FFFFFF"/>
                    </a:solidFill>
                  </a:tcPr>
                </a:tc>
                <a:tc>
                  <a:txBody>
                    <a:bodyPr wrap="square"/>
                    <a:lstStyle/>
                    <a:p>
                      <a:pPr algn="ctr"/>
                      <a:r>
                        <a:rPr sz="1050" b="0">
                          <a:solidFill>
                            <a:srgbClr val="1E2833"/>
                          </a:solidFill>
                          <a:latin typeface="Segoe UI"/>
                        </a:rPr>
                        <a:t>A, D, T</a:t>
                      </a:r>
                    </a:p>
                  </a:txBody>
                  <a:tcPr marL="54864" marR="54864" marT="18288" marB="18288" anchor="ctr">
                    <a:solidFill>
                      <a:srgbClr val="FFFFFF"/>
                    </a:solidFill>
                  </a:tcPr>
                </a:tc>
              </a:tr>
              <a:tr h="288036">
                <a:tc>
                  <a:txBody>
                    <a:bodyPr wrap="square"/>
                    <a:lstStyle/>
                    <a:p>
                      <a:pPr algn="l"/>
                      <a:r>
                        <a:rPr sz="1050" b="0">
                          <a:solidFill>
                            <a:srgbClr val="1E2833"/>
                          </a:solidFill>
                          <a:latin typeface="Segoe UI"/>
                        </a:rPr>
                        <a:t>R3.1</a:t>
                      </a:r>
                    </a:p>
                  </a:txBody>
                  <a:tcPr marL="54864" marR="54864" marT="18288" marB="18288" anchor="ctr">
                    <a:solidFill>
                      <a:srgbClr val="F6F8FA"/>
                    </a:solidFill>
                  </a:tcPr>
                </a:tc>
                <a:tc>
                  <a:txBody>
                    <a:bodyPr wrap="square"/>
                    <a:lstStyle/>
                    <a:p>
                      <a:pPr algn="ctr"/>
                      <a:r>
                        <a:rPr sz="1050" b="0">
                          <a:solidFill>
                            <a:srgbClr val="1E2833"/>
                          </a:solidFill>
                          <a:latin typeface="Segoe UI"/>
                        </a:rPr>
                        <a:t>A, D</a:t>
                      </a:r>
                    </a:p>
                  </a:txBody>
                  <a:tcPr marL="54864" marR="54864" marT="18288" marB="18288" anchor="ctr">
                    <a:solidFill>
                      <a:srgbClr val="F6F8FA"/>
                    </a:solidFill>
                  </a:tcPr>
                </a:tc>
              </a:tr>
              <a:tr h="288036">
                <a:tc>
                  <a:txBody>
                    <a:bodyPr wrap="square"/>
                    <a:lstStyle/>
                    <a:p>
                      <a:pPr algn="l"/>
                      <a:r>
                        <a:rPr sz="1050" b="0">
                          <a:solidFill>
                            <a:srgbClr val="1E2833"/>
                          </a:solidFill>
                          <a:latin typeface="Segoe UI"/>
                        </a:rPr>
                        <a:t>R3.2</a:t>
                      </a:r>
                    </a:p>
                  </a:txBody>
                  <a:tcPr marL="54864" marR="54864" marT="18288" marB="18288" anchor="ctr">
                    <a:solidFill>
                      <a:srgbClr val="FFFFFF"/>
                    </a:solidFill>
                  </a:tcPr>
                </a:tc>
                <a:tc>
                  <a:txBody>
                    <a:bodyPr wrap="square"/>
                    <a:lstStyle/>
                    <a:p>
                      <a:pPr algn="ctr"/>
                      <a:r>
                        <a:rPr sz="1050" b="0">
                          <a:solidFill>
                            <a:srgbClr val="1E2833"/>
                          </a:solidFill>
                          <a:latin typeface="Segoe UI"/>
                        </a:rPr>
                        <a:t>A, D, T</a:t>
                      </a:r>
                    </a:p>
                  </a:txBody>
                  <a:tcPr marL="54864" marR="54864" marT="18288" marB="18288" anchor="ctr">
                    <a:solidFill>
                      <a:srgbClr val="FFFFFF"/>
                    </a:solidFill>
                  </a:tcPr>
                </a:tc>
              </a:tr>
              <a:tr h="288036">
                <a:tc>
                  <a:txBody>
                    <a:bodyPr wrap="square"/>
                    <a:lstStyle/>
                    <a:p>
                      <a:pPr algn="l"/>
                      <a:r>
                        <a:rPr sz="1050" b="0">
                          <a:solidFill>
                            <a:srgbClr val="1E2833"/>
                          </a:solidFill>
                          <a:latin typeface="Segoe UI"/>
                        </a:rPr>
                        <a:t>R4</a:t>
                      </a:r>
                    </a:p>
                  </a:txBody>
                  <a:tcPr marL="54864" marR="54864" marT="18288" marB="18288" anchor="ctr">
                    <a:solidFill>
                      <a:srgbClr val="F6F8FA"/>
                    </a:solidFill>
                  </a:tcPr>
                </a:tc>
                <a:tc>
                  <a:txBody>
                    <a:bodyPr wrap="square"/>
                    <a:lstStyle/>
                    <a:p>
                      <a:pPr algn="ctr"/>
                      <a:r>
                        <a:rPr sz="1050" b="0">
                          <a:solidFill>
                            <a:srgbClr val="1E2833"/>
                          </a:solidFill>
                          <a:latin typeface="Segoe UI"/>
                        </a:rPr>
                        <a:t>I</a:t>
                      </a:r>
                    </a:p>
                  </a:txBody>
                  <a:tcPr marL="54864" marR="54864" marT="18288" marB="18288" anchor="ctr">
                    <a:solidFill>
                      <a:srgbClr val="F6F8FA"/>
                    </a:solidFill>
                  </a:tcPr>
                </a:tc>
              </a:tr>
              <a:tr h="288036">
                <a:tc>
                  <a:txBody>
                    <a:bodyPr wrap="square"/>
                    <a:lstStyle/>
                    <a:p>
                      <a:pPr algn="l"/>
                      <a:r>
                        <a:rPr sz="1050" b="0">
                          <a:solidFill>
                            <a:srgbClr val="1E2833"/>
                          </a:solidFill>
                          <a:latin typeface="Segoe UI"/>
                        </a:rPr>
                        <a:t>R5</a:t>
                      </a:r>
                    </a:p>
                  </a:txBody>
                  <a:tcPr marL="54864" marR="54864" marT="18288" marB="18288" anchor="ctr">
                    <a:solidFill>
                      <a:srgbClr val="FFFFFF"/>
                    </a:solidFill>
                  </a:tcPr>
                </a:tc>
                <a:tc>
                  <a:txBody>
                    <a:bodyPr wrap="square"/>
                    <a:lstStyle/>
                    <a:p>
                      <a:pPr algn="ctr"/>
                      <a:r>
                        <a:rPr sz="1050" b="0">
                          <a:solidFill>
                            <a:srgbClr val="1E2833"/>
                          </a:solidFill>
                          <a:latin typeface="Segoe UI"/>
                        </a:rPr>
                        <a:t>I</a:t>
                      </a:r>
                    </a:p>
                  </a:txBody>
                  <a:tcPr marL="54864" marR="54864" marT="18288" marB="18288" anchor="ctr">
                    <a:solidFill>
                      <a:srgbClr val="FFFFFF"/>
                    </a:solidFill>
                  </a:tcPr>
                </a:tc>
              </a:tr>
              <a:tr h="288036">
                <a:tc>
                  <a:txBody>
                    <a:bodyPr wrap="square"/>
                    <a:lstStyle/>
                    <a:p>
                      <a:pPr algn="l"/>
                      <a:r>
                        <a:rPr sz="1050" b="0">
                          <a:solidFill>
                            <a:srgbClr val="1E2833"/>
                          </a:solidFill>
                          <a:latin typeface="Segoe UI"/>
                        </a:rPr>
                        <a:t>R6</a:t>
                      </a:r>
                    </a:p>
                  </a:txBody>
                  <a:tcPr marL="54864" marR="54864" marT="18288" marB="18288" anchor="ctr">
                    <a:solidFill>
                      <a:srgbClr val="F6F8FA"/>
                    </a:solidFill>
                  </a:tcPr>
                </a:tc>
                <a:tc>
                  <a:txBody>
                    <a:bodyPr wrap="square"/>
                    <a:lstStyle/>
                    <a:p>
                      <a:pPr algn="ctr"/>
                      <a:r>
                        <a:rPr sz="1050" b="0">
                          <a:solidFill>
                            <a:srgbClr val="1E2833"/>
                          </a:solidFill>
                          <a:latin typeface="Segoe UI"/>
                        </a:rPr>
                        <a:t>A, T</a:t>
                      </a:r>
                    </a:p>
                  </a:txBody>
                  <a:tcPr marL="54864" marR="54864" marT="18288" marB="18288" anchor="ctr">
                    <a:solidFill>
                      <a:srgbClr val="F6F8FA"/>
                    </a:solidFill>
                  </a:tcPr>
                </a:tc>
              </a:tr>
              <a:tr h="288036">
                <a:tc>
                  <a:txBody>
                    <a:bodyPr wrap="square"/>
                    <a:lstStyle/>
                    <a:p>
                      <a:pPr algn="l"/>
                      <a:r>
                        <a:rPr sz="1050" b="0">
                          <a:solidFill>
                            <a:srgbClr val="1E2833"/>
                          </a:solidFill>
                          <a:latin typeface="Segoe UI"/>
                        </a:rPr>
                        <a:t>R7</a:t>
                      </a:r>
                    </a:p>
                  </a:txBody>
                  <a:tcPr marL="54864" marR="54864" marT="18288" marB="18288" anchor="ctr">
                    <a:solidFill>
                      <a:srgbClr val="FFFFFF"/>
                    </a:solidFill>
                  </a:tcPr>
                </a:tc>
                <a:tc>
                  <a:txBody>
                    <a:bodyPr wrap="square"/>
                    <a:lstStyle/>
                    <a:p>
                      <a:pPr algn="ctr"/>
                      <a:r>
                        <a:rPr sz="1050" b="0">
                          <a:solidFill>
                            <a:srgbClr val="1E2833"/>
                          </a:solidFill>
                          <a:latin typeface="Segoe UI"/>
                        </a:rPr>
                        <a:t>A, T</a:t>
                      </a:r>
                    </a:p>
                  </a:txBody>
                  <a:tcPr marL="54864" marR="54864" marT="18288" marB="18288" anchor="ctr">
                    <a:solidFill>
                      <a:srgbClr val="FFFFFF"/>
                    </a:solidFill>
                  </a:tcPr>
                </a:tc>
              </a:tr>
              <a:tr h="288036">
                <a:tc>
                  <a:txBody>
                    <a:bodyPr wrap="square"/>
                    <a:lstStyle/>
                    <a:p>
                      <a:pPr algn="l"/>
                      <a:r>
                        <a:rPr sz="1050" b="0">
                          <a:solidFill>
                            <a:srgbClr val="1E2833"/>
                          </a:solidFill>
                          <a:latin typeface="Segoe UI"/>
                        </a:rPr>
                        <a:t>R8</a:t>
                      </a:r>
                    </a:p>
                  </a:txBody>
                  <a:tcPr marL="54864" marR="54864" marT="18288" marB="18288" anchor="ctr">
                    <a:solidFill>
                      <a:srgbClr val="F6F8FA"/>
                    </a:solidFill>
                  </a:tcPr>
                </a:tc>
                <a:tc>
                  <a:txBody>
                    <a:bodyPr wrap="square"/>
                    <a:lstStyle/>
                    <a:p>
                      <a:pPr algn="ctr"/>
                      <a:r>
                        <a:rPr sz="1050" b="0">
                          <a:solidFill>
                            <a:srgbClr val="1E2833"/>
                          </a:solidFill>
                          <a:latin typeface="Segoe UI"/>
                        </a:rPr>
                        <a:t>A</a:t>
                      </a:r>
                    </a:p>
                  </a:txBody>
                  <a:tcPr marL="54864" marR="54864" marT="18288" marB="18288" anchor="ctr">
                    <a:solidFill>
                      <a:srgbClr val="F6F8FA"/>
                    </a:solidFill>
                  </a:tcPr>
                </a:tc>
              </a:tr>
            </a:tbl>
          </a:graphicData>
        </a:graphic>
      </p:graphicFrame>
      <p:sp>
        <p:nvSpPr>
          <p:cNvPr id="13" name="Rounded Rectangle 12"/>
          <p:cNvSpPr/>
          <p:nvPr/>
        </p:nvSpPr>
        <p:spPr>
          <a:xfrm>
            <a:off x="9966960" y="1234440"/>
            <a:ext cx="1645920" cy="429768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04120" y="1371600"/>
            <a:ext cx="1417320" cy="365760"/>
          </a:xfrm>
          <a:prstGeom prst="rect">
            <a:avLst/>
          </a:prstGeom>
          <a:noFill/>
        </p:spPr>
        <p:txBody>
          <a:bodyPr wrap="square" anchor="t" lIns="0" rIns="0" tIns="0" bIns="0">
            <a:spAutoFit/>
          </a:bodyPr>
          <a:lstStyle/>
          <a:p>
            <a:pPr algn="l">
              <a:lnSpc>
                <a:spcPct val="100000"/>
              </a:lnSpc>
              <a:spcBef>
                <a:spcPts val="0"/>
              </a:spcBef>
              <a:spcAft>
                <a:spcPts val="400"/>
              </a:spcAft>
            </a:pPr>
            <a:r>
              <a:rPr sz="1050" b="1" i="0">
                <a:solidFill>
                  <a:srgbClr val="2E86AB"/>
                </a:solidFill>
                <a:latin typeface="Segoe UI"/>
              </a:rPr>
              <a:t>V-METHODS</a:t>
            </a:r>
          </a:p>
        </p:txBody>
      </p:sp>
      <p:sp>
        <p:nvSpPr>
          <p:cNvPr id="15" name="TextBox 14"/>
          <p:cNvSpPr txBox="1"/>
          <p:nvPr/>
        </p:nvSpPr>
        <p:spPr>
          <a:xfrm>
            <a:off x="10104120" y="1783080"/>
            <a:ext cx="1463040" cy="3657600"/>
          </a:xfrm>
          <a:prstGeom prst="rect">
            <a:avLst/>
          </a:prstGeom>
          <a:noFill/>
        </p:spPr>
        <p:txBody>
          <a:bodyPr wrap="square" anchor="t" lIns="0" rIns="0" tIns="0" bIns="0">
            <a:spAutoFit/>
          </a:bodyPr>
          <a:lstStyle/>
          <a:p>
            <a:pPr algn="l">
              <a:lnSpc>
                <a:spcPct val="105000"/>
              </a:lnSpc>
              <a:spcBef>
                <a:spcPts val="0"/>
              </a:spcBef>
              <a:spcAft>
                <a:spcPts val="800"/>
              </a:spcAft>
            </a:pPr>
            <a:r>
              <a:rPr sz="1100" b="0" i="0">
                <a:solidFill>
                  <a:srgbClr val="1E2833"/>
                </a:solidFill>
                <a:latin typeface="Segoe UI"/>
              </a:rPr>
              <a:t>I  Inspection</a:t>
            </a:r>
          </a:p>
          <a:p>
            <a:pPr algn="l">
              <a:lnSpc>
                <a:spcPct val="105000"/>
              </a:lnSpc>
              <a:spcBef>
                <a:spcPts val="0"/>
              </a:spcBef>
              <a:spcAft>
                <a:spcPts val="800"/>
              </a:spcAft>
            </a:pPr>
            <a:r>
              <a:rPr sz="1100" b="0" i="0">
                <a:solidFill>
                  <a:srgbClr val="1E2833"/>
                </a:solidFill>
                <a:latin typeface="Segoe UI"/>
              </a:rPr>
              <a:t>A  Analysis</a:t>
            </a:r>
          </a:p>
          <a:p>
            <a:pPr algn="l">
              <a:lnSpc>
                <a:spcPct val="105000"/>
              </a:lnSpc>
              <a:spcBef>
                <a:spcPts val="0"/>
              </a:spcBef>
              <a:spcAft>
                <a:spcPts val="800"/>
              </a:spcAft>
            </a:pPr>
            <a:r>
              <a:rPr sz="1100" b="0" i="0">
                <a:solidFill>
                  <a:srgbClr val="1E2833"/>
                </a:solidFill>
                <a:latin typeface="Segoe UI"/>
              </a:rPr>
              <a:t>D  Demonstration</a:t>
            </a:r>
          </a:p>
          <a:p>
            <a:pPr algn="l">
              <a:lnSpc>
                <a:spcPct val="105000"/>
              </a:lnSpc>
              <a:spcBef>
                <a:spcPts val="0"/>
              </a:spcBef>
              <a:spcAft>
                <a:spcPts val="800"/>
              </a:spcAft>
            </a:pPr>
            <a:r>
              <a:rPr sz="1100" b="0" i="0">
                <a:solidFill>
                  <a:srgbClr val="1E2833"/>
                </a:solidFill>
                <a:latin typeface="Segoe UI"/>
              </a:rPr>
              <a:t>T  Test</a:t>
            </a:r>
          </a:p>
          <a:p>
            <a:pPr algn="l">
              <a:lnSpc>
                <a:spcPct val="105000"/>
              </a:lnSpc>
              <a:spcBef>
                <a:spcPts val="0"/>
              </a:spcBef>
              <a:spcAft>
                <a:spcPts val="800"/>
              </a:spcAft>
            </a:pPr>
            <a:r>
              <a:rPr sz="600" b="0" i="0">
                <a:solidFill>
                  <a:srgbClr val="1E2833"/>
                </a:solidFill>
                <a:latin typeface="Segoe UI"/>
              </a:rPr>
              <a:t/>
            </a:r>
          </a:p>
          <a:p>
            <a:pPr algn="l">
              <a:lnSpc>
                <a:spcPct val="105000"/>
              </a:lnSpc>
              <a:spcBef>
                <a:spcPts val="0"/>
              </a:spcBef>
              <a:spcAft>
                <a:spcPts val="800"/>
              </a:spcAft>
            </a:pPr>
            <a:r>
              <a:rPr sz="950" b="0" i="0">
                <a:solidFill>
                  <a:srgbClr val="5C6B7A"/>
                </a:solidFill>
                <a:latin typeface="Segoe UI"/>
              </a:rPr>
              <a:t>At CDR: A complete for all; T/D planned (see V&amp;V).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1 · REQUIREMENTS</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Traceability Approach &amp; Coverage</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8</a:t>
            </a:r>
          </a:p>
        </p:txBody>
      </p:sp>
      <p:sp>
        <p:nvSpPr>
          <p:cNvPr id="9" name="TextBox 8"/>
          <p:cNvSpPr txBox="1"/>
          <p:nvPr/>
        </p:nvSpPr>
        <p:spPr>
          <a:xfrm>
            <a:off x="566928" y="1234440"/>
            <a:ext cx="4297680" cy="4754880"/>
          </a:xfrm>
          <a:prstGeom prst="rect">
            <a:avLst/>
          </a:prstGeom>
          <a:noFill/>
        </p:spPr>
        <p:txBody>
          <a:bodyPr wrap="square" anchor="t" lIns="0" rIns="0" tIns="0" bIns="0">
            <a:spAutoFit/>
          </a:bodyPr>
          <a:lstStyle/>
          <a:p>
            <a:pPr>
              <a:lnSpc>
                <a:spcPct val="104000"/>
              </a:lnSpc>
              <a:spcBef>
                <a:spcPts val="300"/>
              </a:spcBef>
              <a:spcAft>
                <a:spcPts val="300"/>
              </a:spcAft>
            </a:pPr>
            <a:r>
              <a:rPr sz="1400" b="1">
                <a:solidFill>
                  <a:srgbClr val="2E86AB"/>
                </a:solidFill>
                <a:latin typeface="Segoe UI"/>
              </a:rPr>
              <a:t>▸  </a:t>
            </a:r>
            <a:r>
              <a:rPr sz="1350" b="1">
                <a:solidFill>
                  <a:srgbClr val="0F2540"/>
                </a:solidFill>
                <a:latin typeface="Segoe UI"/>
              </a:rPr>
              <a:t>Up-trace.  </a:t>
            </a:r>
            <a:r>
              <a:rPr sz="1350" b="0">
                <a:solidFill>
                  <a:srgbClr val="1E2833"/>
                </a:solidFill>
                <a:latin typeface="Segoe UI"/>
              </a:rPr>
              <a:t>Each subsystem requirement subsets the mission requirement it decomposes (e.g. R3_CAM_RES ⊂ R3, cost reqs ⊂ R4).</a:t>
            </a:r>
          </a:p>
          <a:p>
            <a:pPr>
              <a:lnSpc>
                <a:spcPct val="104000"/>
              </a:lnSpc>
              <a:spcBef>
                <a:spcPts val="300"/>
              </a:spcBef>
              <a:spcAft>
                <a:spcPts val="300"/>
              </a:spcAft>
            </a:pPr>
            <a:r>
              <a:rPr sz="1400" b="1">
                <a:solidFill>
                  <a:srgbClr val="2E86AB"/>
                </a:solidFill>
                <a:latin typeface="Segoe UI"/>
              </a:rPr>
              <a:t>▸  </a:t>
            </a:r>
            <a:r>
              <a:rPr sz="1350" b="1">
                <a:solidFill>
                  <a:srgbClr val="0F2540"/>
                </a:solidFill>
                <a:latin typeface="Segoe UI"/>
              </a:rPr>
              <a:t>Down-trace.  </a:t>
            </a:r>
            <a:r>
              <a:rPr sz="1350" b="0">
                <a:solidFill>
                  <a:srgbClr val="1E2833"/>
                </a:solidFill>
                <a:latin typeface="Segoe UI"/>
              </a:rPr>
              <a:t>Each component part def carries a satisfy link to the requirements it fulfills — the RTM is derived from that web, not maintained by hand.</a:t>
            </a:r>
          </a:p>
          <a:p>
            <a:pPr>
              <a:lnSpc>
                <a:spcPct val="104000"/>
              </a:lnSpc>
              <a:spcBef>
                <a:spcPts val="300"/>
              </a:spcBef>
              <a:spcAft>
                <a:spcPts val="300"/>
              </a:spcAft>
            </a:pPr>
            <a:r>
              <a:rPr sz="1400" b="1">
                <a:solidFill>
                  <a:srgbClr val="2E86AB"/>
                </a:solidFill>
                <a:latin typeface="Segoe UI"/>
              </a:rPr>
              <a:t>▸  </a:t>
            </a:r>
            <a:r>
              <a:rPr sz="1350" b="1">
                <a:solidFill>
                  <a:srgbClr val="0F2540"/>
                </a:solidFill>
                <a:latin typeface="Segoe UI"/>
              </a:rPr>
              <a:t>Coverage.  </a:t>
            </a:r>
            <a:r>
              <a:rPr sz="1350" b="0">
                <a:solidFill>
                  <a:srgbClr val="1E2833"/>
                </a:solidFill>
                <a:latin typeface="Segoe UI"/>
              </a:rPr>
              <a:t>All 8 mission requirements decompose to subsystem requirements and allocate to at least one component; behavior reqs (…_BHV_…) allocate to autonomy functions + firmware.</a:t>
            </a:r>
          </a:p>
          <a:p>
            <a:pPr>
              <a:lnSpc>
                <a:spcPct val="104000"/>
              </a:lnSpc>
              <a:spcBef>
                <a:spcPts val="300"/>
              </a:spcBef>
              <a:spcAft>
                <a:spcPts val="300"/>
              </a:spcAft>
            </a:pPr>
            <a:r>
              <a:rPr sz="1400" b="1">
                <a:solidFill>
                  <a:srgbClr val="2E86AB"/>
                </a:solidFill>
                <a:latin typeface="Segoe UI"/>
              </a:rPr>
              <a:t>▸  </a:t>
            </a:r>
            <a:r>
              <a:rPr sz="1350" b="1">
                <a:solidFill>
                  <a:srgbClr val="0F2540"/>
                </a:solidFill>
                <a:latin typeface="Segoe UI"/>
              </a:rPr>
              <a:t>Bidirectional.  </a:t>
            </a:r>
            <a:r>
              <a:rPr sz="1350" b="0">
                <a:solidFill>
                  <a:srgbClr val="1E2833"/>
                </a:solidFill>
                <a:latin typeface="Segoe UI"/>
              </a:rPr>
              <a:t>Any requirement → responsible component, and any component → requirements it must meet, are both queryable from the model.</a:t>
            </a:r>
          </a:p>
        </p:txBody>
      </p:sp>
      <p:graphicFrame>
        <p:nvGraphicFramePr>
          <p:cNvPr id="10" name="Table 9"/>
          <p:cNvGraphicFramePr>
            <a:graphicFrameLocks noGrp="1"/>
          </p:cNvGraphicFramePr>
          <p:nvPr/>
        </p:nvGraphicFramePr>
        <p:xfrm>
          <a:off x="5074920" y="1234440"/>
          <a:ext cx="6547104" cy="3968496"/>
        </p:xfrm>
        <a:graphic>
          <a:graphicData uri="http://schemas.openxmlformats.org/drawingml/2006/table">
            <a:tbl>
              <a:tblPr>
                <a:tableStyleId>{5C22544A-7EE6-4342-B048-85BDC9FD1C3A}</a:tableStyleId>
              </a:tblPr>
              <a:tblGrid>
                <a:gridCol w="2697480"/>
                <a:gridCol w="822960"/>
                <a:gridCol w="2194560"/>
                <a:gridCol w="832104"/>
              </a:tblGrid>
              <a:tr h="310896">
                <a:tc>
                  <a:txBody>
                    <a:bodyPr wrap="square"/>
                    <a:lstStyle/>
                    <a:p>
                      <a:pPr algn="l"/>
                      <a:r>
                        <a:rPr sz="1000" b="1">
                          <a:solidFill>
                            <a:srgbClr val="FFFFFF"/>
                          </a:solidFill>
                          <a:latin typeface="Segoe UI"/>
                        </a:rPr>
                        <a:t>Mission requirement</a:t>
                      </a:r>
                    </a:p>
                  </a:txBody>
                  <a:tcPr marL="54864" marR="54864" marT="18288" marB="18288" anchor="ctr">
                    <a:solidFill>
                      <a:srgbClr val="0F2540"/>
                    </a:solidFill>
                  </a:tcPr>
                </a:tc>
                <a:tc>
                  <a:txBody>
                    <a:bodyPr wrap="square"/>
                    <a:lstStyle/>
                    <a:p>
                      <a:pPr algn="ctr"/>
                      <a:r>
                        <a:rPr sz="1000" b="1">
                          <a:solidFill>
                            <a:srgbClr val="FFFFFF"/>
                          </a:solidFill>
                          <a:latin typeface="Segoe UI"/>
                        </a:rPr>
                        <a:t>Derived</a:t>
                      </a:r>
                    </a:p>
                  </a:txBody>
                  <a:tcPr marL="54864" marR="54864" marT="18288" marB="18288" anchor="ctr">
                    <a:solidFill>
                      <a:srgbClr val="0F2540"/>
                    </a:solidFill>
                  </a:tcPr>
                </a:tc>
                <a:tc>
                  <a:txBody>
                    <a:bodyPr wrap="square"/>
                    <a:lstStyle/>
                    <a:p>
                      <a:pPr algn="l"/>
                      <a:r>
                        <a:rPr sz="1000" b="1">
                          <a:solidFill>
                            <a:srgbClr val="FFFFFF"/>
                          </a:solidFill>
                          <a:latin typeface="Segoe UI"/>
                        </a:rPr>
                        <a:t>Allocated to</a:t>
                      </a:r>
                    </a:p>
                  </a:txBody>
                  <a:tcPr marL="54864" marR="54864" marT="18288" marB="18288" anchor="ctr">
                    <a:solidFill>
                      <a:srgbClr val="0F2540"/>
                    </a:solidFill>
                  </a:tcPr>
                </a:tc>
                <a:tc>
                  <a:txBody>
                    <a:bodyPr wrap="square"/>
                    <a:lstStyle/>
                    <a:p>
                      <a:pPr algn="ctr"/>
                      <a:r>
                        <a:rPr sz="1000" b="1">
                          <a:solidFill>
                            <a:srgbClr val="FFFFFF"/>
                          </a:solidFill>
                          <a:latin typeface="Segoe UI"/>
                        </a:rPr>
                        <a:t>Verify</a:t>
                      </a:r>
                    </a:p>
                  </a:txBody>
                  <a:tcPr marL="54864" marR="54864" marT="18288" marB="18288" anchor="ctr">
                    <a:solidFill>
                      <a:srgbClr val="0F2540"/>
                    </a:solidFill>
                  </a:tcPr>
                </a:tc>
              </a:tr>
              <a:tr h="457200">
                <a:tc>
                  <a:txBody>
                    <a:bodyPr wrap="square"/>
                    <a:lstStyle/>
                    <a:p>
                      <a:pPr algn="l"/>
                      <a:r>
                        <a:rPr sz="1000" b="0">
                          <a:solidFill>
                            <a:srgbClr val="1E2833"/>
                          </a:solidFill>
                          <a:latin typeface="Segoe UI"/>
                        </a:rPr>
                        <a:t>R1 · Survey altitude</a:t>
                      </a:r>
                    </a:p>
                  </a:txBody>
                  <a:tcPr marL="54864" marR="54864" marT="18288" marB="18288" anchor="ctr">
                    <a:solidFill>
                      <a:srgbClr val="FFFFFF"/>
                    </a:solidFill>
                  </a:tcPr>
                </a:tc>
                <a:tc>
                  <a:txBody>
                    <a:bodyPr wrap="square"/>
                    <a:lstStyle/>
                    <a:p>
                      <a:pPr algn="ctr"/>
                      <a:r>
                        <a:rPr sz="1000" b="0">
                          <a:solidFill>
                            <a:srgbClr val="1E2833"/>
                          </a:solidFill>
                          <a:latin typeface="Segoe UI"/>
                        </a:rPr>
                        <a:t>2</a:t>
                      </a:r>
                    </a:p>
                  </a:txBody>
                  <a:tcPr marL="54864" marR="54864" marT="18288" marB="18288" anchor="ctr">
                    <a:solidFill>
                      <a:srgbClr val="FFFFFF"/>
                    </a:solidFill>
                  </a:tcPr>
                </a:tc>
                <a:tc>
                  <a:txBody>
                    <a:bodyPr wrap="square"/>
                    <a:lstStyle/>
                    <a:p>
                      <a:pPr algn="l"/>
                      <a:r>
                        <a:rPr sz="1000" b="0">
                          <a:solidFill>
                            <a:srgbClr val="1E2833"/>
                          </a:solidFill>
                          <a:latin typeface="Segoe UI"/>
                        </a:rPr>
                        <a:t>Airframe, autonomy (flyRoute)</a:t>
                      </a:r>
                    </a:p>
                  </a:txBody>
                  <a:tcPr marL="54864" marR="54864" marT="18288" marB="18288" anchor="ctr">
                    <a:solidFill>
                      <a:srgbClr val="FFFFFF"/>
                    </a:solidFill>
                  </a:tcPr>
                </a:tc>
                <a:tc>
                  <a:txBody>
                    <a:bodyPr wrap="square"/>
                    <a:lstStyle/>
                    <a:p>
                      <a:pPr algn="ctr"/>
                      <a:r>
                        <a:rPr sz="1000" b="0">
                          <a:solidFill>
                            <a:srgbClr val="1E2833"/>
                          </a:solidFill>
                          <a:latin typeface="Segoe UI"/>
                        </a:rPr>
                        <a:t>A, T</a:t>
                      </a:r>
                    </a:p>
                  </a:txBody>
                  <a:tcPr marL="54864" marR="54864" marT="18288" marB="18288" anchor="ctr">
                    <a:solidFill>
                      <a:srgbClr val="FFFFFF"/>
                    </a:solidFill>
                  </a:tcPr>
                </a:tc>
              </a:tr>
              <a:tr h="457200">
                <a:tc>
                  <a:txBody>
                    <a:bodyPr wrap="square"/>
                    <a:lstStyle/>
                    <a:p>
                      <a:pPr algn="l"/>
                      <a:r>
                        <a:rPr sz="1000" b="0">
                          <a:solidFill>
                            <a:srgbClr val="1E2833"/>
                          </a:solidFill>
                          <a:latin typeface="Segoe UI"/>
                        </a:rPr>
                        <a:t>R2 · Ground speed</a:t>
                      </a:r>
                    </a:p>
                  </a:txBody>
                  <a:tcPr marL="54864" marR="54864" marT="18288" marB="18288" anchor="ctr">
                    <a:solidFill>
                      <a:srgbClr val="F6F8FA"/>
                    </a:solidFill>
                  </a:tcPr>
                </a:tc>
                <a:tc>
                  <a:txBody>
                    <a:bodyPr wrap="square"/>
                    <a:lstStyle/>
                    <a:p>
                      <a:pPr algn="ctr"/>
                      <a:r>
                        <a:rPr sz="1000" b="0">
                          <a:solidFill>
                            <a:srgbClr val="1E2833"/>
                          </a:solidFill>
                          <a:latin typeface="Segoe UI"/>
                        </a:rPr>
                        <a:t>2</a:t>
                      </a:r>
                    </a:p>
                  </a:txBody>
                  <a:tcPr marL="54864" marR="54864" marT="18288" marB="18288" anchor="ctr">
                    <a:solidFill>
                      <a:srgbClr val="F6F8FA"/>
                    </a:solidFill>
                  </a:tcPr>
                </a:tc>
                <a:tc>
                  <a:txBody>
                    <a:bodyPr wrap="square"/>
                    <a:lstStyle/>
                    <a:p>
                      <a:pPr algn="l"/>
                      <a:r>
                        <a:rPr sz="1000" b="0">
                          <a:solidFill>
                            <a:srgbClr val="1E2833"/>
                          </a:solidFill>
                          <a:latin typeface="Segoe UI"/>
                        </a:rPr>
                        <a:t>Airframe, autonomy (flyRoute)</a:t>
                      </a:r>
                    </a:p>
                  </a:txBody>
                  <a:tcPr marL="54864" marR="54864" marT="18288" marB="18288" anchor="ctr">
                    <a:solidFill>
                      <a:srgbClr val="F6F8FA"/>
                    </a:solidFill>
                  </a:tcPr>
                </a:tc>
                <a:tc>
                  <a:txBody>
                    <a:bodyPr wrap="square"/>
                    <a:lstStyle/>
                    <a:p>
                      <a:pPr algn="ctr"/>
                      <a:r>
                        <a:rPr sz="1000" b="0">
                          <a:solidFill>
                            <a:srgbClr val="1E2833"/>
                          </a:solidFill>
                          <a:latin typeface="Segoe UI"/>
                        </a:rPr>
                        <a:t>A, T</a:t>
                      </a:r>
                    </a:p>
                  </a:txBody>
                  <a:tcPr marL="54864" marR="54864" marT="18288" marB="18288" anchor="ctr">
                    <a:solidFill>
                      <a:srgbClr val="F6F8FA"/>
                    </a:solidFill>
                  </a:tcPr>
                </a:tc>
              </a:tr>
              <a:tr h="457200">
                <a:tc>
                  <a:txBody>
                    <a:bodyPr wrap="square"/>
                    <a:lstStyle/>
                    <a:p>
                      <a:pPr algn="l"/>
                      <a:r>
                        <a:rPr sz="1000" b="0">
                          <a:solidFill>
                            <a:srgbClr val="1E2833"/>
                          </a:solidFill>
                          <a:latin typeface="Segoe UI"/>
                        </a:rPr>
                        <a:t>R3 · Thermal detect &amp; classify</a:t>
                      </a:r>
                    </a:p>
                  </a:txBody>
                  <a:tcPr marL="54864" marR="54864" marT="18288" marB="18288" anchor="ctr">
                    <a:solidFill>
                      <a:srgbClr val="FFFFFF"/>
                    </a:solidFill>
                  </a:tcPr>
                </a:tc>
                <a:tc>
                  <a:txBody>
                    <a:bodyPr wrap="square"/>
                    <a:lstStyle/>
                    <a:p>
                      <a:pPr algn="ctr"/>
                      <a:r>
                        <a:rPr sz="1000" b="0">
                          <a:solidFill>
                            <a:srgbClr val="1E2833"/>
                          </a:solidFill>
                          <a:latin typeface="Segoe UI"/>
                        </a:rPr>
                        <a:t>6</a:t>
                      </a:r>
                    </a:p>
                  </a:txBody>
                  <a:tcPr marL="54864" marR="54864" marT="18288" marB="18288" anchor="ctr">
                    <a:solidFill>
                      <a:srgbClr val="FFFFFF"/>
                    </a:solidFill>
                  </a:tcPr>
                </a:tc>
                <a:tc>
                  <a:txBody>
                    <a:bodyPr wrap="square"/>
                    <a:lstStyle/>
                    <a:p>
                      <a:pPr algn="l"/>
                      <a:r>
                        <a:rPr sz="1000" b="0">
                          <a:solidFill>
                            <a:srgbClr val="1E2833"/>
                          </a:solidFill>
                          <a:latin typeface="Segoe UI"/>
                        </a:rPr>
                        <a:t>IRCamera, SBC, thermalModel</a:t>
                      </a:r>
                    </a:p>
                  </a:txBody>
                  <a:tcPr marL="54864" marR="54864" marT="18288" marB="18288" anchor="ctr">
                    <a:solidFill>
                      <a:srgbClr val="FFFFFF"/>
                    </a:solidFill>
                  </a:tcPr>
                </a:tc>
                <a:tc>
                  <a:txBody>
                    <a:bodyPr wrap="square"/>
                    <a:lstStyle/>
                    <a:p>
                      <a:pPr algn="ctr"/>
                      <a:r>
                        <a:rPr sz="1000" b="0">
                          <a:solidFill>
                            <a:srgbClr val="1E2833"/>
                          </a:solidFill>
                          <a:latin typeface="Segoe UI"/>
                        </a:rPr>
                        <a:t>A, D, T</a:t>
                      </a:r>
                    </a:p>
                  </a:txBody>
                  <a:tcPr marL="54864" marR="54864" marT="18288" marB="18288" anchor="ctr">
                    <a:solidFill>
                      <a:srgbClr val="FFFFFF"/>
                    </a:solidFill>
                  </a:tcPr>
                </a:tc>
              </a:tr>
              <a:tr h="457200">
                <a:tc>
                  <a:txBody>
                    <a:bodyPr wrap="square"/>
                    <a:lstStyle/>
                    <a:p>
                      <a:pPr algn="l"/>
                      <a:r>
                        <a:rPr sz="1000" b="0">
                          <a:solidFill>
                            <a:srgbClr val="1E2833"/>
                          </a:solidFill>
                          <a:latin typeface="Segoe UI"/>
                        </a:rPr>
                        <a:t>R4 · System cost</a:t>
                      </a:r>
                    </a:p>
                  </a:txBody>
                  <a:tcPr marL="54864" marR="54864" marT="18288" marB="18288" anchor="ctr">
                    <a:solidFill>
                      <a:srgbClr val="F6F8FA"/>
                    </a:solidFill>
                  </a:tcPr>
                </a:tc>
                <a:tc>
                  <a:txBody>
                    <a:bodyPr wrap="square"/>
                    <a:lstStyle/>
                    <a:p>
                      <a:pPr algn="ctr"/>
                      <a:r>
                        <a:rPr sz="1000" b="0">
                          <a:solidFill>
                            <a:srgbClr val="1E2833"/>
                          </a:solidFill>
                          <a:latin typeface="Segoe UI"/>
                        </a:rPr>
                        <a:t>5</a:t>
                      </a:r>
                    </a:p>
                  </a:txBody>
                  <a:tcPr marL="54864" marR="54864" marT="18288" marB="18288" anchor="ctr">
                    <a:solidFill>
                      <a:srgbClr val="F6F8FA"/>
                    </a:solidFill>
                  </a:tcPr>
                </a:tc>
                <a:tc>
                  <a:txBody>
                    <a:bodyPr wrap="square"/>
                    <a:lstStyle/>
                    <a:p>
                      <a:pPr algn="l"/>
                      <a:r>
                        <a:rPr sz="1000" b="0">
                          <a:solidFill>
                            <a:srgbClr val="1E2833"/>
                          </a:solidFill>
                          <a:latin typeface="Segoe UI"/>
                        </a:rPr>
                        <a:t>All subsystems (cost)</a:t>
                      </a:r>
                    </a:p>
                  </a:txBody>
                  <a:tcPr marL="54864" marR="54864" marT="18288" marB="18288" anchor="ctr">
                    <a:solidFill>
                      <a:srgbClr val="F6F8FA"/>
                    </a:solidFill>
                  </a:tcPr>
                </a:tc>
                <a:tc>
                  <a:txBody>
                    <a:bodyPr wrap="square"/>
                    <a:lstStyle/>
                    <a:p>
                      <a:pPr algn="ctr"/>
                      <a:r>
                        <a:rPr sz="1000" b="0">
                          <a:solidFill>
                            <a:srgbClr val="1E2833"/>
                          </a:solidFill>
                          <a:latin typeface="Segoe UI"/>
                        </a:rPr>
                        <a:t>I</a:t>
                      </a:r>
                    </a:p>
                  </a:txBody>
                  <a:tcPr marL="54864" marR="54864" marT="18288" marB="18288" anchor="ctr">
                    <a:solidFill>
                      <a:srgbClr val="F6F8FA"/>
                    </a:solidFill>
                  </a:tcPr>
                </a:tc>
              </a:tr>
              <a:tr h="457200">
                <a:tc>
                  <a:txBody>
                    <a:bodyPr wrap="square"/>
                    <a:lstStyle/>
                    <a:p>
                      <a:pPr algn="l"/>
                      <a:r>
                        <a:rPr sz="1000" b="0">
                          <a:solidFill>
                            <a:srgbClr val="1E2833"/>
                          </a:solidFill>
                          <a:latin typeface="Segoe UI"/>
                        </a:rPr>
                        <a:t>R5 · Minimize soldering</a:t>
                      </a:r>
                    </a:p>
                  </a:txBody>
                  <a:tcPr marL="54864" marR="54864" marT="18288" marB="18288" anchor="ctr">
                    <a:solidFill>
                      <a:srgbClr val="FFFFFF"/>
                    </a:solidFill>
                  </a:tcPr>
                </a:tc>
                <a:tc>
                  <a:txBody>
                    <a:bodyPr wrap="square"/>
                    <a:lstStyle/>
                    <a:p>
                      <a:pPr algn="ctr"/>
                      <a:r>
                        <a:rPr sz="1000" b="0">
                          <a:solidFill>
                            <a:srgbClr val="1E2833"/>
                          </a:solidFill>
                          <a:latin typeface="Segoe UI"/>
                        </a:rPr>
                        <a:t>1</a:t>
                      </a:r>
                    </a:p>
                  </a:txBody>
                  <a:tcPr marL="54864" marR="54864" marT="18288" marB="18288" anchor="ctr">
                    <a:solidFill>
                      <a:srgbClr val="FFFFFF"/>
                    </a:solidFill>
                  </a:tcPr>
                </a:tc>
                <a:tc>
                  <a:txBody>
                    <a:bodyPr wrap="square"/>
                    <a:lstStyle/>
                    <a:p>
                      <a:pPr algn="l"/>
                      <a:r>
                        <a:rPr sz="1000" b="0">
                          <a:solidFill>
                            <a:srgbClr val="1E2833"/>
                          </a:solidFill>
                          <a:latin typeface="Segoe UI"/>
                        </a:rPr>
                        <a:t>Airframe (PNP, pre-soldered)</a:t>
                      </a:r>
                    </a:p>
                  </a:txBody>
                  <a:tcPr marL="54864" marR="54864" marT="18288" marB="18288" anchor="ctr">
                    <a:solidFill>
                      <a:srgbClr val="FFFFFF"/>
                    </a:solidFill>
                  </a:tcPr>
                </a:tc>
                <a:tc>
                  <a:txBody>
                    <a:bodyPr wrap="square"/>
                    <a:lstStyle/>
                    <a:p>
                      <a:pPr algn="ctr"/>
                      <a:r>
                        <a:rPr sz="1000" b="0">
                          <a:solidFill>
                            <a:srgbClr val="1E2833"/>
                          </a:solidFill>
                          <a:latin typeface="Segoe UI"/>
                        </a:rPr>
                        <a:t>I</a:t>
                      </a:r>
                    </a:p>
                  </a:txBody>
                  <a:tcPr marL="54864" marR="54864" marT="18288" marB="18288" anchor="ctr">
                    <a:solidFill>
                      <a:srgbClr val="FFFFFF"/>
                    </a:solidFill>
                  </a:tcPr>
                </a:tc>
              </a:tr>
              <a:tr h="457200">
                <a:tc>
                  <a:txBody>
                    <a:bodyPr wrap="square"/>
                    <a:lstStyle/>
                    <a:p>
                      <a:pPr algn="l"/>
                      <a:r>
                        <a:rPr sz="1000" b="0">
                          <a:solidFill>
                            <a:srgbClr val="1E2833"/>
                          </a:solidFill>
                          <a:latin typeface="Segoe UI"/>
                        </a:rPr>
                        <a:t>R6 · Endurance (30 min)</a:t>
                      </a:r>
                    </a:p>
                  </a:txBody>
                  <a:tcPr marL="54864" marR="54864" marT="18288" marB="18288" anchor="ctr">
                    <a:solidFill>
                      <a:srgbClr val="F6F8FA"/>
                    </a:solidFill>
                  </a:tcPr>
                </a:tc>
                <a:tc>
                  <a:txBody>
                    <a:bodyPr wrap="square"/>
                    <a:lstStyle/>
                    <a:p>
                      <a:pPr algn="ctr"/>
                      <a:r>
                        <a:rPr sz="1000" b="0">
                          <a:solidFill>
                            <a:srgbClr val="1E2833"/>
                          </a:solidFill>
                          <a:latin typeface="Segoe UI"/>
                        </a:rPr>
                        <a:t>3</a:t>
                      </a:r>
                    </a:p>
                  </a:txBody>
                  <a:tcPr marL="54864" marR="54864" marT="18288" marB="18288" anchor="ctr">
                    <a:solidFill>
                      <a:srgbClr val="F6F8FA"/>
                    </a:solidFill>
                  </a:tcPr>
                </a:tc>
                <a:tc>
                  <a:txBody>
                    <a:bodyPr wrap="square"/>
                    <a:lstStyle/>
                    <a:p>
                      <a:pPr algn="l"/>
                      <a:r>
                        <a:rPr sz="1000" b="0">
                          <a:solidFill>
                            <a:srgbClr val="1E2833"/>
                          </a:solidFill>
                          <a:latin typeface="Segoe UI"/>
                        </a:rPr>
                        <a:t>Battery, autonomy (RTL)</a:t>
                      </a:r>
                    </a:p>
                  </a:txBody>
                  <a:tcPr marL="54864" marR="54864" marT="18288" marB="18288" anchor="ctr">
                    <a:solidFill>
                      <a:srgbClr val="F6F8FA"/>
                    </a:solidFill>
                  </a:tcPr>
                </a:tc>
                <a:tc>
                  <a:txBody>
                    <a:bodyPr wrap="square"/>
                    <a:lstStyle/>
                    <a:p>
                      <a:pPr algn="ctr"/>
                      <a:r>
                        <a:rPr sz="1000" b="0">
                          <a:solidFill>
                            <a:srgbClr val="1E2833"/>
                          </a:solidFill>
                          <a:latin typeface="Segoe UI"/>
                        </a:rPr>
                        <a:t>A, T</a:t>
                      </a:r>
                    </a:p>
                  </a:txBody>
                  <a:tcPr marL="54864" marR="54864" marT="18288" marB="18288" anchor="ctr">
                    <a:solidFill>
                      <a:srgbClr val="F6F8FA"/>
                    </a:solidFill>
                  </a:tcPr>
                </a:tc>
              </a:tr>
              <a:tr h="457200">
                <a:tc>
                  <a:txBody>
                    <a:bodyPr wrap="square"/>
                    <a:lstStyle/>
                    <a:p>
                      <a:pPr algn="l"/>
                      <a:r>
                        <a:rPr sz="1000" b="0">
                          <a:solidFill>
                            <a:srgbClr val="1E2833"/>
                          </a:solidFill>
                          <a:latin typeface="Segoe UI"/>
                        </a:rPr>
                        <a:t>R7 · Range in wind</a:t>
                      </a:r>
                    </a:p>
                  </a:txBody>
                  <a:tcPr marL="54864" marR="54864" marT="18288" marB="18288" anchor="ctr">
                    <a:solidFill>
                      <a:srgbClr val="FFFFFF"/>
                    </a:solidFill>
                  </a:tcPr>
                </a:tc>
                <a:tc>
                  <a:txBody>
                    <a:bodyPr wrap="square"/>
                    <a:lstStyle/>
                    <a:p>
                      <a:pPr algn="ctr"/>
                      <a:r>
                        <a:rPr sz="1000" b="0">
                          <a:solidFill>
                            <a:srgbClr val="1E2833"/>
                          </a:solidFill>
                          <a:latin typeface="Segoe UI"/>
                        </a:rPr>
                        <a:t>3</a:t>
                      </a:r>
                    </a:p>
                  </a:txBody>
                  <a:tcPr marL="54864" marR="54864" marT="18288" marB="18288" anchor="ctr">
                    <a:solidFill>
                      <a:srgbClr val="FFFFFF"/>
                    </a:solidFill>
                  </a:tcPr>
                </a:tc>
                <a:tc>
                  <a:txBody>
                    <a:bodyPr wrap="square"/>
                    <a:lstStyle/>
                    <a:p>
                      <a:pPr algn="l"/>
                      <a:r>
                        <a:rPr sz="1000" b="0">
                          <a:solidFill>
                            <a:srgbClr val="1E2833"/>
                          </a:solidFill>
                          <a:latin typeface="Segoe UI"/>
                        </a:rPr>
                        <a:t>GCS, antennas, RF links</a:t>
                      </a:r>
                    </a:p>
                  </a:txBody>
                  <a:tcPr marL="54864" marR="54864" marT="18288" marB="18288" anchor="ctr">
                    <a:solidFill>
                      <a:srgbClr val="FFFFFF"/>
                    </a:solidFill>
                  </a:tcPr>
                </a:tc>
                <a:tc>
                  <a:txBody>
                    <a:bodyPr wrap="square"/>
                    <a:lstStyle/>
                    <a:p>
                      <a:pPr algn="ctr"/>
                      <a:r>
                        <a:rPr sz="1000" b="0">
                          <a:solidFill>
                            <a:srgbClr val="1E2833"/>
                          </a:solidFill>
                          <a:latin typeface="Segoe UI"/>
                        </a:rPr>
                        <a:t>A, T</a:t>
                      </a:r>
                    </a:p>
                  </a:txBody>
                  <a:tcPr marL="54864" marR="54864" marT="18288" marB="18288" anchor="ctr">
                    <a:solidFill>
                      <a:srgbClr val="FFFFFF"/>
                    </a:solidFill>
                  </a:tcPr>
                </a:tc>
              </a:tr>
              <a:tr h="457200">
                <a:tc>
                  <a:txBody>
                    <a:bodyPr wrap="square"/>
                    <a:lstStyle/>
                    <a:p>
                      <a:pPr algn="l"/>
                      <a:r>
                        <a:rPr sz="1000" b="0">
                          <a:solidFill>
                            <a:srgbClr val="1E2833"/>
                          </a:solidFill>
                          <a:latin typeface="Segoe UI"/>
                        </a:rPr>
                        <a:t>R8 · Endurance stretch</a:t>
                      </a:r>
                    </a:p>
                  </a:txBody>
                  <a:tcPr marL="54864" marR="54864" marT="18288" marB="18288" anchor="ctr">
                    <a:solidFill>
                      <a:srgbClr val="F6F8FA"/>
                    </a:solidFill>
                  </a:tcPr>
                </a:tc>
                <a:tc>
                  <a:txBody>
                    <a:bodyPr wrap="square"/>
                    <a:lstStyle/>
                    <a:p>
                      <a:pPr algn="ctr"/>
                      <a:r>
                        <a:rPr sz="1000" b="0">
                          <a:solidFill>
                            <a:srgbClr val="1E2833"/>
                          </a:solidFill>
                          <a:latin typeface="Segoe UI"/>
                        </a:rPr>
                        <a:t>1</a:t>
                      </a:r>
                    </a:p>
                  </a:txBody>
                  <a:tcPr marL="54864" marR="54864" marT="18288" marB="18288" anchor="ctr">
                    <a:solidFill>
                      <a:srgbClr val="F6F8FA"/>
                    </a:solidFill>
                  </a:tcPr>
                </a:tc>
                <a:tc>
                  <a:txBody>
                    <a:bodyPr wrap="square"/>
                    <a:lstStyle/>
                    <a:p>
                      <a:pPr algn="l"/>
                      <a:r>
                        <a:rPr sz="1000" b="0">
                          <a:solidFill>
                            <a:srgbClr val="1E2833"/>
                          </a:solidFill>
                          <a:latin typeface="Segoe UI"/>
                        </a:rPr>
                        <a:t>Battery</a:t>
                      </a:r>
                    </a:p>
                  </a:txBody>
                  <a:tcPr marL="54864" marR="54864" marT="18288" marB="18288" anchor="ctr">
                    <a:solidFill>
                      <a:srgbClr val="F6F8FA"/>
                    </a:solidFill>
                  </a:tcPr>
                </a:tc>
                <a:tc>
                  <a:txBody>
                    <a:bodyPr wrap="square"/>
                    <a:lstStyle/>
                    <a:p>
                      <a:pPr algn="ctr"/>
                      <a:r>
                        <a:rPr sz="1000" b="0">
                          <a:solidFill>
                            <a:srgbClr val="1E2833"/>
                          </a:solidFill>
                          <a:latin typeface="Segoe UI"/>
                        </a:rPr>
                        <a:t>A</a:t>
                      </a:r>
                    </a:p>
                  </a:txBody>
                  <a:tcPr marL="54864" marR="54864" marT="18288" marB="18288" anchor="ctr">
                    <a:solidFill>
                      <a:srgbClr val="F6F8FA"/>
                    </a:solidFill>
                  </a:tcPr>
                </a:tc>
              </a:tr>
            </a:tbl>
          </a:graphicData>
        </a:graphic>
      </p:graphicFrame>
      <p:sp>
        <p:nvSpPr>
          <p:cNvPr id="11" name="TextBox 10"/>
          <p:cNvSpPr txBox="1"/>
          <p:nvPr/>
        </p:nvSpPr>
        <p:spPr>
          <a:xfrm>
            <a:off x="5074920" y="5806440"/>
            <a:ext cx="6547104" cy="457200"/>
          </a:xfrm>
          <a:prstGeom prst="rect">
            <a:avLst/>
          </a:prstGeom>
          <a:noFill/>
        </p:spPr>
        <p:txBody>
          <a:bodyPr wrap="square" anchor="t" lIns="0" rIns="0" tIns="0" bIns="0">
            <a:spAutoFit/>
          </a:bodyPr>
          <a:lstStyle/>
          <a:p>
            <a:pPr algn="l">
              <a:lnSpc>
                <a:spcPct val="100000"/>
              </a:lnSpc>
              <a:spcBef>
                <a:spcPts val="0"/>
              </a:spcBef>
              <a:spcAft>
                <a:spcPts val="400"/>
              </a:spcAft>
            </a:pPr>
            <a:r>
              <a:rPr sz="1000" b="0" i="1">
                <a:solidFill>
                  <a:srgbClr val="5C6B7A"/>
                </a:solidFill>
                <a:latin typeface="Segoe UI"/>
              </a:rPr>
              <a:t>Full matrix on the following three slides (from requirements_traceability.csv). </a:t>
            </a:r>
            <a:r>
              <a:rPr sz="1000" b="0" i="1">
                <a:solidFill>
                  <a:srgbClr val="5C6B7A"/>
                </a:solidFill>
                <a:latin typeface="Segoe UI"/>
              </a:rPr>
              <a:t>Derived-req counts reflect formal subset/parent links.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1 · REQUIREMENTS  ·  RTM</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RTM — Airframe Subsystem &amp; Autonomy Behavior</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9</a:t>
            </a:r>
          </a:p>
        </p:txBody>
      </p:sp>
      <p:graphicFrame>
        <p:nvGraphicFramePr>
          <p:cNvPr id="9" name="Table 8"/>
          <p:cNvGraphicFramePr>
            <a:graphicFrameLocks noGrp="1"/>
          </p:cNvGraphicFramePr>
          <p:nvPr/>
        </p:nvGraphicFramePr>
        <p:xfrm>
          <a:off x="566928" y="1207008"/>
          <a:ext cx="11055096" cy="3877056"/>
        </p:xfrm>
        <a:graphic>
          <a:graphicData uri="http://schemas.openxmlformats.org/drawingml/2006/table">
            <a:tbl>
              <a:tblPr>
                <a:tableStyleId>{5C22544A-7EE6-4342-B048-85BDC9FD1C3A}</a:tableStyleId>
              </a:tblPr>
              <a:tblGrid>
                <a:gridCol w="2148840"/>
                <a:gridCol w="5477256"/>
                <a:gridCol w="1234440"/>
                <a:gridCol w="2194560"/>
              </a:tblGrid>
              <a:tr h="310896">
                <a:tc>
                  <a:txBody>
                    <a:bodyPr wrap="square"/>
                    <a:lstStyle/>
                    <a:p>
                      <a:pPr algn="l"/>
                      <a:r>
                        <a:rPr sz="1000" b="1">
                          <a:solidFill>
                            <a:srgbClr val="FFFFFF"/>
                          </a:solidFill>
                          <a:latin typeface="Segoe UI"/>
                        </a:rPr>
                        <a:t>Requirement ID</a:t>
                      </a:r>
                    </a:p>
                  </a:txBody>
                  <a:tcPr marL="54864" marR="54864" marT="18288" marB="18288" anchor="ctr">
                    <a:solidFill>
                      <a:srgbClr val="0F2540"/>
                    </a:solidFill>
                  </a:tcPr>
                </a:tc>
                <a:tc>
                  <a:txBody>
                    <a:bodyPr wrap="square"/>
                    <a:lstStyle/>
                    <a:p>
                      <a:pPr algn="l"/>
                      <a:r>
                        <a:rPr sz="1000" b="1">
                          <a:solidFill>
                            <a:srgbClr val="FFFFFF"/>
                          </a:solidFill>
                          <a:latin typeface="Segoe UI"/>
                        </a:rPr>
                        <a:t>Requirement (abridged)</a:t>
                      </a:r>
                    </a:p>
                  </a:txBody>
                  <a:tcPr marL="54864" marR="54864" marT="18288" marB="18288" anchor="ctr">
                    <a:solidFill>
                      <a:srgbClr val="0F2540"/>
                    </a:solidFill>
                  </a:tcPr>
                </a:tc>
                <a:tc>
                  <a:txBody>
                    <a:bodyPr wrap="square"/>
                    <a:lstStyle/>
                    <a:p>
                      <a:pPr algn="ctr"/>
                      <a:r>
                        <a:rPr sz="1000" b="1">
                          <a:solidFill>
                            <a:srgbClr val="FFFFFF"/>
                          </a:solidFill>
                          <a:latin typeface="Segoe UI"/>
                        </a:rPr>
                        <a:t>Parent</a:t>
                      </a:r>
                    </a:p>
                  </a:txBody>
                  <a:tcPr marL="54864" marR="54864" marT="18288" marB="18288" anchor="ctr">
                    <a:solidFill>
                      <a:srgbClr val="0F2540"/>
                    </a:solidFill>
                  </a:tcPr>
                </a:tc>
                <a:tc>
                  <a:txBody>
                    <a:bodyPr wrap="square"/>
                    <a:lstStyle/>
                    <a:p>
                      <a:pPr algn="l"/>
                      <a:r>
                        <a:rPr sz="1000" b="1">
                          <a:solidFill>
                            <a:srgbClr val="FFFFFF"/>
                          </a:solidFill>
                          <a:latin typeface="Segoe UI"/>
                        </a:rPr>
                        <a:t>Allocated to</a:t>
                      </a:r>
                    </a:p>
                  </a:txBody>
                  <a:tcPr marL="54864" marR="54864" marT="18288" marB="18288" anchor="ctr">
                    <a:solidFill>
                      <a:srgbClr val="0F2540"/>
                    </a:solidFill>
                  </a:tcPr>
                </a:tc>
              </a:tr>
              <a:tr h="274320">
                <a:tc>
                  <a:txBody>
                    <a:bodyPr wrap="square"/>
                    <a:lstStyle/>
                    <a:p>
                      <a:pPr algn="l"/>
                      <a:r>
                        <a:rPr sz="900" b="0">
                          <a:solidFill>
                            <a:srgbClr val="1E2833"/>
                          </a:solidFill>
                          <a:latin typeface="Segoe UI"/>
                        </a:rPr>
                        <a:t>R1_BHV_ALT_HOLD</a:t>
                      </a:r>
                    </a:p>
                  </a:txBody>
                  <a:tcPr marL="54864" marR="54864" marT="18288" marB="18288" anchor="ctr">
                    <a:solidFill>
                      <a:srgbClr val="FFFFFF"/>
                    </a:solidFill>
                  </a:tcPr>
                </a:tc>
                <a:tc>
                  <a:txBody>
                    <a:bodyPr wrap="square"/>
                    <a:lstStyle/>
                    <a:p>
                      <a:pPr algn="l"/>
                      <a:r>
                        <a:rPr sz="900" b="0">
                          <a:solidFill>
                            <a:srgbClr val="1E2833"/>
                          </a:solidFill>
                          <a:latin typeface="Segoe UI"/>
                        </a:rPr>
                        <a:t>The autonomous flight behavior (waypoint AUTO-mode route execution)…</a:t>
                      </a:r>
                    </a:p>
                  </a:txBody>
                  <a:tcPr marL="54864" marR="54864" marT="18288" marB="18288" anchor="ctr">
                    <a:solidFill>
                      <a:srgbClr val="FFFFFF"/>
                    </a:solidFill>
                  </a:tcPr>
                </a:tc>
                <a:tc>
                  <a:txBody>
                    <a:bodyPr wrap="square"/>
                    <a:lstStyle/>
                    <a:p>
                      <a:pPr algn="ctr"/>
                      <a:r>
                        <a:rPr sz="900" b="0">
                          <a:solidFill>
                            <a:srgbClr val="1E2833"/>
                          </a:solidFill>
                          <a:latin typeface="Segoe UI"/>
                        </a:rPr>
                        <a:t>R1</a:t>
                      </a:r>
                    </a:p>
                  </a:txBody>
                  <a:tcPr marL="54864" marR="54864" marT="18288" marB="18288" anchor="ctr">
                    <a:solidFill>
                      <a:srgbClr val="FFFFFF"/>
                    </a:solidFill>
                  </a:tcPr>
                </a:tc>
                <a:tc>
                  <a:txBody>
                    <a:bodyPr wrap="square"/>
                    <a:lstStyle/>
                    <a:p>
                      <a:pPr algn="l"/>
                      <a:r>
                        <a:rPr sz="900" b="0">
                          <a:solidFill>
                            <a:srgbClr val="1E2833"/>
                          </a:solidFill>
                          <a:latin typeface="Segoe UI"/>
                        </a:rPr>
                        <a:t>flyRoute</a:t>
                      </a:r>
                    </a:p>
                  </a:txBody>
                  <a:tcPr marL="54864" marR="54864" marT="18288" marB="18288" anchor="ctr">
                    <a:solidFill>
                      <a:srgbClr val="FFFFFF"/>
                    </a:solidFill>
                  </a:tcPr>
                </a:tc>
              </a:tr>
              <a:tr h="274320">
                <a:tc>
                  <a:txBody>
                    <a:bodyPr wrap="square"/>
                    <a:lstStyle/>
                    <a:p>
                      <a:pPr algn="l"/>
                      <a:r>
                        <a:rPr sz="900" b="0">
                          <a:solidFill>
                            <a:srgbClr val="1E2833"/>
                          </a:solidFill>
                          <a:latin typeface="Segoe UI"/>
                        </a:rPr>
                        <a:t>R2_BHV_SPEED_HOLD</a:t>
                      </a:r>
                    </a:p>
                  </a:txBody>
                  <a:tcPr marL="54864" marR="54864" marT="18288" marB="18288" anchor="ctr">
                    <a:solidFill>
                      <a:srgbClr val="F6F8FA"/>
                    </a:solidFill>
                  </a:tcPr>
                </a:tc>
                <a:tc>
                  <a:txBody>
                    <a:bodyPr wrap="square"/>
                    <a:lstStyle/>
                    <a:p>
                      <a:pPr algn="l"/>
                      <a:r>
                        <a:rPr sz="900" b="0">
                          <a:solidFill>
                            <a:srgbClr val="1E2833"/>
                          </a:solidFill>
                          <a:latin typeface="Segoe UI"/>
                        </a:rPr>
                        <a:t>The autonomous flight behavior (waypoint AUTO-mode route execution)…</a:t>
                      </a:r>
                    </a:p>
                  </a:txBody>
                  <a:tcPr marL="54864" marR="54864" marT="18288" marB="18288" anchor="ctr">
                    <a:solidFill>
                      <a:srgbClr val="F6F8FA"/>
                    </a:solidFill>
                  </a:tcPr>
                </a:tc>
                <a:tc>
                  <a:txBody>
                    <a:bodyPr wrap="square"/>
                    <a:lstStyle/>
                    <a:p>
                      <a:pPr algn="ctr"/>
                      <a:r>
                        <a:rPr sz="900" b="0">
                          <a:solidFill>
                            <a:srgbClr val="1E2833"/>
                          </a:solidFill>
                          <a:latin typeface="Segoe UI"/>
                        </a:rPr>
                        <a:t>R2</a:t>
                      </a:r>
                    </a:p>
                  </a:txBody>
                  <a:tcPr marL="54864" marR="54864" marT="18288" marB="18288" anchor="ctr">
                    <a:solidFill>
                      <a:srgbClr val="F6F8FA"/>
                    </a:solidFill>
                  </a:tcPr>
                </a:tc>
                <a:tc>
                  <a:txBody>
                    <a:bodyPr wrap="square"/>
                    <a:lstStyle/>
                    <a:p>
                      <a:pPr algn="l"/>
                      <a:r>
                        <a:rPr sz="900" b="0">
                          <a:solidFill>
                            <a:srgbClr val="1E2833"/>
                          </a:solidFill>
                          <a:latin typeface="Segoe UI"/>
                        </a:rPr>
                        <a:t>flyRoute</a:t>
                      </a:r>
                    </a:p>
                  </a:txBody>
                  <a:tcPr marL="54864" marR="54864" marT="18288" marB="18288" anchor="ctr">
                    <a:solidFill>
                      <a:srgbClr val="F6F8FA"/>
                    </a:solidFill>
                  </a:tcPr>
                </a:tc>
              </a:tr>
              <a:tr h="274320">
                <a:tc>
                  <a:txBody>
                    <a:bodyPr wrap="square"/>
                    <a:lstStyle/>
                    <a:p>
                      <a:pPr algn="l"/>
                      <a:r>
                        <a:rPr sz="900" b="0">
                          <a:solidFill>
                            <a:srgbClr val="1E2833"/>
                          </a:solidFill>
                          <a:latin typeface="Segoe UI"/>
                        </a:rPr>
                        <a:t>R3_BHV_SBC_FAILSAFE</a:t>
                      </a:r>
                    </a:p>
                  </a:txBody>
                  <a:tcPr marL="54864" marR="54864" marT="18288" marB="18288" anchor="ctr">
                    <a:solidFill>
                      <a:srgbClr val="FFFFFF"/>
                    </a:solidFill>
                  </a:tcPr>
                </a:tc>
                <a:tc>
                  <a:txBody>
                    <a:bodyPr wrap="square"/>
                    <a:lstStyle/>
                    <a:p>
                      <a:pPr algn="l"/>
                      <a:r>
                        <a:rPr sz="900" b="0">
                          <a:solidFill>
                            <a:srgbClr val="1E2833"/>
                          </a:solidFill>
                          <a:latin typeface="Segoe UI"/>
                        </a:rPr>
                        <a:t>The autonomous flight behavior shall revert to a safe,…</a:t>
                      </a:r>
                    </a:p>
                  </a:txBody>
                  <a:tcPr marL="54864" marR="54864" marT="18288" marB="18288" anchor="ctr">
                    <a:solidFill>
                      <a:srgbClr val="FFFFFF"/>
                    </a:solidFill>
                  </a:tcPr>
                </a:tc>
                <a:tc>
                  <a:txBody>
                    <a:bodyPr wrap="square"/>
                    <a:lstStyle/>
                    <a:p>
                      <a:pPr algn="ctr"/>
                      <a:r>
                        <a:rPr sz="900" b="0">
                          <a:solidFill>
                            <a:srgbClr val="1E2833"/>
                          </a:solidFill>
                          <a:latin typeface="Segoe UI"/>
                        </a:rPr>
                        <a:t>R3</a:t>
                      </a:r>
                    </a:p>
                  </a:txBody>
                  <a:tcPr marL="54864" marR="54864" marT="18288" marB="18288" anchor="ctr">
                    <a:solidFill>
                      <a:srgbClr val="FFFFFF"/>
                    </a:solidFill>
                  </a:tcPr>
                </a:tc>
                <a:tc>
                  <a:txBody>
                    <a:bodyPr wrap="square"/>
                    <a:lstStyle/>
                    <a:p>
                      <a:pPr algn="l"/>
                      <a:r>
                        <a:rPr sz="900" b="0">
                          <a:solidFill>
                            <a:srgbClr val="1E2833"/>
                          </a:solidFill>
                          <a:latin typeface="Segoe UI"/>
                        </a:rPr>
                        <a:t>fcSoftware</a:t>
                      </a:r>
                    </a:p>
                  </a:txBody>
                  <a:tcPr marL="54864" marR="54864" marT="18288" marB="18288" anchor="ctr">
                    <a:solidFill>
                      <a:srgbClr val="FFFFFF"/>
                    </a:solidFill>
                  </a:tcPr>
                </a:tc>
              </a:tr>
              <a:tr h="274320">
                <a:tc>
                  <a:txBody>
                    <a:bodyPr wrap="square"/>
                    <a:lstStyle/>
                    <a:p>
                      <a:pPr algn="l"/>
                      <a:r>
                        <a:rPr sz="900" b="0">
                          <a:solidFill>
                            <a:srgbClr val="1E2833"/>
                          </a:solidFill>
                          <a:latin typeface="Segoe UI"/>
                        </a:rPr>
                        <a:t>R4_AF_ASSY</a:t>
                      </a:r>
                    </a:p>
                  </a:txBody>
                  <a:tcPr marL="54864" marR="54864" marT="18288" marB="18288" anchor="ctr">
                    <a:solidFill>
                      <a:srgbClr val="F6F8FA"/>
                    </a:solidFill>
                  </a:tcPr>
                </a:tc>
                <a:tc>
                  <a:txBody>
                    <a:bodyPr wrap="square"/>
                    <a:lstStyle/>
                    <a:p>
                      <a:pPr algn="l"/>
                      <a:r>
                        <a:rPr sz="900" b="0">
                          <a:solidFill>
                            <a:srgbClr val="1E2833"/>
                          </a:solidFill>
                          <a:latin typeface="Segoe UI"/>
                        </a:rPr>
                        <a:t>The airframe assembly shall minimize DIY soldering, preferring…</a:t>
                      </a:r>
                    </a:p>
                  </a:txBody>
                  <a:tcPr marL="54864" marR="54864" marT="18288" marB="18288" anchor="ctr">
                    <a:solidFill>
                      <a:srgbClr val="F6F8FA"/>
                    </a:solidFill>
                  </a:tcPr>
                </a:tc>
                <a:tc>
                  <a:txBody>
                    <a:bodyPr wrap="square"/>
                    <a:lstStyle/>
                    <a:p>
                      <a:pPr algn="ctr"/>
                      <a:r>
                        <a:rPr sz="900" b="0">
                          <a:solidFill>
                            <a:srgbClr val="1E2833"/>
                          </a:solidFill>
                          <a:latin typeface="Segoe UI"/>
                        </a:rPr>
                        <a:t>R5</a:t>
                      </a:r>
                    </a:p>
                  </a:txBody>
                  <a:tcPr marL="54864" marR="54864" marT="18288" marB="18288" anchor="ctr">
                    <a:solidFill>
                      <a:srgbClr val="F6F8FA"/>
                    </a:solidFill>
                  </a:tcPr>
                </a:tc>
                <a:tc>
                  <a:txBody>
                    <a:bodyPr wrap="square"/>
                    <a:lstStyle/>
                    <a:p>
                      <a:pPr algn="l"/>
                      <a:r>
                        <a:rPr sz="900" b="0">
                          <a:solidFill>
                            <a:srgbClr val="1E2833"/>
                          </a:solidFill>
                          <a:latin typeface="Segoe UI"/>
                        </a:rPr>
                        <a:t>Airframe</a:t>
                      </a:r>
                    </a:p>
                  </a:txBody>
                  <a:tcPr marL="54864" marR="54864" marT="18288" marB="18288" anchor="ctr">
                    <a:solidFill>
                      <a:srgbClr val="F6F8FA"/>
                    </a:solidFill>
                  </a:tcPr>
                </a:tc>
              </a:tr>
              <a:tr h="274320">
                <a:tc>
                  <a:txBody>
                    <a:bodyPr wrap="square"/>
                    <a:lstStyle/>
                    <a:p>
                      <a:pPr algn="l"/>
                      <a:r>
                        <a:rPr sz="900" b="0">
                          <a:solidFill>
                            <a:srgbClr val="1E2833"/>
                          </a:solidFill>
                          <a:latin typeface="Segoe UI"/>
                        </a:rPr>
                        <a:t>R4_AF_COST</a:t>
                      </a:r>
                    </a:p>
                  </a:txBody>
                  <a:tcPr marL="54864" marR="54864" marT="18288" marB="18288" anchor="ctr">
                    <a:solidFill>
                      <a:srgbClr val="FFFFFF"/>
                    </a:solidFill>
                  </a:tcPr>
                </a:tc>
                <a:tc>
                  <a:txBody>
                    <a:bodyPr wrap="square"/>
                    <a:lstStyle/>
                    <a:p>
                      <a:pPr algn="l"/>
                      <a:r>
                        <a:rPr sz="900" b="0">
                          <a:solidFill>
                            <a:srgbClr val="1E2833"/>
                          </a:solidFill>
                          <a:latin typeface="Segoe UI"/>
                        </a:rPr>
                        <a:t>The complete airframe subsystem cost (frame + motors + ESCs +…</a:t>
                      </a:r>
                    </a:p>
                  </a:txBody>
                  <a:tcPr marL="54864" marR="54864" marT="18288" marB="18288" anchor="ctr">
                    <a:solidFill>
                      <a:srgbClr val="FFFFFF"/>
                    </a:solidFill>
                  </a:tcPr>
                </a:tc>
                <a:tc>
                  <a:txBody>
                    <a:bodyPr wrap="square"/>
                    <a:lstStyle/>
                    <a:p>
                      <a:pPr algn="ctr"/>
                      <a:r>
                        <a:rPr sz="900" b="0">
                          <a:solidFill>
                            <a:srgbClr val="1E2833"/>
                          </a:solidFill>
                          <a:latin typeface="Segoe UI"/>
                        </a:rPr>
                        <a:t>R4</a:t>
                      </a:r>
                    </a:p>
                  </a:txBody>
                  <a:tcPr marL="54864" marR="54864" marT="18288" marB="18288" anchor="ctr">
                    <a:solidFill>
                      <a:srgbClr val="FFFFFF"/>
                    </a:solidFill>
                  </a:tcPr>
                </a:tc>
                <a:tc>
                  <a:txBody>
                    <a:bodyPr wrap="square"/>
                    <a:lstStyle/>
                    <a:p>
                      <a:pPr algn="l"/>
                      <a:r>
                        <a:rPr sz="900" b="0">
                          <a:solidFill>
                            <a:srgbClr val="1E2833"/>
                          </a:solidFill>
                          <a:latin typeface="Segoe UI"/>
                        </a:rPr>
                        <a:t>Airframe</a:t>
                      </a:r>
                    </a:p>
                  </a:txBody>
                  <a:tcPr marL="54864" marR="54864" marT="18288" marB="18288" anchor="ctr">
                    <a:solidFill>
                      <a:srgbClr val="FFFFFF"/>
                    </a:solidFill>
                  </a:tcPr>
                </a:tc>
              </a:tr>
              <a:tr h="274320">
                <a:tc>
                  <a:txBody>
                    <a:bodyPr wrap="square"/>
                    <a:lstStyle/>
                    <a:p>
                      <a:pPr algn="l"/>
                      <a:r>
                        <a:rPr sz="900" b="0">
                          <a:solidFill>
                            <a:srgbClr val="1E2833"/>
                          </a:solidFill>
                          <a:latin typeface="Segoe UI"/>
                        </a:rPr>
                        <a:t>R4_AF_LANDING</a:t>
                      </a:r>
                    </a:p>
                  </a:txBody>
                  <a:tcPr marL="54864" marR="54864" marT="18288" marB="18288" anchor="ctr">
                    <a:solidFill>
                      <a:srgbClr val="F6F8FA"/>
                    </a:solidFill>
                  </a:tcPr>
                </a:tc>
                <a:tc>
                  <a:txBody>
                    <a:bodyPr wrap="square"/>
                    <a:lstStyle/>
                    <a:p>
                      <a:pPr algn="l"/>
                      <a:r>
                        <a:rPr sz="900" b="0">
                          <a:solidFill>
                            <a:srgbClr val="1E2833"/>
                          </a:solidFill>
                          <a:latin typeface="Segoe UI"/>
                        </a:rPr>
                        <a:t>The airframe shall provide landing gear or structural clearance of at…</a:t>
                      </a:r>
                    </a:p>
                  </a:txBody>
                  <a:tcPr marL="54864" marR="54864" marT="18288" marB="18288" anchor="ctr">
                    <a:solidFill>
                      <a:srgbClr val="F6F8FA"/>
                    </a:solidFill>
                  </a:tcPr>
                </a:tc>
                <a:tc>
                  <a:txBody>
                    <a:bodyPr wrap="square"/>
                    <a:lstStyle/>
                    <a:p>
                      <a:pPr algn="ctr"/>
                      <a:r>
                        <a:rPr sz="900" b="0">
                          <a:solidFill>
                            <a:srgbClr val="1E2833"/>
                          </a:solidFill>
                          <a:latin typeface="Segoe UI"/>
                        </a:rPr>
                        <a:t>—</a:t>
                      </a:r>
                    </a:p>
                  </a:txBody>
                  <a:tcPr marL="54864" marR="54864" marT="18288" marB="18288" anchor="ctr">
                    <a:solidFill>
                      <a:srgbClr val="F6F8FA"/>
                    </a:solidFill>
                  </a:tcPr>
                </a:tc>
                <a:tc>
                  <a:txBody>
                    <a:bodyPr wrap="square"/>
                    <a:lstStyle/>
                    <a:p>
                      <a:pPr algn="l"/>
                      <a:r>
                        <a:rPr sz="900" b="0">
                          <a:solidFill>
                            <a:srgbClr val="1E2833"/>
                          </a:solidFill>
                          <a:latin typeface="Segoe UI"/>
                        </a:rPr>
                        <a:t>Airframe</a:t>
                      </a:r>
                    </a:p>
                  </a:txBody>
                  <a:tcPr marL="54864" marR="54864" marT="18288" marB="18288" anchor="ctr">
                    <a:solidFill>
                      <a:srgbClr val="F6F8FA"/>
                    </a:solidFill>
                  </a:tcPr>
                </a:tc>
              </a:tr>
              <a:tr h="274320">
                <a:tc>
                  <a:txBody>
                    <a:bodyPr wrap="square"/>
                    <a:lstStyle/>
                    <a:p>
                      <a:pPr algn="l"/>
                      <a:r>
                        <a:rPr sz="900" b="0">
                          <a:solidFill>
                            <a:srgbClr val="1E2833"/>
                          </a:solidFill>
                          <a:latin typeface="Segoe UI"/>
                        </a:rPr>
                        <a:t>R4_AF_PAYLOAD</a:t>
                      </a:r>
                    </a:p>
                  </a:txBody>
                  <a:tcPr marL="54864" marR="54864" marT="18288" marB="18288" anchor="ctr">
                    <a:solidFill>
                      <a:srgbClr val="FFFFFF"/>
                    </a:solidFill>
                  </a:tcPr>
                </a:tc>
                <a:tc>
                  <a:txBody>
                    <a:bodyPr wrap="square"/>
                    <a:lstStyle/>
                    <a:p>
                      <a:pPr algn="l"/>
                      <a:r>
                        <a:rPr sz="900" b="0">
                          <a:solidFill>
                            <a:srgbClr val="1E2833"/>
                          </a:solidFill>
                          <a:latin typeface="Segoe UI"/>
                        </a:rPr>
                        <a:t>The airframe (frame + motors + ESCs + propellers + power…</a:t>
                      </a:r>
                    </a:p>
                  </a:txBody>
                  <a:tcPr marL="54864" marR="54864" marT="18288" marB="18288" anchor="ctr">
                    <a:solidFill>
                      <a:srgbClr val="FFFFFF"/>
                    </a:solidFill>
                  </a:tcPr>
                </a:tc>
                <a:tc>
                  <a:txBody>
                    <a:bodyPr wrap="square"/>
                    <a:lstStyle/>
                    <a:p>
                      <a:pPr algn="ctr"/>
                      <a:r>
                        <a:rPr sz="900" b="0">
                          <a:solidFill>
                            <a:srgbClr val="1E2833"/>
                          </a:solidFill>
                          <a:latin typeface="Segoe UI"/>
                        </a:rPr>
                        <a:t>—</a:t>
                      </a:r>
                    </a:p>
                  </a:txBody>
                  <a:tcPr marL="54864" marR="54864" marT="18288" marB="18288" anchor="ctr">
                    <a:solidFill>
                      <a:srgbClr val="FFFFFF"/>
                    </a:solidFill>
                  </a:tcPr>
                </a:tc>
                <a:tc>
                  <a:txBody>
                    <a:bodyPr wrap="square"/>
                    <a:lstStyle/>
                    <a:p>
                      <a:pPr algn="l"/>
                      <a:r>
                        <a:rPr sz="900" b="0">
                          <a:solidFill>
                            <a:srgbClr val="1E2833"/>
                          </a:solidFill>
                          <a:latin typeface="Segoe UI"/>
                        </a:rPr>
                        <a:t>Airframe</a:t>
                      </a:r>
                    </a:p>
                  </a:txBody>
                  <a:tcPr marL="54864" marR="54864" marT="18288" marB="18288" anchor="ctr">
                    <a:solidFill>
                      <a:srgbClr val="FFFFFF"/>
                    </a:solidFill>
                  </a:tcPr>
                </a:tc>
              </a:tr>
              <a:tr h="274320">
                <a:tc>
                  <a:txBody>
                    <a:bodyPr wrap="square"/>
                    <a:lstStyle/>
                    <a:p>
                      <a:pPr algn="l"/>
                      <a:r>
                        <a:rPr sz="900" b="0">
                          <a:solidFill>
                            <a:srgbClr val="1E2833"/>
                          </a:solidFill>
                          <a:latin typeface="Segoe UI"/>
                        </a:rPr>
                        <a:t>R4_AF_PROP_CFG</a:t>
                      </a:r>
                    </a:p>
                  </a:txBody>
                  <a:tcPr marL="54864" marR="54864" marT="18288" marB="18288" anchor="ctr">
                    <a:solidFill>
                      <a:srgbClr val="F6F8FA"/>
                    </a:solidFill>
                  </a:tcPr>
                </a:tc>
                <a:tc>
                  <a:txBody>
                    <a:bodyPr wrap="square"/>
                    <a:lstStyle/>
                    <a:p>
                      <a:pPr algn="l"/>
                      <a:r>
                        <a:rPr sz="900" b="0">
                          <a:solidFill>
                            <a:srgbClr val="1E2833"/>
                          </a:solidFill>
                          <a:latin typeface="Segoe UI"/>
                        </a:rPr>
                        <a:t>The airframe shall accommodate propeller diameters and motor mounting…</a:t>
                      </a:r>
                    </a:p>
                  </a:txBody>
                  <a:tcPr marL="54864" marR="54864" marT="18288" marB="18288" anchor="ctr">
                    <a:solidFill>
                      <a:srgbClr val="F6F8FA"/>
                    </a:solidFill>
                  </a:tcPr>
                </a:tc>
                <a:tc>
                  <a:txBody>
                    <a:bodyPr wrap="square"/>
                    <a:lstStyle/>
                    <a:p>
                      <a:pPr algn="ctr"/>
                      <a:r>
                        <a:rPr sz="900" b="0">
                          <a:solidFill>
                            <a:srgbClr val="1E2833"/>
                          </a:solidFill>
                          <a:latin typeface="Segoe UI"/>
                        </a:rPr>
                        <a:t>R1,R2</a:t>
                      </a:r>
                    </a:p>
                  </a:txBody>
                  <a:tcPr marL="54864" marR="54864" marT="18288" marB="18288" anchor="ctr">
                    <a:solidFill>
                      <a:srgbClr val="F6F8FA"/>
                    </a:solidFill>
                  </a:tcPr>
                </a:tc>
                <a:tc>
                  <a:txBody>
                    <a:bodyPr wrap="square"/>
                    <a:lstStyle/>
                    <a:p>
                      <a:pPr algn="l"/>
                      <a:r>
                        <a:rPr sz="900" b="0">
                          <a:solidFill>
                            <a:srgbClr val="1E2833"/>
                          </a:solidFill>
                          <a:latin typeface="Segoe UI"/>
                        </a:rPr>
                        <a:t>Airframe</a:t>
                      </a:r>
                    </a:p>
                  </a:txBody>
                  <a:tcPr marL="54864" marR="54864" marT="18288" marB="18288" anchor="ctr">
                    <a:solidFill>
                      <a:srgbClr val="F6F8FA"/>
                    </a:solidFill>
                  </a:tcPr>
                </a:tc>
              </a:tr>
              <a:tr h="274320">
                <a:tc>
                  <a:txBody>
                    <a:bodyPr wrap="square"/>
                    <a:lstStyle/>
                    <a:p>
                      <a:pPr algn="l"/>
                      <a:r>
                        <a:rPr sz="900" b="0">
                          <a:solidFill>
                            <a:srgbClr val="1E2833"/>
                          </a:solidFill>
                          <a:latin typeface="Segoe UI"/>
                        </a:rPr>
                        <a:t>R4_AF_PWR_DIST</a:t>
                      </a:r>
                    </a:p>
                  </a:txBody>
                  <a:tcPr marL="54864" marR="54864" marT="18288" marB="18288" anchor="ctr">
                    <a:solidFill>
                      <a:srgbClr val="FFFFFF"/>
                    </a:solidFill>
                  </a:tcPr>
                </a:tc>
                <a:tc>
                  <a:txBody>
                    <a:bodyPr wrap="square"/>
                    <a:lstStyle/>
                    <a:p>
                      <a:pPr algn="l"/>
                      <a:r>
                        <a:rPr sz="900" b="0">
                          <a:solidFill>
                            <a:srgbClr val="1E2833"/>
                          </a:solidFill>
                          <a:latin typeface="Segoe UI"/>
                        </a:rPr>
                        <a:t>The airframe's power distribution wiring and connectors shall supply…</a:t>
                      </a:r>
                    </a:p>
                  </a:txBody>
                  <a:tcPr marL="54864" marR="54864" marT="18288" marB="18288" anchor="ctr">
                    <a:solidFill>
                      <a:srgbClr val="FFFFFF"/>
                    </a:solidFill>
                  </a:tcPr>
                </a:tc>
                <a:tc>
                  <a:txBody>
                    <a:bodyPr wrap="square"/>
                    <a:lstStyle/>
                    <a:p>
                      <a:pPr algn="ctr"/>
                      <a:r>
                        <a:rPr sz="900" b="0">
                          <a:solidFill>
                            <a:srgbClr val="1E2833"/>
                          </a:solidFill>
                          <a:latin typeface="Segoe UI"/>
                        </a:rPr>
                        <a:t>—</a:t>
                      </a:r>
                    </a:p>
                  </a:txBody>
                  <a:tcPr marL="54864" marR="54864" marT="18288" marB="18288" anchor="ctr">
                    <a:solidFill>
                      <a:srgbClr val="FFFFFF"/>
                    </a:solidFill>
                  </a:tcPr>
                </a:tc>
                <a:tc>
                  <a:txBody>
                    <a:bodyPr wrap="square"/>
                    <a:lstStyle/>
                    <a:p>
                      <a:pPr algn="l"/>
                      <a:r>
                        <a:rPr sz="900" b="0">
                          <a:solidFill>
                            <a:srgbClr val="1E2833"/>
                          </a:solidFill>
                          <a:latin typeface="Segoe UI"/>
                        </a:rPr>
                        <a:t>Airframe</a:t>
                      </a:r>
                    </a:p>
                  </a:txBody>
                  <a:tcPr marL="54864" marR="54864" marT="18288" marB="18288" anchor="ctr">
                    <a:solidFill>
                      <a:srgbClr val="FFFFFF"/>
                    </a:solidFill>
                  </a:tcPr>
                </a:tc>
              </a:tr>
              <a:tr h="274320">
                <a:tc>
                  <a:txBody>
                    <a:bodyPr wrap="square"/>
                    <a:lstStyle/>
                    <a:p>
                      <a:pPr algn="l"/>
                      <a:r>
                        <a:rPr sz="900" b="0">
                          <a:solidFill>
                            <a:srgbClr val="1E2833"/>
                          </a:solidFill>
                          <a:latin typeface="Segoe UI"/>
                        </a:rPr>
                        <a:t>R4_AF_STIFF</a:t>
                      </a:r>
                    </a:p>
                  </a:txBody>
                  <a:tcPr marL="54864" marR="54864" marT="18288" marB="18288" anchor="ctr">
                    <a:solidFill>
                      <a:srgbClr val="F6F8FA"/>
                    </a:solidFill>
                  </a:tcPr>
                </a:tc>
                <a:tc>
                  <a:txBody>
                    <a:bodyPr wrap="square"/>
                    <a:lstStyle/>
                    <a:p>
                      <a:pPr algn="l"/>
                      <a:r>
                        <a:rPr sz="900" b="0">
                          <a:solidFill>
                            <a:srgbClr val="1E2833"/>
                          </a:solidFill>
                          <a:latin typeface="Segoe UI"/>
                        </a:rPr>
                        <a:t>The airframe structure shall be sufficiently rigid to prevent…</a:t>
                      </a:r>
                    </a:p>
                  </a:txBody>
                  <a:tcPr marL="54864" marR="54864" marT="18288" marB="18288" anchor="ctr">
                    <a:solidFill>
                      <a:srgbClr val="F6F8FA"/>
                    </a:solidFill>
                  </a:tcPr>
                </a:tc>
                <a:tc>
                  <a:txBody>
                    <a:bodyPr wrap="square"/>
                    <a:lstStyle/>
                    <a:p>
                      <a:pPr algn="ctr"/>
                      <a:r>
                        <a:rPr sz="900" b="0">
                          <a:solidFill>
                            <a:srgbClr val="1E2833"/>
                          </a:solidFill>
                          <a:latin typeface="Segoe UI"/>
                        </a:rPr>
                        <a:t>R3</a:t>
                      </a:r>
                    </a:p>
                  </a:txBody>
                  <a:tcPr marL="54864" marR="54864" marT="18288" marB="18288" anchor="ctr">
                    <a:solidFill>
                      <a:srgbClr val="F6F8FA"/>
                    </a:solidFill>
                  </a:tcPr>
                </a:tc>
                <a:tc>
                  <a:txBody>
                    <a:bodyPr wrap="square"/>
                    <a:lstStyle/>
                    <a:p>
                      <a:pPr algn="l"/>
                      <a:r>
                        <a:rPr sz="900" b="0">
                          <a:solidFill>
                            <a:srgbClr val="1E2833"/>
                          </a:solidFill>
                          <a:latin typeface="Segoe UI"/>
                        </a:rPr>
                        <a:t>Airframe</a:t>
                      </a:r>
                    </a:p>
                  </a:txBody>
                  <a:tcPr marL="54864" marR="54864" marT="18288" marB="18288" anchor="ctr">
                    <a:solidFill>
                      <a:srgbClr val="F6F8FA"/>
                    </a:solidFill>
                  </a:tcPr>
                </a:tc>
              </a:tr>
              <a:tr h="274320">
                <a:tc>
                  <a:txBody>
                    <a:bodyPr wrap="square"/>
                    <a:lstStyle/>
                    <a:p>
                      <a:pPr algn="l"/>
                      <a:r>
                        <a:rPr sz="900" b="0">
                          <a:solidFill>
                            <a:srgbClr val="1E2833"/>
                          </a:solidFill>
                          <a:latin typeface="Segoe UI"/>
                        </a:rPr>
                        <a:t>R4_AF_WT</a:t>
                      </a:r>
                    </a:p>
                  </a:txBody>
                  <a:tcPr marL="54864" marR="54864" marT="18288" marB="18288" anchor="ctr">
                    <a:solidFill>
                      <a:srgbClr val="FFFFFF"/>
                    </a:solidFill>
                  </a:tcPr>
                </a:tc>
                <a:tc>
                  <a:txBody>
                    <a:bodyPr wrap="square"/>
                    <a:lstStyle/>
                    <a:p>
                      <a:pPr algn="l"/>
                      <a:r>
                        <a:rPr sz="900" b="0">
                          <a:solidFill>
                            <a:srgbClr val="1E2833"/>
                          </a:solidFill>
                          <a:latin typeface="Segoe UI"/>
                        </a:rPr>
                        <a:t>The bare airframe mass (frame only, excluding motors, ESCs, and…</a:t>
                      </a:r>
                    </a:p>
                  </a:txBody>
                  <a:tcPr marL="54864" marR="54864" marT="18288" marB="18288" anchor="ctr">
                    <a:solidFill>
                      <a:srgbClr val="FFFFFF"/>
                    </a:solidFill>
                  </a:tcPr>
                </a:tc>
                <a:tc>
                  <a:txBody>
                    <a:bodyPr wrap="square"/>
                    <a:lstStyle/>
                    <a:p>
                      <a:pPr algn="ctr"/>
                      <a:r>
                        <a:rPr sz="900" b="0">
                          <a:solidFill>
                            <a:srgbClr val="1E2833"/>
                          </a:solidFill>
                          <a:latin typeface="Segoe UI"/>
                        </a:rPr>
                        <a:t>—</a:t>
                      </a:r>
                    </a:p>
                  </a:txBody>
                  <a:tcPr marL="54864" marR="54864" marT="18288" marB="18288" anchor="ctr">
                    <a:solidFill>
                      <a:srgbClr val="FFFFFF"/>
                    </a:solidFill>
                  </a:tcPr>
                </a:tc>
                <a:tc>
                  <a:txBody>
                    <a:bodyPr wrap="square"/>
                    <a:lstStyle/>
                    <a:p>
                      <a:pPr algn="l"/>
                      <a:r>
                        <a:rPr sz="900" b="0">
                          <a:solidFill>
                            <a:srgbClr val="1E2833"/>
                          </a:solidFill>
                          <a:latin typeface="Segoe UI"/>
                        </a:rPr>
                        <a:t>Airframe</a:t>
                      </a:r>
                    </a:p>
                  </a:txBody>
                  <a:tcPr marL="54864" marR="54864" marT="18288" marB="18288" anchor="ctr">
                    <a:solidFill>
                      <a:srgbClr val="FFFFFF"/>
                    </a:solidFill>
                  </a:tcPr>
                </a:tc>
              </a:tr>
              <a:tr h="274320">
                <a:tc>
                  <a:txBody>
                    <a:bodyPr wrap="square"/>
                    <a:lstStyle/>
                    <a:p>
                      <a:pPr algn="l"/>
                      <a:r>
                        <a:rPr sz="900" b="0">
                          <a:solidFill>
                            <a:srgbClr val="1E2833"/>
                          </a:solidFill>
                          <a:latin typeface="Segoe UI"/>
                        </a:rPr>
                        <a:t>R6_BHV_RTL_RESERVE</a:t>
                      </a:r>
                    </a:p>
                  </a:txBody>
                  <a:tcPr marL="54864" marR="54864" marT="18288" marB="18288" anchor="ctr">
                    <a:solidFill>
                      <a:srgbClr val="F6F8FA"/>
                    </a:solidFill>
                  </a:tcPr>
                </a:tc>
                <a:tc>
                  <a:txBody>
                    <a:bodyPr wrap="square"/>
                    <a:lstStyle/>
                    <a:p>
                      <a:pPr algn="l"/>
                      <a:r>
                        <a:rPr sz="900" b="0">
                          <a:solidFill>
                            <a:srgbClr val="1E2833"/>
                          </a:solidFill>
                          <a:latin typeface="Segoe UI"/>
                        </a:rPr>
                        <a:t>The autonomous flight behavior shall command an automatic…</a:t>
                      </a:r>
                    </a:p>
                  </a:txBody>
                  <a:tcPr marL="54864" marR="54864" marT="18288" marB="18288" anchor="ctr">
                    <a:solidFill>
                      <a:srgbClr val="F6F8FA"/>
                    </a:solidFill>
                  </a:tcPr>
                </a:tc>
                <a:tc>
                  <a:txBody>
                    <a:bodyPr wrap="square"/>
                    <a:lstStyle/>
                    <a:p>
                      <a:pPr algn="ctr"/>
                      <a:r>
                        <a:rPr sz="900" b="0">
                          <a:solidFill>
                            <a:srgbClr val="1E2833"/>
                          </a:solidFill>
                          <a:latin typeface="Segoe UI"/>
                        </a:rPr>
                        <a:t>R6</a:t>
                      </a:r>
                    </a:p>
                  </a:txBody>
                  <a:tcPr marL="54864" marR="54864" marT="18288" marB="18288" anchor="ctr">
                    <a:solidFill>
                      <a:srgbClr val="F6F8FA"/>
                    </a:solidFill>
                  </a:tcPr>
                </a:tc>
                <a:tc>
                  <a:txBody>
                    <a:bodyPr wrap="square"/>
                    <a:lstStyle/>
                    <a:p>
                      <a:pPr algn="l"/>
                      <a:r>
                        <a:rPr sz="900" b="0">
                          <a:solidFill>
                            <a:srgbClr val="1E2833"/>
                          </a:solidFill>
                          <a:latin typeface="Segoe UI"/>
                        </a:rPr>
                        <a:t>executeRtl, fcSoftware</a:t>
                      </a:r>
                    </a:p>
                  </a:txBody>
                  <a:tcPr marL="54864" marR="54864" marT="18288" marB="18288" anchor="ctr">
                    <a:solidFill>
                      <a:srgbClr val="F6F8FA"/>
                    </a:solidFill>
                  </a:tcPr>
                </a:tc>
              </a:tr>
              <a:tr h="274320">
                <a:tc>
                  <a:txBody>
                    <a:bodyPr wrap="square"/>
                    <a:lstStyle/>
                    <a:p>
                      <a:pPr algn="l"/>
                      <a:r>
                        <a:rPr sz="900" b="0">
                          <a:solidFill>
                            <a:srgbClr val="1E2833"/>
                          </a:solidFill>
                          <a:latin typeface="Segoe UI"/>
                        </a:rPr>
                        <a:t>R7_BHV_LINKLOSS_RTL</a:t>
                      </a:r>
                    </a:p>
                  </a:txBody>
                  <a:tcPr marL="54864" marR="54864" marT="18288" marB="18288" anchor="ctr">
                    <a:solidFill>
                      <a:srgbClr val="FFFFFF"/>
                    </a:solidFill>
                  </a:tcPr>
                </a:tc>
                <a:tc>
                  <a:txBody>
                    <a:bodyPr wrap="square"/>
                    <a:lstStyle/>
                    <a:p>
                      <a:pPr algn="l"/>
                      <a:r>
                        <a:rPr sz="900" b="0">
                          <a:solidFill>
                            <a:srgbClr val="1E2833"/>
                          </a:solidFill>
                          <a:latin typeface="Segoe UI"/>
                        </a:rPr>
                        <a:t>The autonomous flight behavior shall command an automatic…</a:t>
                      </a:r>
                    </a:p>
                  </a:txBody>
                  <a:tcPr marL="54864" marR="54864" marT="18288" marB="18288" anchor="ctr">
                    <a:solidFill>
                      <a:srgbClr val="FFFFFF"/>
                    </a:solidFill>
                  </a:tcPr>
                </a:tc>
                <a:tc>
                  <a:txBody>
                    <a:bodyPr wrap="square"/>
                    <a:lstStyle/>
                    <a:p>
                      <a:pPr algn="ctr"/>
                      <a:r>
                        <a:rPr sz="900" b="0">
                          <a:solidFill>
                            <a:srgbClr val="1E2833"/>
                          </a:solidFill>
                          <a:latin typeface="Segoe UI"/>
                        </a:rPr>
                        <a:t>R7</a:t>
                      </a:r>
                    </a:p>
                  </a:txBody>
                  <a:tcPr marL="54864" marR="54864" marT="18288" marB="18288" anchor="ctr">
                    <a:solidFill>
                      <a:srgbClr val="FFFFFF"/>
                    </a:solidFill>
                  </a:tcPr>
                </a:tc>
                <a:tc>
                  <a:txBody>
                    <a:bodyPr wrap="square"/>
                    <a:lstStyle/>
                    <a:p>
                      <a:pPr algn="l"/>
                      <a:r>
                        <a:rPr sz="900" b="0">
                          <a:solidFill>
                            <a:srgbClr val="1E2833"/>
                          </a:solidFill>
                          <a:latin typeface="Segoe UI"/>
                        </a:rPr>
                        <a:t>executeRtl, fcSoftware</a:t>
                      </a:r>
                    </a:p>
                  </a:txBody>
                  <a:tcPr marL="54864" marR="54864" marT="18288" marB="18288" anchor="ctr">
                    <a:solidFill>
                      <a:srgbClr val="FFFFFF"/>
                    </a:solidFill>
                  </a:tcPr>
                </a:tc>
              </a:tr>
            </a:tbl>
          </a:graphicData>
        </a:graphic>
      </p:graphicFrame>
      <p:sp>
        <p:nvSpPr>
          <p:cNvPr id="10" name="TextBox 9"/>
          <p:cNvSpPr txBox="1"/>
          <p:nvPr/>
        </p:nvSpPr>
        <p:spPr>
          <a:xfrm>
            <a:off x="566928" y="6291072"/>
            <a:ext cx="11055096"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1">
                <a:solidFill>
                  <a:srgbClr val="5C6B7A"/>
                </a:solidFill>
                <a:latin typeface="Segoe UI"/>
              </a:rPr>
              <a:t>Behavior requirements (…_BHV_…) are allocated to autonomy action functions (flyRoute, executeRtl) and the flight-controller firmware (ArduPilot ArduCopter).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1 · REQUIREMENTS  ·  RTM</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RTM — Battery &amp; Camera (Thermal Payload) Subsystems</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10</a:t>
            </a:r>
          </a:p>
        </p:txBody>
      </p:sp>
      <p:graphicFrame>
        <p:nvGraphicFramePr>
          <p:cNvPr id="9" name="Table 8"/>
          <p:cNvGraphicFramePr>
            <a:graphicFrameLocks noGrp="1"/>
          </p:cNvGraphicFramePr>
          <p:nvPr/>
        </p:nvGraphicFramePr>
        <p:xfrm>
          <a:off x="566928" y="1207008"/>
          <a:ext cx="11055096" cy="4151376"/>
        </p:xfrm>
        <a:graphic>
          <a:graphicData uri="http://schemas.openxmlformats.org/drawingml/2006/table">
            <a:tbl>
              <a:tblPr>
                <a:tableStyleId>{5C22544A-7EE6-4342-B048-85BDC9FD1C3A}</a:tableStyleId>
              </a:tblPr>
              <a:tblGrid>
                <a:gridCol w="2148840"/>
                <a:gridCol w="5477256"/>
                <a:gridCol w="1234440"/>
                <a:gridCol w="2194560"/>
              </a:tblGrid>
              <a:tr h="310896">
                <a:tc>
                  <a:txBody>
                    <a:bodyPr wrap="square"/>
                    <a:lstStyle/>
                    <a:p>
                      <a:pPr algn="l"/>
                      <a:r>
                        <a:rPr sz="1000" b="1">
                          <a:solidFill>
                            <a:srgbClr val="FFFFFF"/>
                          </a:solidFill>
                          <a:latin typeface="Segoe UI"/>
                        </a:rPr>
                        <a:t>Requirement ID</a:t>
                      </a:r>
                    </a:p>
                  </a:txBody>
                  <a:tcPr marL="54864" marR="54864" marT="18288" marB="18288" anchor="ctr">
                    <a:solidFill>
                      <a:srgbClr val="0F2540"/>
                    </a:solidFill>
                  </a:tcPr>
                </a:tc>
                <a:tc>
                  <a:txBody>
                    <a:bodyPr wrap="square"/>
                    <a:lstStyle/>
                    <a:p>
                      <a:pPr algn="l"/>
                      <a:r>
                        <a:rPr sz="1000" b="1">
                          <a:solidFill>
                            <a:srgbClr val="FFFFFF"/>
                          </a:solidFill>
                          <a:latin typeface="Segoe UI"/>
                        </a:rPr>
                        <a:t>Requirement (abridged)</a:t>
                      </a:r>
                    </a:p>
                  </a:txBody>
                  <a:tcPr marL="54864" marR="54864" marT="18288" marB="18288" anchor="ctr">
                    <a:solidFill>
                      <a:srgbClr val="0F2540"/>
                    </a:solidFill>
                  </a:tcPr>
                </a:tc>
                <a:tc>
                  <a:txBody>
                    <a:bodyPr wrap="square"/>
                    <a:lstStyle/>
                    <a:p>
                      <a:pPr algn="ctr"/>
                      <a:r>
                        <a:rPr sz="1000" b="1">
                          <a:solidFill>
                            <a:srgbClr val="FFFFFF"/>
                          </a:solidFill>
                          <a:latin typeface="Segoe UI"/>
                        </a:rPr>
                        <a:t>Parent</a:t>
                      </a:r>
                    </a:p>
                  </a:txBody>
                  <a:tcPr marL="54864" marR="54864" marT="18288" marB="18288" anchor="ctr">
                    <a:solidFill>
                      <a:srgbClr val="0F2540"/>
                    </a:solidFill>
                  </a:tcPr>
                </a:tc>
                <a:tc>
                  <a:txBody>
                    <a:bodyPr wrap="square"/>
                    <a:lstStyle/>
                    <a:p>
                      <a:pPr algn="l"/>
                      <a:r>
                        <a:rPr sz="1000" b="1">
                          <a:solidFill>
                            <a:srgbClr val="FFFFFF"/>
                          </a:solidFill>
                          <a:latin typeface="Segoe UI"/>
                        </a:rPr>
                        <a:t>Allocated to</a:t>
                      </a:r>
                    </a:p>
                  </a:txBody>
                  <a:tcPr marL="54864" marR="54864" marT="18288" marB="18288" anchor="ctr">
                    <a:solidFill>
                      <a:srgbClr val="0F2540"/>
                    </a:solidFill>
                  </a:tcPr>
                </a:tc>
              </a:tr>
              <a:tr h="274320">
                <a:tc>
                  <a:txBody>
                    <a:bodyPr wrap="square"/>
                    <a:lstStyle/>
                    <a:p>
                      <a:pPr algn="l"/>
                      <a:r>
                        <a:rPr sz="900" b="0">
                          <a:solidFill>
                            <a:srgbClr val="1E2833"/>
                          </a:solidFill>
                          <a:latin typeface="Segoe UI"/>
                        </a:rPr>
                        <a:t>R3_CAM_COST</a:t>
                      </a:r>
                    </a:p>
                  </a:txBody>
                  <a:tcPr marL="54864" marR="54864" marT="18288" marB="18288" anchor="ctr">
                    <a:solidFill>
                      <a:srgbClr val="FFFFFF"/>
                    </a:solidFill>
                  </a:tcPr>
                </a:tc>
                <a:tc>
                  <a:txBody>
                    <a:bodyPr wrap="square"/>
                    <a:lstStyle/>
                    <a:p>
                      <a:pPr algn="l"/>
                      <a:r>
                        <a:rPr sz="900" b="0">
                          <a:solidFill>
                            <a:srgbClr val="1E2833"/>
                          </a:solidFill>
                          <a:latin typeface="Segoe UI"/>
                        </a:rPr>
                        <a:t>The camera subsystem cost shall not exceed 720 USD. Raised from the…</a:t>
                      </a:r>
                    </a:p>
                  </a:txBody>
                  <a:tcPr marL="54864" marR="54864" marT="18288" marB="18288" anchor="ctr">
                    <a:solidFill>
                      <a:srgbClr val="FFFFFF"/>
                    </a:solidFill>
                  </a:tcPr>
                </a:tc>
                <a:tc>
                  <a:txBody>
                    <a:bodyPr wrap="square"/>
                    <a:lstStyle/>
                    <a:p>
                      <a:pPr algn="ctr"/>
                      <a:r>
                        <a:rPr sz="900" b="0">
                          <a:solidFill>
                            <a:srgbClr val="1E2833"/>
                          </a:solidFill>
                          <a:latin typeface="Segoe UI"/>
                        </a:rPr>
                        <a:t>R4</a:t>
                      </a:r>
                    </a:p>
                  </a:txBody>
                  <a:tcPr marL="54864" marR="54864" marT="18288" marB="18288" anchor="ctr">
                    <a:solidFill>
                      <a:srgbClr val="FFFFFF"/>
                    </a:solidFill>
                  </a:tcPr>
                </a:tc>
                <a:tc>
                  <a:txBody>
                    <a:bodyPr wrap="square"/>
                    <a:lstStyle/>
                    <a:p>
                      <a:pPr algn="l"/>
                      <a:r>
                        <a:rPr sz="900" b="0">
                          <a:solidFill>
                            <a:srgbClr val="1E2833"/>
                          </a:solidFill>
                          <a:latin typeface="Segoe UI"/>
                        </a:rPr>
                        <a:t>IRCamera</a:t>
                      </a:r>
                    </a:p>
                  </a:txBody>
                  <a:tcPr marL="54864" marR="54864" marT="18288" marB="18288" anchor="ctr">
                    <a:solidFill>
                      <a:srgbClr val="FFFFFF"/>
                    </a:solidFill>
                  </a:tcPr>
                </a:tc>
              </a:tr>
              <a:tr h="274320">
                <a:tc>
                  <a:txBody>
                    <a:bodyPr wrap="square"/>
                    <a:lstStyle/>
                    <a:p>
                      <a:pPr algn="l"/>
                      <a:r>
                        <a:rPr sz="900" b="0">
                          <a:solidFill>
                            <a:srgbClr val="1E2833"/>
                          </a:solidFill>
                          <a:latin typeface="Segoe UI"/>
                        </a:rPr>
                        <a:t>R3_CAM_FOV</a:t>
                      </a:r>
                    </a:p>
                  </a:txBody>
                  <a:tcPr marL="54864" marR="54864" marT="18288" marB="18288" anchor="ctr">
                    <a:solidFill>
                      <a:srgbClr val="F6F8FA"/>
                    </a:solidFill>
                  </a:tcPr>
                </a:tc>
                <a:tc>
                  <a:txBody>
                    <a:bodyPr wrap="square"/>
                    <a:lstStyle/>
                    <a:p>
                      <a:pPr algn="l"/>
                      <a:r>
                        <a:rPr sz="900" b="0">
                          <a:solidFill>
                            <a:srgbClr val="1E2833"/>
                          </a:solidFill>
                          <a:latin typeface="Segoe UI"/>
                        </a:rPr>
                        <a:t>The thermal camera shall image a continuous across-track ground swath…</a:t>
                      </a:r>
                    </a:p>
                  </a:txBody>
                  <a:tcPr marL="54864" marR="54864" marT="18288" marB="18288" anchor="ctr">
                    <a:solidFill>
                      <a:srgbClr val="F6F8FA"/>
                    </a:solidFill>
                  </a:tcPr>
                </a:tc>
                <a:tc>
                  <a:txBody>
                    <a:bodyPr wrap="square"/>
                    <a:lstStyle/>
                    <a:p>
                      <a:pPr algn="ctr"/>
                      <a:r>
                        <a:rPr sz="900" b="0">
                          <a:solidFill>
                            <a:srgbClr val="1E2833"/>
                          </a:solidFill>
                          <a:latin typeface="Segoe UI"/>
                        </a:rPr>
                        <a:t>R9</a:t>
                      </a:r>
                    </a:p>
                  </a:txBody>
                  <a:tcPr marL="54864" marR="54864" marT="18288" marB="18288" anchor="ctr">
                    <a:solidFill>
                      <a:srgbClr val="F6F8FA"/>
                    </a:solidFill>
                  </a:tcPr>
                </a:tc>
                <a:tc>
                  <a:txBody>
                    <a:bodyPr wrap="square"/>
                    <a:lstStyle/>
                    <a:p>
                      <a:pPr algn="l"/>
                      <a:r>
                        <a:rPr sz="900" b="0">
                          <a:solidFill>
                            <a:srgbClr val="1E2833"/>
                          </a:solidFill>
                          <a:latin typeface="Segoe UI"/>
                        </a:rPr>
                        <a:t>IRCamera</a:t>
                      </a:r>
                    </a:p>
                  </a:txBody>
                  <a:tcPr marL="54864" marR="54864" marT="18288" marB="18288" anchor="ctr">
                    <a:solidFill>
                      <a:srgbClr val="F6F8FA"/>
                    </a:solidFill>
                  </a:tcPr>
                </a:tc>
              </a:tr>
              <a:tr h="274320">
                <a:tc>
                  <a:txBody>
                    <a:bodyPr wrap="square"/>
                    <a:lstStyle/>
                    <a:p>
                      <a:pPr algn="l"/>
                      <a:r>
                        <a:rPr sz="900" b="0">
                          <a:solidFill>
                            <a:srgbClr val="1E2833"/>
                          </a:solidFill>
                          <a:latin typeface="Segoe UI"/>
                        </a:rPr>
                        <a:t>R3_CAM_IF</a:t>
                      </a:r>
                    </a:p>
                  </a:txBody>
                  <a:tcPr marL="54864" marR="54864" marT="18288" marB="18288" anchor="ctr">
                    <a:solidFill>
                      <a:srgbClr val="FFFFFF"/>
                    </a:solidFill>
                  </a:tcPr>
                </a:tc>
                <a:tc>
                  <a:txBody>
                    <a:bodyPr wrap="square"/>
                    <a:lstStyle/>
                    <a:p>
                      <a:pPr algn="l"/>
                      <a:r>
                        <a:rPr sz="900" b="0">
                          <a:solidFill>
                            <a:srgbClr val="1E2833"/>
                          </a:solidFill>
                          <a:latin typeface="Segoe UI"/>
                        </a:rPr>
                        <a:t>The camera shall output analog CVBS or digital video (HDMI / CSI /…</a:t>
                      </a:r>
                    </a:p>
                  </a:txBody>
                  <a:tcPr marL="54864" marR="54864" marT="18288" marB="18288" anchor="ctr">
                    <a:solidFill>
                      <a:srgbClr val="FFFFFF"/>
                    </a:solidFill>
                  </a:tcPr>
                </a:tc>
                <a:tc>
                  <a:txBody>
                    <a:bodyPr wrap="square"/>
                    <a:lstStyle/>
                    <a:p>
                      <a:pPr algn="ctr"/>
                      <a:r>
                        <a:rPr sz="900" b="0">
                          <a:solidFill>
                            <a:srgbClr val="1E2833"/>
                          </a:solidFill>
                          <a:latin typeface="Segoe UI"/>
                        </a:rPr>
                        <a:t>—</a:t>
                      </a:r>
                    </a:p>
                  </a:txBody>
                  <a:tcPr marL="54864" marR="54864" marT="18288" marB="18288" anchor="ctr">
                    <a:solidFill>
                      <a:srgbClr val="FFFFFF"/>
                    </a:solidFill>
                  </a:tcPr>
                </a:tc>
                <a:tc>
                  <a:txBody>
                    <a:bodyPr wrap="square"/>
                    <a:lstStyle/>
                    <a:p>
                      <a:pPr algn="l"/>
                      <a:r>
                        <a:rPr sz="900" b="0">
                          <a:solidFill>
                            <a:srgbClr val="1E2833"/>
                          </a:solidFill>
                          <a:latin typeface="Segoe UI"/>
                        </a:rPr>
                        <a:t>IRCamera</a:t>
                      </a:r>
                    </a:p>
                  </a:txBody>
                  <a:tcPr marL="54864" marR="54864" marT="18288" marB="18288" anchor="ctr">
                    <a:solidFill>
                      <a:srgbClr val="FFFFFF"/>
                    </a:solidFill>
                  </a:tcPr>
                </a:tc>
              </a:tr>
              <a:tr h="274320">
                <a:tc>
                  <a:txBody>
                    <a:bodyPr wrap="square"/>
                    <a:lstStyle/>
                    <a:p>
                      <a:pPr algn="l"/>
                      <a:r>
                        <a:rPr sz="900" b="0">
                          <a:solidFill>
                            <a:srgbClr val="1E2833"/>
                          </a:solidFill>
                          <a:latin typeface="Segoe UI"/>
                        </a:rPr>
                        <a:t>R3_CAM_NETD</a:t>
                      </a:r>
                    </a:p>
                  </a:txBody>
                  <a:tcPr marL="54864" marR="54864" marT="18288" marB="18288" anchor="ctr">
                    <a:solidFill>
                      <a:srgbClr val="F6F8FA"/>
                    </a:solidFill>
                  </a:tcPr>
                </a:tc>
                <a:tc>
                  <a:txBody>
                    <a:bodyPr wrap="square"/>
                    <a:lstStyle/>
                    <a:p>
                      <a:pPr algn="l"/>
                      <a:r>
                        <a:rPr sz="900" b="0">
                          <a:solidFill>
                            <a:srgbClr val="1E2833"/>
                          </a:solidFill>
                          <a:latin typeface="Segoe UI"/>
                        </a:rPr>
                        <a:t>The thermal sensor NETD (noise equivalent temperature difference)…</a:t>
                      </a:r>
                    </a:p>
                  </a:txBody>
                  <a:tcPr marL="54864" marR="54864" marT="18288" marB="18288" anchor="ctr">
                    <a:solidFill>
                      <a:srgbClr val="F6F8FA"/>
                    </a:solidFill>
                  </a:tcPr>
                </a:tc>
                <a:tc>
                  <a:txBody>
                    <a:bodyPr wrap="square"/>
                    <a:lstStyle/>
                    <a:p>
                      <a:pPr algn="ctr"/>
                      <a:r>
                        <a:rPr sz="900" b="0">
                          <a:solidFill>
                            <a:srgbClr val="1E2833"/>
                          </a:solidFill>
                          <a:latin typeface="Segoe UI"/>
                        </a:rPr>
                        <a:t>R3</a:t>
                      </a:r>
                    </a:p>
                  </a:txBody>
                  <a:tcPr marL="54864" marR="54864" marT="18288" marB="18288" anchor="ctr">
                    <a:solidFill>
                      <a:srgbClr val="F6F8FA"/>
                    </a:solidFill>
                  </a:tcPr>
                </a:tc>
                <a:tc>
                  <a:txBody>
                    <a:bodyPr wrap="square"/>
                    <a:lstStyle/>
                    <a:p>
                      <a:pPr algn="l"/>
                      <a:r>
                        <a:rPr sz="900" b="0">
                          <a:solidFill>
                            <a:srgbClr val="1E2833"/>
                          </a:solidFill>
                          <a:latin typeface="Segoe UI"/>
                        </a:rPr>
                        <a:t>IRCamera</a:t>
                      </a:r>
                    </a:p>
                  </a:txBody>
                  <a:tcPr marL="54864" marR="54864" marT="18288" marB="18288" anchor="ctr">
                    <a:solidFill>
                      <a:srgbClr val="F6F8FA"/>
                    </a:solidFill>
                  </a:tcPr>
                </a:tc>
              </a:tr>
              <a:tr h="274320">
                <a:tc>
                  <a:txBody>
                    <a:bodyPr wrap="square"/>
                    <a:lstStyle/>
                    <a:p>
                      <a:pPr algn="l"/>
                      <a:r>
                        <a:rPr sz="900" b="0">
                          <a:solidFill>
                            <a:srgbClr val="1E2833"/>
                          </a:solidFill>
                          <a:latin typeface="Segoe UI"/>
                        </a:rPr>
                        <a:t>R3_CAM_PWR</a:t>
                      </a:r>
                    </a:p>
                  </a:txBody>
                  <a:tcPr marL="54864" marR="54864" marT="18288" marB="18288" anchor="ctr">
                    <a:solidFill>
                      <a:srgbClr val="FFFFFF"/>
                    </a:solidFill>
                  </a:tcPr>
                </a:tc>
                <a:tc>
                  <a:txBody>
                    <a:bodyPr wrap="square"/>
                    <a:lstStyle/>
                    <a:p>
                      <a:pPr algn="l"/>
                      <a:r>
                        <a:rPr sz="900" b="0">
                          <a:solidFill>
                            <a:srgbClr val="1E2833"/>
                          </a:solidFill>
                          <a:latin typeface="Segoe UI"/>
                        </a:rPr>
                        <a:t>The camera subsystem shall consume no more than 4.5W average during…</a:t>
                      </a:r>
                    </a:p>
                  </a:txBody>
                  <a:tcPr marL="54864" marR="54864" marT="18288" marB="18288" anchor="ctr">
                    <a:solidFill>
                      <a:srgbClr val="FFFFFF"/>
                    </a:solidFill>
                  </a:tcPr>
                </a:tc>
                <a:tc>
                  <a:txBody>
                    <a:bodyPr wrap="square"/>
                    <a:lstStyle/>
                    <a:p>
                      <a:pPr algn="ctr"/>
                      <a:r>
                        <a:rPr sz="900" b="0">
                          <a:solidFill>
                            <a:srgbClr val="1E2833"/>
                          </a:solidFill>
                          <a:latin typeface="Segoe UI"/>
                        </a:rPr>
                        <a:t>—</a:t>
                      </a:r>
                    </a:p>
                  </a:txBody>
                  <a:tcPr marL="54864" marR="54864" marT="18288" marB="18288" anchor="ctr">
                    <a:solidFill>
                      <a:srgbClr val="FFFFFF"/>
                    </a:solidFill>
                  </a:tcPr>
                </a:tc>
                <a:tc>
                  <a:txBody>
                    <a:bodyPr wrap="square"/>
                    <a:lstStyle/>
                    <a:p>
                      <a:pPr algn="l"/>
                      <a:r>
                        <a:rPr sz="900" b="0">
                          <a:solidFill>
                            <a:srgbClr val="1E2833"/>
                          </a:solidFill>
                          <a:latin typeface="Segoe UI"/>
                        </a:rPr>
                        <a:t>IRCamera</a:t>
                      </a:r>
                    </a:p>
                  </a:txBody>
                  <a:tcPr marL="54864" marR="54864" marT="18288" marB="18288" anchor="ctr">
                    <a:solidFill>
                      <a:srgbClr val="FFFFFF"/>
                    </a:solidFill>
                  </a:tcPr>
                </a:tc>
              </a:tr>
              <a:tr h="274320">
                <a:tc>
                  <a:txBody>
                    <a:bodyPr wrap="square"/>
                    <a:lstStyle/>
                    <a:p>
                      <a:pPr algn="l"/>
                      <a:r>
                        <a:rPr sz="900" b="0">
                          <a:solidFill>
                            <a:srgbClr val="1E2833"/>
                          </a:solidFill>
                          <a:latin typeface="Segoe UI"/>
                        </a:rPr>
                        <a:t>R3_CAM_RES</a:t>
                      </a:r>
                    </a:p>
                  </a:txBody>
                  <a:tcPr marL="54864" marR="54864" marT="18288" marB="18288" anchor="ctr">
                    <a:solidFill>
                      <a:srgbClr val="F6F8FA"/>
                    </a:solidFill>
                  </a:tcPr>
                </a:tc>
                <a:tc>
                  <a:txBody>
                    <a:bodyPr wrap="square"/>
                    <a:lstStyle/>
                    <a:p>
                      <a:pPr algn="l"/>
                      <a:r>
                        <a:rPr sz="900" b="0">
                          <a:solidFill>
                            <a:srgbClr val="1E2833"/>
                          </a:solidFill>
                          <a:latin typeface="Segoe UI"/>
                        </a:rPr>
                        <a:t>The thermal sensor shall provide sufficient spatial resolution such…</a:t>
                      </a:r>
                    </a:p>
                  </a:txBody>
                  <a:tcPr marL="54864" marR="54864" marT="18288" marB="18288" anchor="ctr">
                    <a:solidFill>
                      <a:srgbClr val="F6F8FA"/>
                    </a:solidFill>
                  </a:tcPr>
                </a:tc>
                <a:tc>
                  <a:txBody>
                    <a:bodyPr wrap="square"/>
                    <a:lstStyle/>
                    <a:p>
                      <a:pPr algn="ctr"/>
                      <a:r>
                        <a:rPr sz="900" b="0">
                          <a:solidFill>
                            <a:srgbClr val="1E2833"/>
                          </a:solidFill>
                          <a:latin typeface="Segoe UI"/>
                        </a:rPr>
                        <a:t>R3</a:t>
                      </a:r>
                    </a:p>
                  </a:txBody>
                  <a:tcPr marL="54864" marR="54864" marT="18288" marB="18288" anchor="ctr">
                    <a:solidFill>
                      <a:srgbClr val="F6F8FA"/>
                    </a:solidFill>
                  </a:tcPr>
                </a:tc>
                <a:tc>
                  <a:txBody>
                    <a:bodyPr wrap="square"/>
                    <a:lstStyle/>
                    <a:p>
                      <a:pPr algn="l"/>
                      <a:r>
                        <a:rPr sz="900" b="0">
                          <a:solidFill>
                            <a:srgbClr val="1E2833"/>
                          </a:solidFill>
                          <a:latin typeface="Segoe UI"/>
                        </a:rPr>
                        <a:t>IRCamera</a:t>
                      </a:r>
                    </a:p>
                  </a:txBody>
                  <a:tcPr marL="54864" marR="54864" marT="18288" marB="18288" anchor="ctr">
                    <a:solidFill>
                      <a:srgbClr val="F6F8FA"/>
                    </a:solidFill>
                  </a:tcPr>
                </a:tc>
              </a:tr>
              <a:tr h="274320">
                <a:tc>
                  <a:txBody>
                    <a:bodyPr wrap="square"/>
                    <a:lstStyle/>
                    <a:p>
                      <a:pPr algn="l"/>
                      <a:r>
                        <a:rPr sz="900" b="0">
                          <a:solidFill>
                            <a:srgbClr val="1E2833"/>
                          </a:solidFill>
                          <a:latin typeface="Segoe UI"/>
                        </a:rPr>
                        <a:t>R3_CAM_WT</a:t>
                      </a:r>
                    </a:p>
                  </a:txBody>
                  <a:tcPr marL="54864" marR="54864" marT="18288" marB="18288" anchor="ctr">
                    <a:solidFill>
                      <a:srgbClr val="FFFFFF"/>
                    </a:solidFill>
                  </a:tcPr>
                </a:tc>
                <a:tc>
                  <a:txBody>
                    <a:bodyPr wrap="square"/>
                    <a:lstStyle/>
                    <a:p>
                      <a:pPr algn="l"/>
                      <a:r>
                        <a:rPr sz="900" b="0">
                          <a:solidFill>
                            <a:srgbClr val="1E2833"/>
                          </a:solidFill>
                          <a:latin typeface="Segoe UI"/>
                        </a:rPr>
                        <a:t>The camera subsystem (sensor + lens + housing + cabling) shall not…</a:t>
                      </a:r>
                    </a:p>
                  </a:txBody>
                  <a:tcPr marL="54864" marR="54864" marT="18288" marB="18288" anchor="ctr">
                    <a:solidFill>
                      <a:srgbClr val="FFFFFF"/>
                    </a:solidFill>
                  </a:tcPr>
                </a:tc>
                <a:tc>
                  <a:txBody>
                    <a:bodyPr wrap="square"/>
                    <a:lstStyle/>
                    <a:p>
                      <a:pPr algn="ctr"/>
                      <a:r>
                        <a:rPr sz="900" b="0">
                          <a:solidFill>
                            <a:srgbClr val="1E2833"/>
                          </a:solidFill>
                          <a:latin typeface="Segoe UI"/>
                        </a:rPr>
                        <a:t>—</a:t>
                      </a:r>
                    </a:p>
                  </a:txBody>
                  <a:tcPr marL="54864" marR="54864" marT="18288" marB="18288" anchor="ctr">
                    <a:solidFill>
                      <a:srgbClr val="FFFFFF"/>
                    </a:solidFill>
                  </a:tcPr>
                </a:tc>
                <a:tc>
                  <a:txBody>
                    <a:bodyPr wrap="square"/>
                    <a:lstStyle/>
                    <a:p>
                      <a:pPr algn="l"/>
                      <a:r>
                        <a:rPr sz="900" b="0">
                          <a:solidFill>
                            <a:srgbClr val="1E2833"/>
                          </a:solidFill>
                          <a:latin typeface="Segoe UI"/>
                        </a:rPr>
                        <a:t>IRCamera</a:t>
                      </a:r>
                    </a:p>
                  </a:txBody>
                  <a:tcPr marL="54864" marR="54864" marT="18288" marB="18288" anchor="ctr">
                    <a:solidFill>
                      <a:srgbClr val="FFFFFF"/>
                    </a:solidFill>
                  </a:tcPr>
                </a:tc>
              </a:tr>
              <a:tr h="274320">
                <a:tc>
                  <a:txBody>
                    <a:bodyPr wrap="square"/>
                    <a:lstStyle/>
                    <a:p>
                      <a:pPr algn="l"/>
                      <a:r>
                        <a:rPr sz="900" b="0">
                          <a:solidFill>
                            <a:srgbClr val="1E2833"/>
                          </a:solidFill>
                          <a:latin typeface="Segoe UI"/>
                        </a:rPr>
                        <a:t>R4_BAT_COST</a:t>
                      </a:r>
                    </a:p>
                  </a:txBody>
                  <a:tcPr marL="54864" marR="54864" marT="18288" marB="18288" anchor="ctr">
                    <a:solidFill>
                      <a:srgbClr val="F6F8FA"/>
                    </a:solidFill>
                  </a:tcPr>
                </a:tc>
                <a:tc>
                  <a:txBody>
                    <a:bodyPr wrap="square"/>
                    <a:lstStyle/>
                    <a:p>
                      <a:pPr algn="l"/>
                      <a:r>
                        <a:rPr sz="900" b="0">
                          <a:solidFill>
                            <a:srgbClr val="1E2833"/>
                          </a:solidFill>
                          <a:latin typeface="Segoe UI"/>
                        </a:rPr>
                        <a:t>The battery cost, when summed with all other subsystem costs, shall…</a:t>
                      </a:r>
                    </a:p>
                  </a:txBody>
                  <a:tcPr marL="54864" marR="54864" marT="18288" marB="18288" anchor="ctr">
                    <a:solidFill>
                      <a:srgbClr val="F6F8FA"/>
                    </a:solidFill>
                  </a:tcPr>
                </a:tc>
                <a:tc>
                  <a:txBody>
                    <a:bodyPr wrap="square"/>
                    <a:lstStyle/>
                    <a:p>
                      <a:pPr algn="ctr"/>
                      <a:r>
                        <a:rPr sz="900" b="0">
                          <a:solidFill>
                            <a:srgbClr val="1E2833"/>
                          </a:solidFill>
                          <a:latin typeface="Segoe UI"/>
                        </a:rPr>
                        <a:t>R4</a:t>
                      </a:r>
                    </a:p>
                  </a:txBody>
                  <a:tcPr marL="54864" marR="54864" marT="18288" marB="18288" anchor="ctr">
                    <a:solidFill>
                      <a:srgbClr val="F6F8FA"/>
                    </a:solidFill>
                  </a:tcPr>
                </a:tc>
                <a:tc>
                  <a:txBody>
                    <a:bodyPr wrap="square"/>
                    <a:lstStyle/>
                    <a:p>
                      <a:pPr algn="l"/>
                      <a:r>
                        <a:rPr sz="900" b="0">
                          <a:solidFill>
                            <a:srgbClr val="1E2833"/>
                          </a:solidFill>
                          <a:latin typeface="Segoe UI"/>
                        </a:rPr>
                        <a:t>Battery</a:t>
                      </a:r>
                    </a:p>
                  </a:txBody>
                  <a:tcPr marL="54864" marR="54864" marT="18288" marB="18288" anchor="ctr">
                    <a:solidFill>
                      <a:srgbClr val="F6F8FA"/>
                    </a:solidFill>
                  </a:tcPr>
                </a:tc>
              </a:tr>
              <a:tr h="274320">
                <a:tc>
                  <a:txBody>
                    <a:bodyPr wrap="square"/>
                    <a:lstStyle/>
                    <a:p>
                      <a:pPr algn="l"/>
                      <a:r>
                        <a:rPr sz="900" b="0">
                          <a:solidFill>
                            <a:srgbClr val="1E2833"/>
                          </a:solidFill>
                          <a:latin typeface="Segoe UI"/>
                        </a:rPr>
                        <a:t>R4_BAT_DISCHARGE</a:t>
                      </a:r>
                    </a:p>
                  </a:txBody>
                  <a:tcPr marL="54864" marR="54864" marT="18288" marB="18288" anchor="ctr">
                    <a:solidFill>
                      <a:srgbClr val="FFFFFF"/>
                    </a:solidFill>
                  </a:tcPr>
                </a:tc>
                <a:tc>
                  <a:txBody>
                    <a:bodyPr wrap="square"/>
                    <a:lstStyle/>
                    <a:p>
                      <a:pPr algn="l"/>
                      <a:r>
                        <a:rPr sz="900" b="0">
                          <a:solidFill>
                            <a:srgbClr val="1E2833"/>
                          </a:solidFill>
                          <a:latin typeface="Segoe UI"/>
                        </a:rPr>
                        <a:t>The battery shall sustain continuous discharge at the system maximum…</a:t>
                      </a:r>
                    </a:p>
                  </a:txBody>
                  <a:tcPr marL="54864" marR="54864" marT="18288" marB="18288" anchor="ctr">
                    <a:solidFill>
                      <a:srgbClr val="FFFFFF"/>
                    </a:solidFill>
                  </a:tcPr>
                </a:tc>
                <a:tc>
                  <a:txBody>
                    <a:bodyPr wrap="square"/>
                    <a:lstStyle/>
                    <a:p>
                      <a:pPr algn="ctr"/>
                      <a:r>
                        <a:rPr sz="900" b="0">
                          <a:solidFill>
                            <a:srgbClr val="1E2833"/>
                          </a:solidFill>
                          <a:latin typeface="Segoe UI"/>
                        </a:rPr>
                        <a:t>—</a:t>
                      </a:r>
                    </a:p>
                  </a:txBody>
                  <a:tcPr marL="54864" marR="54864" marT="18288" marB="18288" anchor="ctr">
                    <a:solidFill>
                      <a:srgbClr val="FFFFFF"/>
                    </a:solidFill>
                  </a:tcPr>
                </a:tc>
                <a:tc>
                  <a:txBody>
                    <a:bodyPr wrap="square"/>
                    <a:lstStyle/>
                    <a:p>
                      <a:pPr algn="l"/>
                      <a:r>
                        <a:rPr sz="900" b="0">
                          <a:solidFill>
                            <a:srgbClr val="1E2833"/>
                          </a:solidFill>
                          <a:latin typeface="Segoe UI"/>
                        </a:rPr>
                        <a:t>Battery</a:t>
                      </a:r>
                    </a:p>
                  </a:txBody>
                  <a:tcPr marL="54864" marR="54864" marT="18288" marB="18288" anchor="ctr">
                    <a:solidFill>
                      <a:srgbClr val="FFFFFF"/>
                    </a:solidFill>
                  </a:tcPr>
                </a:tc>
              </a:tr>
              <a:tr h="274320">
                <a:tc>
                  <a:txBody>
                    <a:bodyPr wrap="square"/>
                    <a:lstStyle/>
                    <a:p>
                      <a:pPr algn="l"/>
                      <a:r>
                        <a:rPr sz="900" b="0">
                          <a:solidFill>
                            <a:srgbClr val="1E2833"/>
                          </a:solidFill>
                          <a:latin typeface="Segoe UI"/>
                        </a:rPr>
                        <a:t>R4_BAT_ENERGY</a:t>
                      </a:r>
                    </a:p>
                  </a:txBody>
                  <a:tcPr marL="54864" marR="54864" marT="18288" marB="18288" anchor="ctr">
                    <a:solidFill>
                      <a:srgbClr val="F6F8FA"/>
                    </a:solidFill>
                  </a:tcPr>
                </a:tc>
                <a:tc>
                  <a:txBody>
                    <a:bodyPr wrap="square"/>
                    <a:lstStyle/>
                    <a:p>
                      <a:pPr algn="l"/>
                      <a:r>
                        <a:rPr sz="900" b="0">
                          <a:solidFill>
                            <a:srgbClr val="1E2833"/>
                          </a:solidFill>
                          <a:latin typeface="Segoe UI"/>
                        </a:rPr>
                        <a:t>The battery shall store sufficient usable energy such that, when…</a:t>
                      </a:r>
                    </a:p>
                  </a:txBody>
                  <a:tcPr marL="54864" marR="54864" marT="18288" marB="18288" anchor="ctr">
                    <a:solidFill>
                      <a:srgbClr val="F6F8FA"/>
                    </a:solidFill>
                  </a:tcPr>
                </a:tc>
                <a:tc>
                  <a:txBody>
                    <a:bodyPr wrap="square"/>
                    <a:lstStyle/>
                    <a:p>
                      <a:pPr algn="ctr"/>
                      <a:r>
                        <a:rPr sz="900" b="0">
                          <a:solidFill>
                            <a:srgbClr val="1E2833"/>
                          </a:solidFill>
                          <a:latin typeface="Segoe UI"/>
                        </a:rPr>
                        <a:t>R6</a:t>
                      </a:r>
                    </a:p>
                  </a:txBody>
                  <a:tcPr marL="54864" marR="54864" marT="18288" marB="18288" anchor="ctr">
                    <a:solidFill>
                      <a:srgbClr val="F6F8FA"/>
                    </a:solidFill>
                  </a:tcPr>
                </a:tc>
                <a:tc>
                  <a:txBody>
                    <a:bodyPr wrap="square"/>
                    <a:lstStyle/>
                    <a:p>
                      <a:pPr algn="l"/>
                      <a:r>
                        <a:rPr sz="900" b="0">
                          <a:solidFill>
                            <a:srgbClr val="1E2833"/>
                          </a:solidFill>
                          <a:latin typeface="Segoe UI"/>
                        </a:rPr>
                        <a:t>Battery</a:t>
                      </a:r>
                    </a:p>
                  </a:txBody>
                  <a:tcPr marL="54864" marR="54864" marT="18288" marB="18288" anchor="ctr">
                    <a:solidFill>
                      <a:srgbClr val="F6F8FA"/>
                    </a:solidFill>
                  </a:tcPr>
                </a:tc>
              </a:tr>
              <a:tr h="274320">
                <a:tc>
                  <a:txBody>
                    <a:bodyPr wrap="square"/>
                    <a:lstStyle/>
                    <a:p>
                      <a:pPr algn="l"/>
                      <a:r>
                        <a:rPr sz="900" b="0">
                          <a:solidFill>
                            <a:srgbClr val="1E2833"/>
                          </a:solidFill>
                          <a:latin typeface="Segoe UI"/>
                        </a:rPr>
                        <a:t>R4_BAT_ENERGY_STRETCH</a:t>
                      </a:r>
                    </a:p>
                  </a:txBody>
                  <a:tcPr marL="54864" marR="54864" marT="18288" marB="18288" anchor="ctr">
                    <a:solidFill>
                      <a:srgbClr val="FFFFFF"/>
                    </a:solidFill>
                  </a:tcPr>
                </a:tc>
                <a:tc>
                  <a:txBody>
                    <a:bodyPr wrap="square"/>
                    <a:lstStyle/>
                    <a:p>
                      <a:pPr algn="l"/>
                      <a:r>
                        <a:rPr sz="900" b="0">
                          <a:solidFill>
                            <a:srgbClr val="1E2833"/>
                          </a:solidFill>
                          <a:latin typeface="Segoe UI"/>
                        </a:rPr>
                        <a:t>The battery shall store sufficient usable energy such that the…</a:t>
                      </a:r>
                    </a:p>
                  </a:txBody>
                  <a:tcPr marL="54864" marR="54864" marT="18288" marB="18288" anchor="ctr">
                    <a:solidFill>
                      <a:srgbClr val="FFFFFF"/>
                    </a:solidFill>
                  </a:tcPr>
                </a:tc>
                <a:tc>
                  <a:txBody>
                    <a:bodyPr wrap="square"/>
                    <a:lstStyle/>
                    <a:p>
                      <a:pPr algn="ctr"/>
                      <a:r>
                        <a:rPr sz="900" b="0">
                          <a:solidFill>
                            <a:srgbClr val="1E2833"/>
                          </a:solidFill>
                          <a:latin typeface="Segoe UI"/>
                        </a:rPr>
                        <a:t>R8</a:t>
                      </a:r>
                    </a:p>
                  </a:txBody>
                  <a:tcPr marL="54864" marR="54864" marT="18288" marB="18288" anchor="ctr">
                    <a:solidFill>
                      <a:srgbClr val="FFFFFF"/>
                    </a:solidFill>
                  </a:tcPr>
                </a:tc>
                <a:tc>
                  <a:txBody>
                    <a:bodyPr wrap="square"/>
                    <a:lstStyle/>
                    <a:p>
                      <a:pPr algn="l"/>
                      <a:r>
                        <a:rPr sz="900" b="0">
                          <a:solidFill>
                            <a:srgbClr val="1E2833"/>
                          </a:solidFill>
                          <a:latin typeface="Segoe UI"/>
                        </a:rPr>
                        <a:t>Battery</a:t>
                      </a:r>
                    </a:p>
                  </a:txBody>
                  <a:tcPr marL="54864" marR="54864" marT="18288" marB="18288" anchor="ctr">
                    <a:solidFill>
                      <a:srgbClr val="FFFFFF"/>
                    </a:solidFill>
                  </a:tcPr>
                </a:tc>
              </a:tr>
              <a:tr h="274320">
                <a:tc>
                  <a:txBody>
                    <a:bodyPr wrap="square"/>
                    <a:lstStyle/>
                    <a:p>
                      <a:pPr algn="l"/>
                      <a:r>
                        <a:rPr sz="900" b="0">
                          <a:solidFill>
                            <a:srgbClr val="1E2833"/>
                          </a:solidFill>
                          <a:latin typeface="Segoe UI"/>
                        </a:rPr>
                        <a:t>R4_BAT_IF</a:t>
                      </a:r>
                    </a:p>
                  </a:txBody>
                  <a:tcPr marL="54864" marR="54864" marT="18288" marB="18288" anchor="ctr">
                    <a:solidFill>
                      <a:srgbClr val="F6F8FA"/>
                    </a:solidFill>
                  </a:tcPr>
                </a:tc>
                <a:tc>
                  <a:txBody>
                    <a:bodyPr wrap="square"/>
                    <a:lstStyle/>
                    <a:p>
                      <a:pPr algn="l"/>
                      <a:r>
                        <a:rPr sz="900" b="0">
                          <a:solidFill>
                            <a:srgbClr val="1E2833"/>
                          </a:solidFill>
                          <a:latin typeface="Segoe UI"/>
                        </a:rPr>
                        <a:t>The battery connector and form factor shall be physically compatible…</a:t>
                      </a:r>
                    </a:p>
                  </a:txBody>
                  <a:tcPr marL="54864" marR="54864" marT="18288" marB="18288" anchor="ctr">
                    <a:solidFill>
                      <a:srgbClr val="F6F8FA"/>
                    </a:solidFill>
                  </a:tcPr>
                </a:tc>
                <a:tc>
                  <a:txBody>
                    <a:bodyPr wrap="square"/>
                    <a:lstStyle/>
                    <a:p>
                      <a:pPr algn="ctr"/>
                      <a:r>
                        <a:rPr sz="900" b="0">
                          <a:solidFill>
                            <a:srgbClr val="1E2833"/>
                          </a:solidFill>
                          <a:latin typeface="Segoe UI"/>
                        </a:rPr>
                        <a:t>—</a:t>
                      </a:r>
                    </a:p>
                  </a:txBody>
                  <a:tcPr marL="54864" marR="54864" marT="18288" marB="18288" anchor="ctr">
                    <a:solidFill>
                      <a:srgbClr val="F6F8FA"/>
                    </a:solidFill>
                  </a:tcPr>
                </a:tc>
                <a:tc>
                  <a:txBody>
                    <a:bodyPr wrap="square"/>
                    <a:lstStyle/>
                    <a:p>
                      <a:pPr algn="l"/>
                      <a:r>
                        <a:rPr sz="900" b="0">
                          <a:solidFill>
                            <a:srgbClr val="1E2833"/>
                          </a:solidFill>
                          <a:latin typeface="Segoe UI"/>
                        </a:rPr>
                        <a:t>AntiSparkFilter, Battery</a:t>
                      </a:r>
                    </a:p>
                  </a:txBody>
                  <a:tcPr marL="54864" marR="54864" marT="18288" marB="18288" anchor="ctr">
                    <a:solidFill>
                      <a:srgbClr val="F6F8FA"/>
                    </a:solidFill>
                  </a:tcPr>
                </a:tc>
              </a:tr>
              <a:tr h="274320">
                <a:tc>
                  <a:txBody>
                    <a:bodyPr wrap="square"/>
                    <a:lstStyle/>
                    <a:p>
                      <a:pPr algn="l"/>
                      <a:r>
                        <a:rPr sz="900" b="0">
                          <a:solidFill>
                            <a:srgbClr val="1E2833"/>
                          </a:solidFill>
                          <a:latin typeface="Segoe UI"/>
                        </a:rPr>
                        <a:t>R4_BAT_VOLT</a:t>
                      </a:r>
                    </a:p>
                  </a:txBody>
                  <a:tcPr marL="54864" marR="54864" marT="18288" marB="18288" anchor="ctr">
                    <a:solidFill>
                      <a:srgbClr val="FFFFFF"/>
                    </a:solidFill>
                  </a:tcPr>
                </a:tc>
                <a:tc>
                  <a:txBody>
                    <a:bodyPr wrap="square"/>
                    <a:lstStyle/>
                    <a:p>
                      <a:pPr algn="l"/>
                      <a:r>
                        <a:rPr sz="900" b="0">
                          <a:solidFill>
                            <a:srgbClr val="1E2833"/>
                          </a:solidFill>
                          <a:latin typeface="Segoe UI"/>
                        </a:rPr>
                        <a:t>The battery nominal voltage shall be within the operating input…</a:t>
                      </a:r>
                    </a:p>
                  </a:txBody>
                  <a:tcPr marL="54864" marR="54864" marT="18288" marB="18288" anchor="ctr">
                    <a:solidFill>
                      <a:srgbClr val="FFFFFF"/>
                    </a:solidFill>
                  </a:tcPr>
                </a:tc>
                <a:tc>
                  <a:txBody>
                    <a:bodyPr wrap="square"/>
                    <a:lstStyle/>
                    <a:p>
                      <a:pPr algn="ctr"/>
                      <a:r>
                        <a:rPr sz="900" b="0">
                          <a:solidFill>
                            <a:srgbClr val="1E2833"/>
                          </a:solidFill>
                          <a:latin typeface="Segoe UI"/>
                        </a:rPr>
                        <a:t>—</a:t>
                      </a:r>
                    </a:p>
                  </a:txBody>
                  <a:tcPr marL="54864" marR="54864" marT="18288" marB="18288" anchor="ctr">
                    <a:solidFill>
                      <a:srgbClr val="FFFFFF"/>
                    </a:solidFill>
                  </a:tcPr>
                </a:tc>
                <a:tc>
                  <a:txBody>
                    <a:bodyPr wrap="square"/>
                    <a:lstStyle/>
                    <a:p>
                      <a:pPr algn="l"/>
                      <a:r>
                        <a:rPr sz="900" b="0">
                          <a:solidFill>
                            <a:srgbClr val="1E2833"/>
                          </a:solidFill>
                          <a:latin typeface="Segoe UI"/>
                        </a:rPr>
                        <a:t>Battery</a:t>
                      </a:r>
                    </a:p>
                  </a:txBody>
                  <a:tcPr marL="54864" marR="54864" marT="18288" marB="18288" anchor="ctr">
                    <a:solidFill>
                      <a:srgbClr val="FFFFFF"/>
                    </a:solidFill>
                  </a:tcPr>
                </a:tc>
              </a:tr>
              <a:tr h="274320">
                <a:tc>
                  <a:txBody>
                    <a:bodyPr wrap="square"/>
                    <a:lstStyle/>
                    <a:p>
                      <a:pPr algn="l"/>
                      <a:r>
                        <a:rPr sz="900" b="0">
                          <a:solidFill>
                            <a:srgbClr val="1E2833"/>
                          </a:solidFill>
                          <a:latin typeface="Segoe UI"/>
                        </a:rPr>
                        <a:t>R4_BAT_WT</a:t>
                      </a:r>
                    </a:p>
                  </a:txBody>
                  <a:tcPr marL="54864" marR="54864" marT="18288" marB="18288" anchor="ctr">
                    <a:solidFill>
                      <a:srgbClr val="F6F8FA"/>
                    </a:solidFill>
                  </a:tcPr>
                </a:tc>
                <a:tc>
                  <a:txBody>
                    <a:bodyPr wrap="square"/>
                    <a:lstStyle/>
                    <a:p>
                      <a:pPr algn="l"/>
                      <a:r>
                        <a:rPr sz="900" b="0">
                          <a:solidFill>
                            <a:srgbClr val="1E2833"/>
                          </a:solidFill>
                          <a:latin typeface="Segoe UI"/>
                        </a:rPr>
                        <a:t>The battery mass shall not exceed the payload capacity of the…</a:t>
                      </a:r>
                    </a:p>
                  </a:txBody>
                  <a:tcPr marL="54864" marR="54864" marT="18288" marB="18288" anchor="ctr">
                    <a:solidFill>
                      <a:srgbClr val="F6F8FA"/>
                    </a:solidFill>
                  </a:tcPr>
                </a:tc>
                <a:tc>
                  <a:txBody>
                    <a:bodyPr wrap="square"/>
                    <a:lstStyle/>
                    <a:p>
                      <a:pPr algn="ctr"/>
                      <a:r>
                        <a:rPr sz="900" b="0">
                          <a:solidFill>
                            <a:srgbClr val="1E2833"/>
                          </a:solidFill>
                          <a:latin typeface="Segoe UI"/>
                        </a:rPr>
                        <a:t>—</a:t>
                      </a:r>
                    </a:p>
                  </a:txBody>
                  <a:tcPr marL="54864" marR="54864" marT="18288" marB="18288" anchor="ctr">
                    <a:solidFill>
                      <a:srgbClr val="F6F8FA"/>
                    </a:solidFill>
                  </a:tcPr>
                </a:tc>
                <a:tc>
                  <a:txBody>
                    <a:bodyPr wrap="square"/>
                    <a:lstStyle/>
                    <a:p>
                      <a:pPr algn="l"/>
                      <a:r>
                        <a:rPr sz="900" b="0">
                          <a:solidFill>
                            <a:srgbClr val="1E2833"/>
                          </a:solidFill>
                          <a:latin typeface="Segoe UI"/>
                        </a:rPr>
                        <a:t>Battery</a:t>
                      </a:r>
                    </a:p>
                  </a:txBody>
                  <a:tcPr marL="54864" marR="54864" marT="18288" marB="18288" anchor="ctr">
                    <a:solidFill>
                      <a:srgbClr val="F6F8FA"/>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1 · REQUIREMENTS  ·  RTM</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RTM — SBC (Onboard Compute) &amp; Ground Control Subsystems</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11</a:t>
            </a:r>
          </a:p>
        </p:txBody>
      </p:sp>
      <p:graphicFrame>
        <p:nvGraphicFramePr>
          <p:cNvPr id="9" name="Table 8"/>
          <p:cNvGraphicFramePr>
            <a:graphicFrameLocks noGrp="1"/>
          </p:cNvGraphicFramePr>
          <p:nvPr/>
        </p:nvGraphicFramePr>
        <p:xfrm>
          <a:off x="566928" y="1207008"/>
          <a:ext cx="11055096" cy="4334256"/>
        </p:xfrm>
        <a:graphic>
          <a:graphicData uri="http://schemas.openxmlformats.org/drawingml/2006/table">
            <a:tbl>
              <a:tblPr>
                <a:tableStyleId>{5C22544A-7EE6-4342-B048-85BDC9FD1C3A}</a:tableStyleId>
              </a:tblPr>
              <a:tblGrid>
                <a:gridCol w="2148840"/>
                <a:gridCol w="5477256"/>
                <a:gridCol w="1234440"/>
                <a:gridCol w="2194560"/>
              </a:tblGrid>
              <a:tr h="310896">
                <a:tc>
                  <a:txBody>
                    <a:bodyPr wrap="square"/>
                    <a:lstStyle/>
                    <a:p>
                      <a:pPr algn="l"/>
                      <a:r>
                        <a:rPr sz="1000" b="1">
                          <a:solidFill>
                            <a:srgbClr val="FFFFFF"/>
                          </a:solidFill>
                          <a:latin typeface="Segoe UI"/>
                        </a:rPr>
                        <a:t>Requirement ID</a:t>
                      </a:r>
                    </a:p>
                  </a:txBody>
                  <a:tcPr marL="54864" marR="54864" marT="18288" marB="18288" anchor="ctr">
                    <a:solidFill>
                      <a:srgbClr val="0F2540"/>
                    </a:solidFill>
                  </a:tcPr>
                </a:tc>
                <a:tc>
                  <a:txBody>
                    <a:bodyPr wrap="square"/>
                    <a:lstStyle/>
                    <a:p>
                      <a:pPr algn="l"/>
                      <a:r>
                        <a:rPr sz="1000" b="1">
                          <a:solidFill>
                            <a:srgbClr val="FFFFFF"/>
                          </a:solidFill>
                          <a:latin typeface="Segoe UI"/>
                        </a:rPr>
                        <a:t>Requirement (abridged)</a:t>
                      </a:r>
                    </a:p>
                  </a:txBody>
                  <a:tcPr marL="54864" marR="54864" marT="18288" marB="18288" anchor="ctr">
                    <a:solidFill>
                      <a:srgbClr val="0F2540"/>
                    </a:solidFill>
                  </a:tcPr>
                </a:tc>
                <a:tc>
                  <a:txBody>
                    <a:bodyPr wrap="square"/>
                    <a:lstStyle/>
                    <a:p>
                      <a:pPr algn="ctr"/>
                      <a:r>
                        <a:rPr sz="1000" b="1">
                          <a:solidFill>
                            <a:srgbClr val="FFFFFF"/>
                          </a:solidFill>
                          <a:latin typeface="Segoe UI"/>
                        </a:rPr>
                        <a:t>Parent</a:t>
                      </a:r>
                    </a:p>
                  </a:txBody>
                  <a:tcPr marL="54864" marR="54864" marT="18288" marB="18288" anchor="ctr">
                    <a:solidFill>
                      <a:srgbClr val="0F2540"/>
                    </a:solidFill>
                  </a:tcPr>
                </a:tc>
                <a:tc>
                  <a:txBody>
                    <a:bodyPr wrap="square"/>
                    <a:lstStyle/>
                    <a:p>
                      <a:pPr algn="l"/>
                      <a:r>
                        <a:rPr sz="1000" b="1">
                          <a:solidFill>
                            <a:srgbClr val="FFFFFF"/>
                          </a:solidFill>
                          <a:latin typeface="Segoe UI"/>
                        </a:rPr>
                        <a:t>Allocated to</a:t>
                      </a:r>
                    </a:p>
                  </a:txBody>
                  <a:tcPr marL="54864" marR="54864" marT="18288" marB="18288" anchor="ctr">
                    <a:solidFill>
                      <a:srgbClr val="0F2540"/>
                    </a:solidFill>
                  </a:tcPr>
                </a:tc>
              </a:tr>
              <a:tr h="251460">
                <a:tc>
                  <a:txBody>
                    <a:bodyPr wrap="square"/>
                    <a:lstStyle/>
                    <a:p>
                      <a:pPr algn="l"/>
                      <a:r>
                        <a:rPr sz="900" b="0">
                          <a:solidFill>
                            <a:srgbClr val="1E2833"/>
                          </a:solidFill>
                          <a:latin typeface="Segoe UI"/>
                        </a:rPr>
                        <a:t>R4_GCS_BAT</a:t>
                      </a:r>
                    </a:p>
                  </a:txBody>
                  <a:tcPr marL="54864" marR="54864" marT="18288" marB="18288" anchor="ctr">
                    <a:solidFill>
                      <a:srgbClr val="FFFFFF"/>
                    </a:solidFill>
                  </a:tcPr>
                </a:tc>
                <a:tc>
                  <a:txBody>
                    <a:bodyPr wrap="square"/>
                    <a:lstStyle/>
                    <a:p>
                      <a:pPr algn="l"/>
                      <a:r>
                        <a:rPr sz="900" b="0">
                          <a:solidFill>
                            <a:srgbClr val="1E2833"/>
                          </a:solidFill>
                          <a:latin typeface="Segoe UI"/>
                        </a:rPr>
                        <a:t>The GCS shall operate on internal battery power for a duration…</a:t>
                      </a:r>
                    </a:p>
                  </a:txBody>
                  <a:tcPr marL="54864" marR="54864" marT="18288" marB="18288" anchor="ctr">
                    <a:solidFill>
                      <a:srgbClr val="FFFFFF"/>
                    </a:solidFill>
                  </a:tcPr>
                </a:tc>
                <a:tc>
                  <a:txBody>
                    <a:bodyPr wrap="square"/>
                    <a:lstStyle/>
                    <a:p>
                      <a:pPr algn="ctr"/>
                      <a:r>
                        <a:rPr sz="900" b="0">
                          <a:solidFill>
                            <a:srgbClr val="1E2833"/>
                          </a:solidFill>
                          <a:latin typeface="Segoe UI"/>
                        </a:rPr>
                        <a:t>—</a:t>
                      </a:r>
                    </a:p>
                  </a:txBody>
                  <a:tcPr marL="54864" marR="54864" marT="18288" marB="18288" anchor="ctr">
                    <a:solidFill>
                      <a:srgbClr val="FFFFFF"/>
                    </a:solidFill>
                  </a:tcPr>
                </a:tc>
                <a:tc>
                  <a:txBody>
                    <a:bodyPr wrap="square"/>
                    <a:lstStyle/>
                    <a:p>
                      <a:pPr algn="l"/>
                      <a:r>
                        <a:rPr sz="900" b="0">
                          <a:solidFill>
                            <a:srgbClr val="1E2833"/>
                          </a:solidFill>
                          <a:latin typeface="Segoe UI"/>
                        </a:rPr>
                        <a:t>GCS</a:t>
                      </a:r>
                    </a:p>
                  </a:txBody>
                  <a:tcPr marL="54864" marR="54864" marT="18288" marB="18288" anchor="ctr">
                    <a:solidFill>
                      <a:srgbClr val="FFFFFF"/>
                    </a:solidFill>
                  </a:tcPr>
                </a:tc>
              </a:tr>
              <a:tr h="251460">
                <a:tc>
                  <a:txBody>
                    <a:bodyPr wrap="square"/>
                    <a:lstStyle/>
                    <a:p>
                      <a:pPr algn="l"/>
                      <a:r>
                        <a:rPr sz="900" b="0">
                          <a:solidFill>
                            <a:srgbClr val="1E2833"/>
                          </a:solidFill>
                          <a:latin typeface="Segoe UI"/>
                        </a:rPr>
                        <a:t>R4_GCS_COST</a:t>
                      </a:r>
                    </a:p>
                  </a:txBody>
                  <a:tcPr marL="54864" marR="54864" marT="18288" marB="18288" anchor="ctr">
                    <a:solidFill>
                      <a:srgbClr val="F6F8FA"/>
                    </a:solidFill>
                  </a:tcPr>
                </a:tc>
                <a:tc>
                  <a:txBody>
                    <a:bodyPr wrap="square"/>
                    <a:lstStyle/>
                    <a:p>
                      <a:pPr algn="l"/>
                      <a:r>
                        <a:rPr sz="900" b="0">
                          <a:solidFill>
                            <a:srgbClr val="1E2833"/>
                          </a:solidFill>
                          <a:latin typeface="Segoe UI"/>
                        </a:rPr>
                        <a:t>The GCS cost, when summed with all other subsystem costs, shall not…</a:t>
                      </a:r>
                    </a:p>
                  </a:txBody>
                  <a:tcPr marL="54864" marR="54864" marT="18288" marB="18288" anchor="ctr">
                    <a:solidFill>
                      <a:srgbClr val="F6F8FA"/>
                    </a:solidFill>
                  </a:tcPr>
                </a:tc>
                <a:tc>
                  <a:txBody>
                    <a:bodyPr wrap="square"/>
                    <a:lstStyle/>
                    <a:p>
                      <a:pPr algn="ctr"/>
                      <a:r>
                        <a:rPr sz="900" b="0">
                          <a:solidFill>
                            <a:srgbClr val="1E2833"/>
                          </a:solidFill>
                          <a:latin typeface="Segoe UI"/>
                        </a:rPr>
                        <a:t>R4</a:t>
                      </a:r>
                    </a:p>
                  </a:txBody>
                  <a:tcPr marL="54864" marR="54864" marT="18288" marB="18288" anchor="ctr">
                    <a:solidFill>
                      <a:srgbClr val="F6F8FA"/>
                    </a:solidFill>
                  </a:tcPr>
                </a:tc>
                <a:tc>
                  <a:txBody>
                    <a:bodyPr wrap="square"/>
                    <a:lstStyle/>
                    <a:p>
                      <a:pPr algn="l"/>
                      <a:r>
                        <a:rPr sz="900" b="0">
                          <a:solidFill>
                            <a:srgbClr val="1E2833"/>
                          </a:solidFill>
                          <a:latin typeface="Segoe UI"/>
                        </a:rPr>
                        <a:t>GCS</a:t>
                      </a:r>
                    </a:p>
                  </a:txBody>
                  <a:tcPr marL="54864" marR="54864" marT="18288" marB="18288" anchor="ctr">
                    <a:solidFill>
                      <a:srgbClr val="F6F8FA"/>
                    </a:solidFill>
                  </a:tcPr>
                </a:tc>
              </a:tr>
              <a:tr h="251460">
                <a:tc>
                  <a:txBody>
                    <a:bodyPr wrap="square"/>
                    <a:lstStyle/>
                    <a:p>
                      <a:pPr algn="l"/>
                      <a:r>
                        <a:rPr sz="900" b="0">
                          <a:solidFill>
                            <a:srgbClr val="1E2833"/>
                          </a:solidFill>
                          <a:latin typeface="Segoe UI"/>
                        </a:rPr>
                        <a:t>R4_GCS_CTRL</a:t>
                      </a:r>
                    </a:p>
                  </a:txBody>
                  <a:tcPr marL="54864" marR="54864" marT="18288" marB="18288" anchor="ctr">
                    <a:solidFill>
                      <a:srgbClr val="FFFFFF"/>
                    </a:solidFill>
                  </a:tcPr>
                </a:tc>
                <a:tc>
                  <a:txBody>
                    <a:bodyPr wrap="square"/>
                    <a:lstStyle/>
                    <a:p>
                      <a:pPr algn="l"/>
                      <a:r>
                        <a:rPr sz="900" b="0">
                          <a:solidFill>
                            <a:srgbClr val="1E2833"/>
                          </a:solidFill>
                          <a:latin typeface="Segoe UI"/>
                        </a:rPr>
                        <a:t>The GCS shall provide flight control inputs (throttle, roll, pitch,…</a:t>
                      </a:r>
                    </a:p>
                  </a:txBody>
                  <a:tcPr marL="54864" marR="54864" marT="18288" marB="18288" anchor="ctr">
                    <a:solidFill>
                      <a:srgbClr val="FFFFFF"/>
                    </a:solidFill>
                  </a:tcPr>
                </a:tc>
                <a:tc>
                  <a:txBody>
                    <a:bodyPr wrap="square"/>
                    <a:lstStyle/>
                    <a:p>
                      <a:pPr algn="ctr"/>
                      <a:r>
                        <a:rPr sz="900" b="0">
                          <a:solidFill>
                            <a:srgbClr val="1E2833"/>
                          </a:solidFill>
                          <a:latin typeface="Segoe UI"/>
                        </a:rPr>
                        <a:t>—</a:t>
                      </a:r>
                    </a:p>
                  </a:txBody>
                  <a:tcPr marL="54864" marR="54864" marT="18288" marB="18288" anchor="ctr">
                    <a:solidFill>
                      <a:srgbClr val="FFFFFF"/>
                    </a:solidFill>
                  </a:tcPr>
                </a:tc>
                <a:tc>
                  <a:txBody>
                    <a:bodyPr wrap="square"/>
                    <a:lstStyle/>
                    <a:p>
                      <a:pPr algn="l"/>
                      <a:r>
                        <a:rPr sz="900" b="0">
                          <a:solidFill>
                            <a:srgbClr val="1E2833"/>
                          </a:solidFill>
                          <a:latin typeface="Segoe UI"/>
                        </a:rPr>
                        <a:t>GCS, RcTx</a:t>
                      </a:r>
                    </a:p>
                  </a:txBody>
                  <a:tcPr marL="54864" marR="54864" marT="18288" marB="18288" anchor="ctr">
                    <a:solidFill>
                      <a:srgbClr val="FFFFFF"/>
                    </a:solidFill>
                  </a:tcPr>
                </a:tc>
              </a:tr>
              <a:tr h="251460">
                <a:tc>
                  <a:txBody>
                    <a:bodyPr wrap="square"/>
                    <a:lstStyle/>
                    <a:p>
                      <a:pPr algn="l"/>
                      <a:r>
                        <a:rPr sz="900" b="0">
                          <a:solidFill>
                            <a:srgbClr val="1E2833"/>
                          </a:solidFill>
                          <a:latin typeface="Segoe UI"/>
                        </a:rPr>
                        <a:t>R4_GCS_IF</a:t>
                      </a:r>
                    </a:p>
                  </a:txBody>
                  <a:tcPr marL="54864" marR="54864" marT="18288" marB="18288" anchor="ctr">
                    <a:solidFill>
                      <a:srgbClr val="F6F8FA"/>
                    </a:solidFill>
                  </a:tcPr>
                </a:tc>
                <a:tc>
                  <a:txBody>
                    <a:bodyPr wrap="square"/>
                    <a:lstStyle/>
                    <a:p>
                      <a:pPr algn="l"/>
                      <a:r>
                        <a:rPr sz="900" b="0">
                          <a:solidFill>
                            <a:srgbClr val="1E2833"/>
                          </a:solidFill>
                          <a:latin typeface="Segoe UI"/>
                        </a:rPr>
                        <a:t>The GCS receiver and transmitter shall be compatible with the drone's…</a:t>
                      </a:r>
                    </a:p>
                  </a:txBody>
                  <a:tcPr marL="54864" marR="54864" marT="18288" marB="18288" anchor="ctr">
                    <a:solidFill>
                      <a:srgbClr val="F6F8FA"/>
                    </a:solidFill>
                  </a:tcPr>
                </a:tc>
                <a:tc>
                  <a:txBody>
                    <a:bodyPr wrap="square"/>
                    <a:lstStyle/>
                    <a:p>
                      <a:pPr algn="ctr"/>
                      <a:r>
                        <a:rPr sz="900" b="0">
                          <a:solidFill>
                            <a:srgbClr val="1E2833"/>
                          </a:solidFill>
                          <a:latin typeface="Segoe UI"/>
                        </a:rPr>
                        <a:t>—</a:t>
                      </a:r>
                    </a:p>
                  </a:txBody>
                  <a:tcPr marL="54864" marR="54864" marT="18288" marB="18288" anchor="ctr">
                    <a:solidFill>
                      <a:srgbClr val="F6F8FA"/>
                    </a:solidFill>
                  </a:tcPr>
                </a:tc>
                <a:tc>
                  <a:txBody>
                    <a:bodyPr wrap="square"/>
                    <a:lstStyle/>
                    <a:p>
                      <a:pPr algn="l"/>
                      <a:r>
                        <a:rPr sz="900" b="0">
                          <a:solidFill>
                            <a:srgbClr val="1E2833"/>
                          </a:solidFill>
                          <a:latin typeface="Segoe UI"/>
                        </a:rPr>
                        <a:t>GCS</a:t>
                      </a:r>
                    </a:p>
                  </a:txBody>
                  <a:tcPr marL="54864" marR="54864" marT="18288" marB="18288" anchor="ctr">
                    <a:solidFill>
                      <a:srgbClr val="F6F8FA"/>
                    </a:solidFill>
                  </a:tcPr>
                </a:tc>
              </a:tr>
              <a:tr h="251460">
                <a:tc>
                  <a:txBody>
                    <a:bodyPr wrap="square"/>
                    <a:lstStyle/>
                    <a:p>
                      <a:pPr algn="l"/>
                      <a:r>
                        <a:rPr sz="900" b="0">
                          <a:solidFill>
                            <a:srgbClr val="1E2833"/>
                          </a:solidFill>
                          <a:latin typeface="Segoe UI"/>
                        </a:rPr>
                        <a:t>R4_GCS_RANGE</a:t>
                      </a:r>
                    </a:p>
                  </a:txBody>
                  <a:tcPr marL="54864" marR="54864" marT="18288" marB="18288" anchor="ctr">
                    <a:solidFill>
                      <a:srgbClr val="FFFFFF"/>
                    </a:solidFill>
                  </a:tcPr>
                </a:tc>
                <a:tc>
                  <a:txBody>
                    <a:bodyPr wrap="square"/>
                    <a:lstStyle/>
                    <a:p>
                      <a:pPr algn="l"/>
                      <a:r>
                        <a:rPr sz="900" b="0">
                          <a:solidFill>
                            <a:srgbClr val="1E2833"/>
                          </a:solidFill>
                          <a:latin typeface="Segoe UI"/>
                        </a:rPr>
                        <a:t>The GCS control link and video receiver shall maintain a reliable…</a:t>
                      </a:r>
                    </a:p>
                  </a:txBody>
                  <a:tcPr marL="54864" marR="54864" marT="18288" marB="18288" anchor="ctr">
                    <a:solidFill>
                      <a:srgbClr val="FFFFFF"/>
                    </a:solidFill>
                  </a:tcPr>
                </a:tc>
                <a:tc>
                  <a:txBody>
                    <a:bodyPr wrap="square"/>
                    <a:lstStyle/>
                    <a:p>
                      <a:pPr algn="ctr"/>
                      <a:r>
                        <a:rPr sz="900" b="0">
                          <a:solidFill>
                            <a:srgbClr val="1E2833"/>
                          </a:solidFill>
                          <a:latin typeface="Segoe UI"/>
                        </a:rPr>
                        <a:t>R7</a:t>
                      </a:r>
                    </a:p>
                  </a:txBody>
                  <a:tcPr marL="54864" marR="54864" marT="18288" marB="18288" anchor="ctr">
                    <a:solidFill>
                      <a:srgbClr val="FFFFFF"/>
                    </a:solidFill>
                  </a:tcPr>
                </a:tc>
                <a:tc>
                  <a:txBody>
                    <a:bodyPr wrap="square"/>
                    <a:lstStyle/>
                    <a:p>
                      <a:pPr algn="l"/>
                      <a:r>
                        <a:rPr sz="900" b="0">
                          <a:solidFill>
                            <a:srgbClr val="1E2833"/>
                          </a:solidFill>
                          <a:latin typeface="Segoe UI"/>
                        </a:rPr>
                        <a:t>Antenna, GCS, OhdGndRx,…</a:t>
                      </a:r>
                    </a:p>
                  </a:txBody>
                  <a:tcPr marL="54864" marR="54864" marT="18288" marB="18288" anchor="ctr">
                    <a:solidFill>
                      <a:srgbClr val="FFFFFF"/>
                    </a:solidFill>
                  </a:tcPr>
                </a:tc>
              </a:tr>
              <a:tr h="251460">
                <a:tc>
                  <a:txBody>
                    <a:bodyPr wrap="square"/>
                    <a:lstStyle/>
                    <a:p>
                      <a:pPr algn="l"/>
                      <a:r>
                        <a:rPr sz="900" b="0">
                          <a:solidFill>
                            <a:srgbClr val="1E2833"/>
                          </a:solidFill>
                          <a:latin typeface="Segoe UI"/>
                        </a:rPr>
                        <a:t>R4_GCS_SWEEP_SPACING</a:t>
                      </a:r>
                    </a:p>
                  </a:txBody>
                  <a:tcPr marL="54864" marR="54864" marT="18288" marB="18288" anchor="ctr">
                    <a:solidFill>
                      <a:srgbClr val="F6F8FA"/>
                    </a:solidFill>
                  </a:tcPr>
                </a:tc>
                <a:tc>
                  <a:txBody>
                    <a:bodyPr wrap="square"/>
                    <a:lstStyle/>
                    <a:p>
                      <a:pPr algn="l"/>
                      <a:r>
                        <a:rPr sz="900" b="0">
                          <a:solidFill>
                            <a:srgbClr val="1E2833"/>
                          </a:solidFill>
                          <a:latin typeface="Segoe UI"/>
                        </a:rPr>
                        <a:t>The flight planning software shall generate survey routes whose…</a:t>
                      </a:r>
                    </a:p>
                  </a:txBody>
                  <a:tcPr marL="54864" marR="54864" marT="18288" marB="18288" anchor="ctr">
                    <a:solidFill>
                      <a:srgbClr val="F6F8FA"/>
                    </a:solidFill>
                  </a:tcPr>
                </a:tc>
                <a:tc>
                  <a:txBody>
                    <a:bodyPr wrap="square"/>
                    <a:lstStyle/>
                    <a:p>
                      <a:pPr algn="ctr"/>
                      <a:r>
                        <a:rPr sz="900" b="0">
                          <a:solidFill>
                            <a:srgbClr val="1E2833"/>
                          </a:solidFill>
                          <a:latin typeface="Segoe UI"/>
                        </a:rPr>
                        <a:t>R9</a:t>
                      </a:r>
                    </a:p>
                  </a:txBody>
                  <a:tcPr marL="54864" marR="54864" marT="18288" marB="18288" anchor="ctr">
                    <a:solidFill>
                      <a:srgbClr val="F6F8FA"/>
                    </a:solidFill>
                  </a:tcPr>
                </a:tc>
                <a:tc>
                  <a:txBody>
                    <a:bodyPr wrap="square"/>
                    <a:lstStyle/>
                    <a:p>
                      <a:pPr algn="l"/>
                      <a:r>
                        <a:rPr sz="900" b="0">
                          <a:solidFill>
                            <a:srgbClr val="1E2833"/>
                          </a:solidFill>
                          <a:latin typeface="Segoe UI"/>
                        </a:rPr>
                        <a:t>planRoute</a:t>
                      </a:r>
                    </a:p>
                  </a:txBody>
                  <a:tcPr marL="54864" marR="54864" marT="18288" marB="18288" anchor="ctr">
                    <a:solidFill>
                      <a:srgbClr val="F6F8FA"/>
                    </a:solidFill>
                  </a:tcPr>
                </a:tc>
              </a:tr>
              <a:tr h="251460">
                <a:tc>
                  <a:txBody>
                    <a:bodyPr wrap="square"/>
                    <a:lstStyle/>
                    <a:p>
                      <a:pPr algn="l"/>
                      <a:r>
                        <a:rPr sz="900" b="0">
                          <a:solidFill>
                            <a:srgbClr val="1E2833"/>
                          </a:solidFill>
                          <a:latin typeface="Segoe UI"/>
                        </a:rPr>
                        <a:t>R4_GCS_TELEM</a:t>
                      </a:r>
                    </a:p>
                  </a:txBody>
                  <a:tcPr marL="54864" marR="54864" marT="18288" marB="18288" anchor="ctr">
                    <a:solidFill>
                      <a:srgbClr val="FFFFFF"/>
                    </a:solidFill>
                  </a:tcPr>
                </a:tc>
                <a:tc>
                  <a:txBody>
                    <a:bodyPr wrap="square"/>
                    <a:lstStyle/>
                    <a:p>
                      <a:pPr algn="l"/>
                      <a:r>
                        <a:rPr sz="900" b="0">
                          <a:solidFill>
                            <a:srgbClr val="1E2833"/>
                          </a:solidFill>
                          <a:latin typeface="Segoe UI"/>
                        </a:rPr>
                        <a:t>The GCS display shall present real-time drone telemetry data…</a:t>
                      </a:r>
                    </a:p>
                  </a:txBody>
                  <a:tcPr marL="54864" marR="54864" marT="18288" marB="18288" anchor="ctr">
                    <a:solidFill>
                      <a:srgbClr val="FFFFFF"/>
                    </a:solidFill>
                  </a:tcPr>
                </a:tc>
                <a:tc>
                  <a:txBody>
                    <a:bodyPr wrap="square"/>
                    <a:lstStyle/>
                    <a:p>
                      <a:pPr algn="ctr"/>
                      <a:r>
                        <a:rPr sz="900" b="0">
                          <a:solidFill>
                            <a:srgbClr val="1E2833"/>
                          </a:solidFill>
                          <a:latin typeface="Segoe UI"/>
                        </a:rPr>
                        <a:t>—</a:t>
                      </a:r>
                    </a:p>
                  </a:txBody>
                  <a:tcPr marL="54864" marR="54864" marT="18288" marB="18288" anchor="ctr">
                    <a:solidFill>
                      <a:srgbClr val="FFFFFF"/>
                    </a:solidFill>
                  </a:tcPr>
                </a:tc>
                <a:tc>
                  <a:txBody>
                    <a:bodyPr wrap="square"/>
                    <a:lstStyle/>
                    <a:p>
                      <a:pPr algn="l"/>
                      <a:r>
                        <a:rPr sz="900" b="0">
                          <a:solidFill>
                            <a:srgbClr val="1E2833"/>
                          </a:solidFill>
                          <a:latin typeface="Segoe UI"/>
                        </a:rPr>
                        <a:t>GCS, RcTx, gcsApp,…</a:t>
                      </a:r>
                    </a:p>
                  </a:txBody>
                  <a:tcPr marL="54864" marR="54864" marT="18288" marB="18288" anchor="ctr">
                    <a:solidFill>
                      <a:srgbClr val="FFFFFF"/>
                    </a:solidFill>
                  </a:tcPr>
                </a:tc>
              </a:tr>
              <a:tr h="251460">
                <a:tc>
                  <a:txBody>
                    <a:bodyPr wrap="square"/>
                    <a:lstStyle/>
                    <a:p>
                      <a:pPr algn="l"/>
                      <a:r>
                        <a:rPr sz="900" b="0">
                          <a:solidFill>
                            <a:srgbClr val="1E2833"/>
                          </a:solidFill>
                          <a:latin typeface="Segoe UI"/>
                        </a:rPr>
                        <a:t>R4_GCS_VIDEO_DISP</a:t>
                      </a:r>
                    </a:p>
                  </a:txBody>
                  <a:tcPr marL="54864" marR="54864" marT="18288" marB="18288" anchor="ctr">
                    <a:solidFill>
                      <a:srgbClr val="F6F8FA"/>
                    </a:solidFill>
                  </a:tcPr>
                </a:tc>
                <a:tc>
                  <a:txBody>
                    <a:bodyPr wrap="square"/>
                    <a:lstStyle/>
                    <a:p>
                      <a:pPr algn="l"/>
                      <a:r>
                        <a:rPr sz="900" b="0">
                          <a:solidFill>
                            <a:srgbClr val="1E2833"/>
                          </a:solidFill>
                          <a:latin typeface="Segoe UI"/>
                        </a:rPr>
                        <a:t>The GCS display shall render the thermal video feed at sufficient…</a:t>
                      </a:r>
                    </a:p>
                  </a:txBody>
                  <a:tcPr marL="54864" marR="54864" marT="18288" marB="18288" anchor="ctr">
                    <a:solidFill>
                      <a:srgbClr val="F6F8FA"/>
                    </a:solidFill>
                  </a:tcPr>
                </a:tc>
                <a:tc>
                  <a:txBody>
                    <a:bodyPr wrap="square"/>
                    <a:lstStyle/>
                    <a:p>
                      <a:pPr algn="ctr"/>
                      <a:r>
                        <a:rPr sz="900" b="0">
                          <a:solidFill>
                            <a:srgbClr val="1E2833"/>
                          </a:solidFill>
                          <a:latin typeface="Segoe UI"/>
                        </a:rPr>
                        <a:t>R3</a:t>
                      </a:r>
                    </a:p>
                  </a:txBody>
                  <a:tcPr marL="54864" marR="54864" marT="18288" marB="18288" anchor="ctr">
                    <a:solidFill>
                      <a:srgbClr val="F6F8FA"/>
                    </a:solidFill>
                  </a:tcPr>
                </a:tc>
                <a:tc>
                  <a:txBody>
                    <a:bodyPr wrap="square"/>
                    <a:lstStyle/>
                    <a:p>
                      <a:pPr algn="l"/>
                      <a:r>
                        <a:rPr sz="900" b="0">
                          <a:solidFill>
                            <a:srgbClr val="1E2833"/>
                          </a:solidFill>
                          <a:latin typeface="Segoe UI"/>
                        </a:rPr>
                        <a:t>GCS, OhdGndRx, OhdWifiTx,…</a:t>
                      </a:r>
                    </a:p>
                  </a:txBody>
                  <a:tcPr marL="54864" marR="54864" marT="18288" marB="18288" anchor="ctr">
                    <a:solidFill>
                      <a:srgbClr val="F6F8FA"/>
                    </a:solidFill>
                  </a:tcPr>
                </a:tc>
              </a:tr>
              <a:tr h="251460">
                <a:tc>
                  <a:txBody>
                    <a:bodyPr wrap="square"/>
                    <a:lstStyle/>
                    <a:p>
                      <a:pPr algn="l"/>
                      <a:r>
                        <a:rPr sz="900" b="0">
                          <a:solidFill>
                            <a:srgbClr val="1E2833"/>
                          </a:solidFill>
                          <a:latin typeface="Segoe UI"/>
                        </a:rPr>
                        <a:t>R4_GCS_WT</a:t>
                      </a:r>
                    </a:p>
                  </a:txBody>
                  <a:tcPr marL="54864" marR="54864" marT="18288" marB="18288" anchor="ctr">
                    <a:solidFill>
                      <a:srgbClr val="FFFFFF"/>
                    </a:solidFill>
                  </a:tcPr>
                </a:tc>
                <a:tc>
                  <a:txBody>
                    <a:bodyPr wrap="square"/>
                    <a:lstStyle/>
                    <a:p>
                      <a:pPr algn="l"/>
                      <a:r>
                        <a:rPr sz="900" b="0">
                          <a:solidFill>
                            <a:srgbClr val="1E2833"/>
                          </a:solidFill>
                          <a:latin typeface="Segoe UI"/>
                        </a:rPr>
                        <a:t>The GCS system (transmitter, display, antennas, battery) shall be…</a:t>
                      </a:r>
                    </a:p>
                  </a:txBody>
                  <a:tcPr marL="54864" marR="54864" marT="18288" marB="18288" anchor="ctr">
                    <a:solidFill>
                      <a:srgbClr val="FFFFFF"/>
                    </a:solidFill>
                  </a:tcPr>
                </a:tc>
                <a:tc>
                  <a:txBody>
                    <a:bodyPr wrap="square"/>
                    <a:lstStyle/>
                    <a:p>
                      <a:pPr algn="ctr"/>
                      <a:r>
                        <a:rPr sz="900" b="0">
                          <a:solidFill>
                            <a:srgbClr val="1E2833"/>
                          </a:solidFill>
                          <a:latin typeface="Segoe UI"/>
                        </a:rPr>
                        <a:t>—</a:t>
                      </a:r>
                    </a:p>
                  </a:txBody>
                  <a:tcPr marL="54864" marR="54864" marT="18288" marB="18288" anchor="ctr">
                    <a:solidFill>
                      <a:srgbClr val="FFFFFF"/>
                    </a:solidFill>
                  </a:tcPr>
                </a:tc>
                <a:tc>
                  <a:txBody>
                    <a:bodyPr wrap="square"/>
                    <a:lstStyle/>
                    <a:p>
                      <a:pPr algn="l"/>
                      <a:r>
                        <a:rPr sz="900" b="0">
                          <a:solidFill>
                            <a:srgbClr val="1E2833"/>
                          </a:solidFill>
                          <a:latin typeface="Segoe UI"/>
                        </a:rPr>
                        <a:t>GCS</a:t>
                      </a:r>
                    </a:p>
                  </a:txBody>
                  <a:tcPr marL="54864" marR="54864" marT="18288" marB="18288" anchor="ctr">
                    <a:solidFill>
                      <a:srgbClr val="FFFFFF"/>
                    </a:solidFill>
                  </a:tcPr>
                </a:tc>
              </a:tr>
              <a:tr h="251460">
                <a:tc>
                  <a:txBody>
                    <a:bodyPr wrap="square"/>
                    <a:lstStyle/>
                    <a:p>
                      <a:pPr algn="l"/>
                      <a:r>
                        <a:rPr sz="900" b="0">
                          <a:solidFill>
                            <a:srgbClr val="1E2833"/>
                          </a:solidFill>
                          <a:latin typeface="Segoe UI"/>
                        </a:rPr>
                        <a:t>R4_SBC_COST</a:t>
                      </a:r>
                    </a:p>
                  </a:txBody>
                  <a:tcPr marL="54864" marR="54864" marT="18288" marB="18288" anchor="ctr">
                    <a:solidFill>
                      <a:srgbClr val="F6F8FA"/>
                    </a:solidFill>
                  </a:tcPr>
                </a:tc>
                <a:tc>
                  <a:txBody>
                    <a:bodyPr wrap="square"/>
                    <a:lstStyle/>
                    <a:p>
                      <a:pPr algn="l"/>
                      <a:r>
                        <a:rPr sz="900" b="0">
                          <a:solidFill>
                            <a:srgbClr val="1E2833"/>
                          </a:solidFill>
                          <a:latin typeface="Segoe UI"/>
                        </a:rPr>
                        <a:t>The SBC cost shall not exceed 150 USD.</a:t>
                      </a:r>
                    </a:p>
                  </a:txBody>
                  <a:tcPr marL="54864" marR="54864" marT="18288" marB="18288" anchor="ctr">
                    <a:solidFill>
                      <a:srgbClr val="F6F8FA"/>
                    </a:solidFill>
                  </a:tcPr>
                </a:tc>
                <a:tc>
                  <a:txBody>
                    <a:bodyPr wrap="square"/>
                    <a:lstStyle/>
                    <a:p>
                      <a:pPr algn="ctr"/>
                      <a:r>
                        <a:rPr sz="900" b="0">
                          <a:solidFill>
                            <a:srgbClr val="1E2833"/>
                          </a:solidFill>
                          <a:latin typeface="Segoe UI"/>
                        </a:rPr>
                        <a:t>R4</a:t>
                      </a:r>
                    </a:p>
                  </a:txBody>
                  <a:tcPr marL="54864" marR="54864" marT="18288" marB="18288" anchor="ctr">
                    <a:solidFill>
                      <a:srgbClr val="F6F8FA"/>
                    </a:solidFill>
                  </a:tcPr>
                </a:tc>
                <a:tc>
                  <a:txBody>
                    <a:bodyPr wrap="square"/>
                    <a:lstStyle/>
                    <a:p>
                      <a:pPr algn="l"/>
                      <a:r>
                        <a:rPr sz="900" b="0">
                          <a:solidFill>
                            <a:srgbClr val="1E2833"/>
                          </a:solidFill>
                          <a:latin typeface="Segoe UI"/>
                        </a:rPr>
                        <a:t>SBCPayload</a:t>
                      </a:r>
                    </a:p>
                  </a:txBody>
                  <a:tcPr marL="54864" marR="54864" marT="18288" marB="18288" anchor="ctr">
                    <a:solidFill>
                      <a:srgbClr val="F6F8FA"/>
                    </a:solidFill>
                  </a:tcPr>
                </a:tc>
              </a:tr>
              <a:tr h="251460">
                <a:tc>
                  <a:txBody>
                    <a:bodyPr wrap="square"/>
                    <a:lstStyle/>
                    <a:p>
                      <a:pPr algn="l"/>
                      <a:r>
                        <a:rPr sz="900" b="0">
                          <a:solidFill>
                            <a:srgbClr val="1E2833"/>
                          </a:solidFill>
                          <a:latin typeface="Segoe UI"/>
                        </a:rPr>
                        <a:t>R4_SBC_DATA_AF</a:t>
                      </a:r>
                    </a:p>
                  </a:txBody>
                  <a:tcPr marL="54864" marR="54864" marT="18288" marB="18288" anchor="ctr">
                    <a:solidFill>
                      <a:srgbClr val="FFFFFF"/>
                    </a:solidFill>
                  </a:tcPr>
                </a:tc>
                <a:tc>
                  <a:txBody>
                    <a:bodyPr wrap="square"/>
                    <a:lstStyle/>
                    <a:p>
                      <a:pPr algn="l"/>
                      <a:r>
                        <a:rPr sz="900" b="0">
                          <a:solidFill>
                            <a:srgbClr val="1E2833"/>
                          </a:solidFill>
                          <a:latin typeface="Segoe UI"/>
                        </a:rPr>
                        <a:t>The SBC shall exchange telemetry and status data with the flight…</a:t>
                      </a:r>
                    </a:p>
                  </a:txBody>
                  <a:tcPr marL="54864" marR="54864" marT="18288" marB="18288" anchor="ctr">
                    <a:solidFill>
                      <a:srgbClr val="FFFFFF"/>
                    </a:solidFill>
                  </a:tcPr>
                </a:tc>
                <a:tc>
                  <a:txBody>
                    <a:bodyPr wrap="square"/>
                    <a:lstStyle/>
                    <a:p>
                      <a:pPr algn="ctr"/>
                      <a:r>
                        <a:rPr sz="900" b="0">
                          <a:solidFill>
                            <a:srgbClr val="1E2833"/>
                          </a:solidFill>
                          <a:latin typeface="Segoe UI"/>
                        </a:rPr>
                        <a:t>—</a:t>
                      </a:r>
                    </a:p>
                  </a:txBody>
                  <a:tcPr marL="54864" marR="54864" marT="18288" marB="18288" anchor="ctr">
                    <a:solidFill>
                      <a:srgbClr val="FFFFFF"/>
                    </a:solidFill>
                  </a:tcPr>
                </a:tc>
                <a:tc>
                  <a:txBody>
                    <a:bodyPr wrap="square"/>
                    <a:lstStyle/>
                    <a:p>
                      <a:pPr algn="l"/>
                      <a:r>
                        <a:rPr sz="900" b="0">
                          <a:solidFill>
                            <a:srgbClr val="1E2833"/>
                          </a:solidFill>
                          <a:latin typeface="Segoe UI"/>
                        </a:rPr>
                        <a:t>SBCPayload, mavlinkRouter</a:t>
                      </a:r>
                    </a:p>
                  </a:txBody>
                  <a:tcPr marL="54864" marR="54864" marT="18288" marB="18288" anchor="ctr">
                    <a:solidFill>
                      <a:srgbClr val="FFFFFF"/>
                    </a:solidFill>
                  </a:tcPr>
                </a:tc>
              </a:tr>
              <a:tr h="251460">
                <a:tc>
                  <a:txBody>
                    <a:bodyPr wrap="square"/>
                    <a:lstStyle/>
                    <a:p>
                      <a:pPr algn="l"/>
                      <a:r>
                        <a:rPr sz="900" b="0">
                          <a:solidFill>
                            <a:srgbClr val="1E2833"/>
                          </a:solidFill>
                          <a:latin typeface="Segoe UI"/>
                        </a:rPr>
                        <a:t>R4_SBC_PWR</a:t>
                      </a:r>
                    </a:p>
                  </a:txBody>
                  <a:tcPr marL="54864" marR="54864" marT="18288" marB="18288" anchor="ctr">
                    <a:solidFill>
                      <a:srgbClr val="F6F8FA"/>
                    </a:solidFill>
                  </a:tcPr>
                </a:tc>
                <a:tc>
                  <a:txBody>
                    <a:bodyPr wrap="square"/>
                    <a:lstStyle/>
                    <a:p>
                      <a:pPr algn="l"/>
                      <a:r>
                        <a:rPr sz="900" b="0">
                          <a:solidFill>
                            <a:srgbClr val="1E2833"/>
                          </a:solidFill>
                          <a:latin typeface="Segoe UI"/>
                        </a:rPr>
                        <a:t>The SBC shall consume no more than 10W average during continuous…</a:t>
                      </a:r>
                    </a:p>
                  </a:txBody>
                  <a:tcPr marL="54864" marR="54864" marT="18288" marB="18288" anchor="ctr">
                    <a:solidFill>
                      <a:srgbClr val="F6F8FA"/>
                    </a:solidFill>
                  </a:tcPr>
                </a:tc>
                <a:tc>
                  <a:txBody>
                    <a:bodyPr wrap="square"/>
                    <a:lstStyle/>
                    <a:p>
                      <a:pPr algn="ctr"/>
                      <a:r>
                        <a:rPr sz="900" b="0">
                          <a:solidFill>
                            <a:srgbClr val="1E2833"/>
                          </a:solidFill>
                          <a:latin typeface="Segoe UI"/>
                        </a:rPr>
                        <a:t>—</a:t>
                      </a:r>
                    </a:p>
                  </a:txBody>
                  <a:tcPr marL="54864" marR="54864" marT="18288" marB="18288" anchor="ctr">
                    <a:solidFill>
                      <a:srgbClr val="F6F8FA"/>
                    </a:solidFill>
                  </a:tcPr>
                </a:tc>
                <a:tc>
                  <a:txBody>
                    <a:bodyPr wrap="square"/>
                    <a:lstStyle/>
                    <a:p>
                      <a:pPr algn="l"/>
                      <a:r>
                        <a:rPr sz="900" b="0">
                          <a:solidFill>
                            <a:srgbClr val="1E2833"/>
                          </a:solidFill>
                          <a:latin typeface="Segoe UI"/>
                        </a:rPr>
                        <a:t>SBCPayload</a:t>
                      </a:r>
                    </a:p>
                  </a:txBody>
                  <a:tcPr marL="54864" marR="54864" marT="18288" marB="18288" anchor="ctr">
                    <a:solidFill>
                      <a:srgbClr val="F6F8FA"/>
                    </a:solidFill>
                  </a:tcPr>
                </a:tc>
              </a:tr>
              <a:tr h="251460">
                <a:tc>
                  <a:txBody>
                    <a:bodyPr wrap="square"/>
                    <a:lstStyle/>
                    <a:p>
                      <a:pPr algn="l"/>
                      <a:r>
                        <a:rPr sz="900" b="0">
                          <a:solidFill>
                            <a:srgbClr val="1E2833"/>
                          </a:solidFill>
                          <a:latin typeface="Segoe UI"/>
                        </a:rPr>
                        <a:t>R4_SBC_TEMP</a:t>
                      </a:r>
                    </a:p>
                  </a:txBody>
                  <a:tcPr marL="54864" marR="54864" marT="18288" marB="18288" anchor="ctr">
                    <a:solidFill>
                      <a:srgbClr val="FFFFFF"/>
                    </a:solidFill>
                  </a:tcPr>
                </a:tc>
                <a:tc>
                  <a:txBody>
                    <a:bodyPr wrap="square"/>
                    <a:lstStyle/>
                    <a:p>
                      <a:pPr algn="l"/>
                      <a:r>
                        <a:rPr sz="900" b="0">
                          <a:solidFill>
                            <a:srgbClr val="1E2833"/>
                          </a:solidFill>
                          <a:latin typeface="Segoe UI"/>
                        </a:rPr>
                        <a:t>The SBC shall operate within the full environmental temperature range…</a:t>
                      </a:r>
                    </a:p>
                  </a:txBody>
                  <a:tcPr marL="54864" marR="54864" marT="18288" marB="18288" anchor="ctr">
                    <a:solidFill>
                      <a:srgbClr val="FFFFFF"/>
                    </a:solidFill>
                  </a:tcPr>
                </a:tc>
                <a:tc>
                  <a:txBody>
                    <a:bodyPr wrap="square"/>
                    <a:lstStyle/>
                    <a:p>
                      <a:pPr algn="ctr"/>
                      <a:r>
                        <a:rPr sz="900" b="0">
                          <a:solidFill>
                            <a:srgbClr val="1E2833"/>
                          </a:solidFill>
                          <a:latin typeface="Segoe UI"/>
                        </a:rPr>
                        <a:t>—</a:t>
                      </a:r>
                    </a:p>
                  </a:txBody>
                  <a:tcPr marL="54864" marR="54864" marT="18288" marB="18288" anchor="ctr">
                    <a:solidFill>
                      <a:srgbClr val="FFFFFF"/>
                    </a:solidFill>
                  </a:tcPr>
                </a:tc>
                <a:tc>
                  <a:txBody>
                    <a:bodyPr wrap="square"/>
                    <a:lstStyle/>
                    <a:p>
                      <a:pPr algn="l"/>
                      <a:r>
                        <a:rPr sz="900" b="0">
                          <a:solidFill>
                            <a:srgbClr val="1E2833"/>
                          </a:solidFill>
                          <a:latin typeface="Segoe UI"/>
                        </a:rPr>
                        <a:t>SBCPayload</a:t>
                      </a:r>
                    </a:p>
                  </a:txBody>
                  <a:tcPr marL="54864" marR="54864" marT="18288" marB="18288" anchor="ctr">
                    <a:solidFill>
                      <a:srgbClr val="FFFFFF"/>
                    </a:solidFill>
                  </a:tcPr>
                </a:tc>
              </a:tr>
              <a:tr h="251460">
                <a:tc>
                  <a:txBody>
                    <a:bodyPr wrap="square"/>
                    <a:lstStyle/>
                    <a:p>
                      <a:pPr algn="l"/>
                      <a:r>
                        <a:rPr sz="900" b="0">
                          <a:solidFill>
                            <a:srgbClr val="1E2833"/>
                          </a:solidFill>
                          <a:latin typeface="Segoe UI"/>
                        </a:rPr>
                        <a:t>R4_SBC_VIDEO_IN</a:t>
                      </a:r>
                    </a:p>
                  </a:txBody>
                  <a:tcPr marL="54864" marR="54864" marT="18288" marB="18288" anchor="ctr">
                    <a:solidFill>
                      <a:srgbClr val="F6F8FA"/>
                    </a:solidFill>
                  </a:tcPr>
                </a:tc>
                <a:tc>
                  <a:txBody>
                    <a:bodyPr wrap="square"/>
                    <a:lstStyle/>
                    <a:p>
                      <a:pPr algn="l"/>
                      <a:r>
                        <a:rPr sz="900" b="0">
                          <a:solidFill>
                            <a:srgbClr val="1E2833"/>
                          </a:solidFill>
                          <a:latin typeface="Segoe UI"/>
                        </a:rPr>
                        <a:t>The SBC shall accept a video input from the thermal camera that…</a:t>
                      </a:r>
                    </a:p>
                  </a:txBody>
                  <a:tcPr marL="54864" marR="54864" marT="18288" marB="18288" anchor="ctr">
                    <a:solidFill>
                      <a:srgbClr val="F6F8FA"/>
                    </a:solidFill>
                  </a:tcPr>
                </a:tc>
                <a:tc>
                  <a:txBody>
                    <a:bodyPr wrap="square"/>
                    <a:lstStyle/>
                    <a:p>
                      <a:pPr algn="ctr"/>
                      <a:r>
                        <a:rPr sz="900" b="0">
                          <a:solidFill>
                            <a:srgbClr val="1E2833"/>
                          </a:solidFill>
                          <a:latin typeface="Segoe UI"/>
                        </a:rPr>
                        <a:t>—</a:t>
                      </a:r>
                    </a:p>
                  </a:txBody>
                  <a:tcPr marL="54864" marR="54864" marT="18288" marB="18288" anchor="ctr">
                    <a:solidFill>
                      <a:srgbClr val="F6F8FA"/>
                    </a:solidFill>
                  </a:tcPr>
                </a:tc>
                <a:tc>
                  <a:txBody>
                    <a:bodyPr wrap="square"/>
                    <a:lstStyle/>
                    <a:p>
                      <a:pPr algn="l"/>
                      <a:r>
                        <a:rPr sz="900" b="0">
                          <a:solidFill>
                            <a:srgbClr val="1E2833"/>
                          </a:solidFill>
                          <a:latin typeface="Segoe UI"/>
                        </a:rPr>
                        <a:t>SBCPayload</a:t>
                      </a:r>
                    </a:p>
                  </a:txBody>
                  <a:tcPr marL="54864" marR="54864" marT="18288" marB="18288" anchor="ctr">
                    <a:solidFill>
                      <a:srgbClr val="F6F8FA"/>
                    </a:solidFill>
                  </a:tcPr>
                </a:tc>
              </a:tr>
              <a:tr h="251460">
                <a:tc>
                  <a:txBody>
                    <a:bodyPr wrap="square"/>
                    <a:lstStyle/>
                    <a:p>
                      <a:pPr algn="l"/>
                      <a:r>
                        <a:rPr sz="900" b="0">
                          <a:solidFill>
                            <a:srgbClr val="1E2833"/>
                          </a:solidFill>
                          <a:latin typeface="Segoe UI"/>
                        </a:rPr>
                        <a:t>R4_SBC_VIDEO_PROC</a:t>
                      </a:r>
                    </a:p>
                  </a:txBody>
                  <a:tcPr marL="54864" marR="54864" marT="18288" marB="18288" anchor="ctr">
                    <a:solidFill>
                      <a:srgbClr val="FFFFFF"/>
                    </a:solidFill>
                  </a:tcPr>
                </a:tc>
                <a:tc>
                  <a:txBody>
                    <a:bodyPr wrap="square"/>
                    <a:lstStyle/>
                    <a:p>
                      <a:pPr algn="l"/>
                      <a:r>
                        <a:rPr sz="900" b="0">
                          <a:solidFill>
                            <a:srgbClr val="1E2833"/>
                          </a:solidFill>
                          <a:latin typeface="Segoe UI"/>
                        </a:rPr>
                        <a:t>The SBC shall process the incoming video stream for live transmission…</a:t>
                      </a:r>
                    </a:p>
                  </a:txBody>
                  <a:tcPr marL="54864" marR="54864" marT="18288" marB="18288" anchor="ctr">
                    <a:solidFill>
                      <a:srgbClr val="FFFFFF"/>
                    </a:solidFill>
                  </a:tcPr>
                </a:tc>
                <a:tc>
                  <a:txBody>
                    <a:bodyPr wrap="square"/>
                    <a:lstStyle/>
                    <a:p>
                      <a:pPr algn="ctr"/>
                      <a:r>
                        <a:rPr sz="900" b="0">
                          <a:solidFill>
                            <a:srgbClr val="1E2833"/>
                          </a:solidFill>
                          <a:latin typeface="Segoe UI"/>
                        </a:rPr>
                        <a:t>R3</a:t>
                      </a:r>
                    </a:p>
                  </a:txBody>
                  <a:tcPr marL="54864" marR="54864" marT="18288" marB="18288" anchor="ctr">
                    <a:solidFill>
                      <a:srgbClr val="FFFFFF"/>
                    </a:solidFill>
                  </a:tcPr>
                </a:tc>
                <a:tc>
                  <a:txBody>
                    <a:bodyPr wrap="square"/>
                    <a:lstStyle/>
                    <a:p>
                      <a:pPr algn="l"/>
                      <a:r>
                        <a:rPr sz="900" b="0">
                          <a:solidFill>
                            <a:srgbClr val="1E2833"/>
                          </a:solidFill>
                          <a:latin typeface="Segoe UI"/>
                        </a:rPr>
                        <a:t>SBCPayload</a:t>
                      </a:r>
                    </a:p>
                  </a:txBody>
                  <a:tcPr marL="54864" marR="54864" marT="18288" marB="18288" anchor="ctr">
                    <a:solidFill>
                      <a:srgbClr val="FFFFFF"/>
                    </a:solidFill>
                  </a:tcPr>
                </a:tc>
              </a:tr>
              <a:tr h="251460">
                <a:tc>
                  <a:txBody>
                    <a:bodyPr wrap="square"/>
                    <a:lstStyle/>
                    <a:p>
                      <a:pPr algn="l"/>
                      <a:r>
                        <a:rPr sz="900" b="0">
                          <a:solidFill>
                            <a:srgbClr val="1E2833"/>
                          </a:solidFill>
                          <a:latin typeface="Segoe UI"/>
                        </a:rPr>
                        <a:t>R4_SBC_WT</a:t>
                      </a:r>
                    </a:p>
                  </a:txBody>
                  <a:tcPr marL="54864" marR="54864" marT="18288" marB="18288" anchor="ctr">
                    <a:solidFill>
                      <a:srgbClr val="F6F8FA"/>
                    </a:solidFill>
                  </a:tcPr>
                </a:tc>
                <a:tc>
                  <a:txBody>
                    <a:bodyPr wrap="square"/>
                    <a:lstStyle/>
                    <a:p>
                      <a:pPr algn="l"/>
                      <a:r>
                        <a:rPr sz="900" b="0">
                          <a:solidFill>
                            <a:srgbClr val="1E2833"/>
                          </a:solidFill>
                          <a:latin typeface="Segoe UI"/>
                        </a:rPr>
                        <a:t>The SBC (board + cabling + any enclosure) shall not exceed 100g total…</a:t>
                      </a:r>
                    </a:p>
                  </a:txBody>
                  <a:tcPr marL="54864" marR="54864" marT="18288" marB="18288" anchor="ctr">
                    <a:solidFill>
                      <a:srgbClr val="F6F8FA"/>
                    </a:solidFill>
                  </a:tcPr>
                </a:tc>
                <a:tc>
                  <a:txBody>
                    <a:bodyPr wrap="square"/>
                    <a:lstStyle/>
                    <a:p>
                      <a:pPr algn="ctr"/>
                      <a:r>
                        <a:rPr sz="900" b="0">
                          <a:solidFill>
                            <a:srgbClr val="1E2833"/>
                          </a:solidFill>
                          <a:latin typeface="Segoe UI"/>
                        </a:rPr>
                        <a:t>—</a:t>
                      </a:r>
                    </a:p>
                  </a:txBody>
                  <a:tcPr marL="54864" marR="54864" marT="18288" marB="18288" anchor="ctr">
                    <a:solidFill>
                      <a:srgbClr val="F6F8FA"/>
                    </a:solidFill>
                  </a:tcPr>
                </a:tc>
                <a:tc>
                  <a:txBody>
                    <a:bodyPr wrap="square"/>
                    <a:lstStyle/>
                    <a:p>
                      <a:pPr algn="l"/>
                      <a:r>
                        <a:rPr sz="900" b="0">
                          <a:solidFill>
                            <a:srgbClr val="1E2833"/>
                          </a:solidFill>
                          <a:latin typeface="Segoe UI"/>
                        </a:rPr>
                        <a:t>SBCPayload</a:t>
                      </a:r>
                    </a:p>
                  </a:txBody>
                  <a:tcPr marL="54864" marR="54864" marT="18288" marB="18288" anchor="ctr">
                    <a:solidFill>
                      <a:srgbClr val="F6F8FA"/>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2761488"/>
            <a:ext cx="50292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331720"/>
            <a:ext cx="11055096"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8FC5E0"/>
                </a:solidFill>
                <a:latin typeface="Segoe UI"/>
              </a:rPr>
              <a:t>SECTION 2</a:t>
            </a:r>
          </a:p>
        </p:txBody>
      </p:sp>
      <p:sp>
        <p:nvSpPr>
          <p:cNvPr id="6" name="TextBox 5"/>
          <p:cNvSpPr txBox="1"/>
          <p:nvPr/>
        </p:nvSpPr>
        <p:spPr>
          <a:xfrm>
            <a:off x="566928" y="2880360"/>
            <a:ext cx="11055096" cy="1097280"/>
          </a:xfrm>
          <a:prstGeom prst="rect">
            <a:avLst/>
          </a:prstGeom>
          <a:noFill/>
        </p:spPr>
        <p:txBody>
          <a:bodyPr wrap="square" anchor="t" lIns="0" rIns="0" tIns="0" bIns="0">
            <a:spAutoFit/>
          </a:bodyPr>
          <a:lstStyle/>
          <a:p>
            <a:pPr algn="l">
              <a:lnSpc>
                <a:spcPct val="100000"/>
              </a:lnSpc>
              <a:spcBef>
                <a:spcPts val="0"/>
              </a:spcBef>
              <a:spcAft>
                <a:spcPts val="400"/>
              </a:spcAft>
            </a:pPr>
            <a:r>
              <a:rPr sz="4000" b="1" i="0">
                <a:solidFill>
                  <a:srgbClr val="FFFFFF"/>
                </a:solidFill>
                <a:latin typeface="Segoe UI"/>
              </a:rPr>
              <a:t>System Architecture</a:t>
            </a:r>
          </a:p>
        </p:txBody>
      </p:sp>
      <p:sp>
        <p:nvSpPr>
          <p:cNvPr id="7" name="TextBox 6"/>
          <p:cNvSpPr txBox="1"/>
          <p:nvPr/>
        </p:nvSpPr>
        <p:spPr>
          <a:xfrm>
            <a:off x="566928" y="3977639"/>
            <a:ext cx="9601200" cy="1097280"/>
          </a:xfrm>
          <a:prstGeom prst="rect">
            <a:avLst/>
          </a:prstGeom>
          <a:noFill/>
        </p:spPr>
        <p:txBody>
          <a:bodyPr wrap="square" anchor="t" lIns="0" rIns="0" tIns="0" bIns="0">
            <a:spAutoFit/>
          </a:bodyPr>
          <a:lstStyle/>
          <a:p>
            <a:pPr algn="l">
              <a:lnSpc>
                <a:spcPct val="115000"/>
              </a:lnSpc>
              <a:spcBef>
                <a:spcPts val="0"/>
              </a:spcBef>
              <a:spcAft>
                <a:spcPts val="400"/>
              </a:spcAft>
            </a:pPr>
            <a:r>
              <a:rPr sz="1500" b="0" i="0">
                <a:solidFill>
                  <a:srgbClr val="B9CBDB"/>
                </a:solidFill>
                <a:latin typeface="Segoe UI"/>
              </a:rPr>
              <a:t>Physical decomposition and interfaces. The system is a drone plus a laptop-based ground control station, joined by three wireless RF links; the drone integrates propulsion, power, thermal payload, and an onboard inference computer.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2 · ARCHITECTURE</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System Composition — Block-Definition View</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13</a:t>
            </a:r>
          </a:p>
        </p:txBody>
      </p:sp>
      <p:sp>
        <p:nvSpPr>
          <p:cNvPr id="9" name="Rectangle 8"/>
          <p:cNvSpPr/>
          <p:nvPr/>
        </p:nvSpPr>
        <p:spPr>
          <a:xfrm>
            <a:off x="3857117" y="1280160"/>
            <a:ext cx="3478021" cy="4800600"/>
          </a:xfrm>
          <a:prstGeom prst="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ystem_composition.png"/>
          <p:cNvPicPr>
            <a:picLocks noChangeAspect="1"/>
          </p:cNvPicPr>
          <p:nvPr/>
        </p:nvPicPr>
        <p:blipFill>
          <a:blip r:embed="rId2"/>
          <a:stretch>
            <a:fillRect/>
          </a:stretch>
        </p:blipFill>
        <p:spPr>
          <a:xfrm>
            <a:off x="3911981" y="1335024"/>
            <a:ext cx="3368293" cy="4690872"/>
          </a:xfrm>
          <a:prstGeom prst="rect">
            <a:avLst/>
          </a:prstGeom>
        </p:spPr>
      </p:pic>
      <p:sp>
        <p:nvSpPr>
          <p:cNvPr id="11" name="TextBox 10"/>
          <p:cNvSpPr txBox="1"/>
          <p:nvPr/>
        </p:nvSpPr>
        <p:spPr>
          <a:xfrm>
            <a:off x="566928" y="6236208"/>
            <a:ext cx="11055096" cy="36576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Block-definition (composition) view — the SysML v2 analog of a BDD: each </a:t>
            </a:r>
            <a:r>
              <a:rPr sz="1000" b="1" i="0">
                <a:solidFill>
                  <a:srgbClr val="5C6B7A"/>
                </a:solidFill>
                <a:latin typeface="Segoe UI"/>
              </a:rPr>
              <a:t>part def</a:t>
            </a:r>
            <a:r>
              <a:rPr sz="1000" b="0" i="0">
                <a:solidFill>
                  <a:srgbClr val="5C6B7A"/>
                </a:solidFill>
                <a:latin typeface="Segoe UI"/>
              </a:rPr>
              <a:t> and the typed </a:t>
            </a:r>
            <a:r>
              <a:rPr sz="1000" b="1" i="0">
                <a:solidFill>
                  <a:srgbClr val="5C6B7A"/>
                </a:solidFill>
                <a:latin typeface="Segoe UI"/>
              </a:rPr>
              <a:t>part</a:t>
            </a:r>
            <a:r>
              <a:rPr sz="1000" b="0" i="0">
                <a:solidFill>
                  <a:srgbClr val="5C6B7A"/>
                </a:solidFill>
                <a:latin typeface="Segoe UI"/>
              </a:rPr>
              <a:t> usages it composes. Phase-4 OpenHD parts (air/ground Wi-Fi adapters + antennas) omitted for the committed build.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2 · ARCHITECTURE</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System Context — Aerial Observation System</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14</a:t>
            </a:r>
          </a:p>
        </p:txBody>
      </p:sp>
      <p:sp>
        <p:nvSpPr>
          <p:cNvPr id="9" name="Rectangle 8"/>
          <p:cNvSpPr/>
          <p:nvPr/>
        </p:nvSpPr>
        <p:spPr>
          <a:xfrm>
            <a:off x="566928" y="1450878"/>
            <a:ext cx="6537960" cy="3133283"/>
          </a:xfrm>
          <a:prstGeom prst="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ull_system_internal_block_diagram.png"/>
          <p:cNvPicPr>
            <a:picLocks noChangeAspect="1"/>
          </p:cNvPicPr>
          <p:nvPr/>
        </p:nvPicPr>
        <p:blipFill>
          <a:blip r:embed="rId2"/>
          <a:stretch>
            <a:fillRect/>
          </a:stretch>
        </p:blipFill>
        <p:spPr>
          <a:xfrm>
            <a:off x="621792" y="1505742"/>
            <a:ext cx="6428232" cy="3023555"/>
          </a:xfrm>
          <a:prstGeom prst="rect">
            <a:avLst/>
          </a:prstGeom>
        </p:spPr>
      </p:pic>
      <p:sp>
        <p:nvSpPr>
          <p:cNvPr id="11" name="TextBox 10"/>
          <p:cNvSpPr txBox="1"/>
          <p:nvPr/>
        </p:nvSpPr>
        <p:spPr>
          <a:xfrm>
            <a:off x="566928" y="4709160"/>
            <a:ext cx="6537960" cy="457200"/>
          </a:xfrm>
          <a:prstGeom prst="rect">
            <a:avLst/>
          </a:prstGeom>
          <a:noFill/>
        </p:spPr>
        <p:txBody>
          <a:bodyPr wrap="square" anchor="t" lIns="0" rIns="0" tIns="0" bIns="0">
            <a:spAutoFit/>
          </a:bodyPr>
          <a:lstStyle/>
          <a:p>
            <a:pPr algn="ctr">
              <a:lnSpc>
                <a:spcPct val="100000"/>
              </a:lnSpc>
              <a:spcBef>
                <a:spcPts val="0"/>
              </a:spcBef>
              <a:spcAft>
                <a:spcPts val="400"/>
              </a:spcAft>
            </a:pPr>
            <a:r>
              <a:rPr sz="1050" b="0" i="1">
                <a:solidFill>
                  <a:srgbClr val="5C6B7A"/>
                </a:solidFill>
                <a:latin typeface="Segoe UI"/>
              </a:rPr>
              <a:t>AerialObservationSystem — internal block diagram (drone ↔ GCS wireless interfaces)</a:t>
            </a:r>
          </a:p>
        </p:txBody>
      </p:sp>
      <p:sp>
        <p:nvSpPr>
          <p:cNvPr id="12" name="TextBox 11"/>
          <p:cNvSpPr txBox="1"/>
          <p:nvPr/>
        </p:nvSpPr>
        <p:spPr>
          <a:xfrm>
            <a:off x="7406640" y="1325880"/>
            <a:ext cx="4206240" cy="4754880"/>
          </a:xfrm>
          <a:prstGeom prst="rect">
            <a:avLst/>
          </a:prstGeom>
          <a:noFill/>
        </p:spPr>
        <p:txBody>
          <a:bodyPr wrap="square" anchor="t" lIns="0" rIns="0" tIns="0" bIns="0">
            <a:spAutoFit/>
          </a:bodyPr>
          <a:lstStyle/>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Two blocks + operator.  </a:t>
            </a:r>
            <a:r>
              <a:rPr sz="1300" b="0">
                <a:solidFill>
                  <a:srgbClr val="1E2833"/>
                </a:solidFill>
                <a:latin typeface="Segoe UI"/>
              </a:rPr>
              <a:t>drone : Drone and gcs : GCS (laptop-based). The MacBook Air is an existing external actor, excluded from system cost.</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Three wireless interfaces close the system:</a:t>
            </a:r>
          </a:p>
          <a:p>
            <a:pPr>
              <a:lnSpc>
                <a:spcPct val="104000"/>
              </a:lnSpc>
              <a:spcBef>
                <a:spcPts val="300"/>
              </a:spcBef>
              <a:spcAft>
                <a:spcPts val="300"/>
              </a:spcAft>
            </a:pPr>
            <a:r>
              <a:rPr sz="1400" b="1">
                <a:solidFill>
                  <a:srgbClr val="5C6B7A"/>
                </a:solidFill>
                <a:latin typeface="Segoe UI"/>
              </a:rPr>
              <a:t>     –  </a:t>
            </a:r>
            <a:r>
              <a:rPr sz="1250" b="0">
                <a:solidFill>
                  <a:srgbClr val="1E2833"/>
                </a:solidFill>
                <a:latin typeface="Segoe UI"/>
              </a:rPr>
              <a:t>5.8 GHz analog FPV video — drone VTX → ground patch antenna (piloting).</a:t>
            </a:r>
          </a:p>
          <a:p>
            <a:pPr>
              <a:lnSpc>
                <a:spcPct val="104000"/>
              </a:lnSpc>
              <a:spcBef>
                <a:spcPts val="300"/>
              </a:spcBef>
              <a:spcAft>
                <a:spcPts val="300"/>
              </a:spcAft>
            </a:pPr>
            <a:r>
              <a:rPr sz="1400" b="1">
                <a:solidFill>
                  <a:srgbClr val="5C6B7A"/>
                </a:solidFill>
                <a:latin typeface="Segoe UI"/>
              </a:rPr>
              <a:t>     –  </a:t>
            </a:r>
            <a:r>
              <a:rPr sz="1250" b="0">
                <a:solidFill>
                  <a:srgbClr val="1E2833"/>
                </a:solidFill>
                <a:latin typeface="Segoe UI"/>
              </a:rPr>
              <a:t>2.4 GHz ELRS — control uplink + MAVLink telemetry downlink (one link, both roles).</a:t>
            </a:r>
          </a:p>
          <a:p>
            <a:pPr>
              <a:lnSpc>
                <a:spcPct val="104000"/>
              </a:lnSpc>
              <a:spcBef>
                <a:spcPts val="300"/>
              </a:spcBef>
              <a:spcAft>
                <a:spcPts val="300"/>
              </a:spcAft>
            </a:pPr>
            <a:r>
              <a:rPr sz="1400" b="1">
                <a:solidFill>
                  <a:srgbClr val="5C6B7A"/>
                </a:solidFill>
                <a:latin typeface="Segoe UI"/>
              </a:rPr>
              <a:t>     –  </a:t>
            </a:r>
            <a:r>
              <a:rPr sz="1250" b="0">
                <a:solidFill>
                  <a:srgbClr val="1E2833"/>
                </a:solidFill>
                <a:latin typeface="Segoe UI"/>
              </a:rPr>
              <a:t>GNSS receive (satellite) for navigation.</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Wired ground interface.  </a:t>
            </a:r>
            <a:r>
              <a:rPr sz="1300" b="0">
                <a:solidFill>
                  <a:srgbClr val="1E2833"/>
                </a:solidFill>
                <a:latin typeface="Segoe UI"/>
              </a:rPr>
              <a:t>Battery ↔ charger (support equipment; not flown).</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Phase 4 (deferred).  </a:t>
            </a:r>
            <a:r>
              <a:rPr sz="1300" b="0">
                <a:solidFill>
                  <a:srgbClr val="1E2833"/>
                </a:solidFill>
                <a:latin typeface="Segoe UI"/>
              </a:rPr>
              <a:t>Adds a 5.8 GHz OpenHD digital downlink of the thermal / AI feed — not in the committed build.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2 · ARCHITECTURE</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Drone — Internal Block Diagram</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15</a:t>
            </a:r>
          </a:p>
        </p:txBody>
      </p:sp>
      <p:sp>
        <p:nvSpPr>
          <p:cNvPr id="9" name="Rectangle 8"/>
          <p:cNvSpPr/>
          <p:nvPr/>
        </p:nvSpPr>
        <p:spPr>
          <a:xfrm>
            <a:off x="1164336" y="1188720"/>
            <a:ext cx="6486144" cy="4892040"/>
          </a:xfrm>
          <a:prstGeom prst="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rone_internal_block_diagram.png"/>
          <p:cNvPicPr>
            <a:picLocks noChangeAspect="1"/>
          </p:cNvPicPr>
          <p:nvPr/>
        </p:nvPicPr>
        <p:blipFill>
          <a:blip r:embed="rId2"/>
          <a:stretch>
            <a:fillRect/>
          </a:stretch>
        </p:blipFill>
        <p:spPr>
          <a:xfrm>
            <a:off x="1219200" y="1243584"/>
            <a:ext cx="6376416" cy="4782312"/>
          </a:xfrm>
          <a:prstGeom prst="rect">
            <a:avLst/>
          </a:prstGeom>
        </p:spPr>
      </p:pic>
      <p:sp>
        <p:nvSpPr>
          <p:cNvPr id="11" name="TextBox 10"/>
          <p:cNvSpPr txBox="1"/>
          <p:nvPr/>
        </p:nvSpPr>
        <p:spPr>
          <a:xfrm>
            <a:off x="566928" y="6053328"/>
            <a:ext cx="7680960" cy="457200"/>
          </a:xfrm>
          <a:prstGeom prst="rect">
            <a:avLst/>
          </a:prstGeom>
          <a:noFill/>
        </p:spPr>
        <p:txBody>
          <a:bodyPr wrap="square" anchor="t" lIns="0" rIns="0" tIns="0" bIns="0">
            <a:spAutoFit/>
          </a:bodyPr>
          <a:lstStyle/>
          <a:p>
            <a:pPr algn="ctr">
              <a:lnSpc>
                <a:spcPct val="100000"/>
              </a:lnSpc>
              <a:spcBef>
                <a:spcPts val="0"/>
              </a:spcBef>
              <a:spcAft>
                <a:spcPts val="400"/>
              </a:spcAft>
            </a:pPr>
            <a:r>
              <a:rPr sz="1050" b="0" i="1">
                <a:solidFill>
                  <a:srgbClr val="5C6B7A"/>
                </a:solidFill>
                <a:latin typeface="Segoe UI"/>
              </a:rPr>
              <a:t>Drone composition and internal wiring (power · video · data · RF)</a:t>
            </a:r>
          </a:p>
        </p:txBody>
      </p:sp>
      <p:sp>
        <p:nvSpPr>
          <p:cNvPr id="12" name="Rounded Rectangle 11"/>
          <p:cNvSpPr/>
          <p:nvPr/>
        </p:nvSpPr>
        <p:spPr>
          <a:xfrm>
            <a:off x="8503920" y="1234440"/>
            <a:ext cx="3127248" cy="475488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1371600"/>
            <a:ext cx="283464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KEY ELEMENTS</a:t>
            </a:r>
          </a:p>
        </p:txBody>
      </p:sp>
      <p:sp>
        <p:nvSpPr>
          <p:cNvPr id="14" name="TextBox 13"/>
          <p:cNvSpPr txBox="1"/>
          <p:nvPr/>
        </p:nvSpPr>
        <p:spPr>
          <a:xfrm>
            <a:off x="8686800" y="1755648"/>
            <a:ext cx="2788920" cy="4206240"/>
          </a:xfrm>
          <a:prstGeom prst="rect">
            <a:avLst/>
          </a:prstGeom>
          <a:noFill/>
        </p:spPr>
        <p:txBody>
          <a:bodyPr wrap="square" anchor="t" lIns="0" rIns="0" tIns="0" bIns="0">
            <a:spAutoFit/>
          </a:bodyPr>
          <a:lstStyle/>
          <a:p>
            <a:pPr>
              <a:lnSpc>
                <a:spcPct val="104000"/>
              </a:lnSpc>
              <a:spcBef>
                <a:spcPts val="300"/>
              </a:spcBef>
              <a:spcAft>
                <a:spcPts val="400"/>
              </a:spcAft>
            </a:pPr>
            <a:r>
              <a:rPr sz="1400" b="1">
                <a:solidFill>
                  <a:srgbClr val="2E86AB"/>
                </a:solidFill>
                <a:latin typeface="Segoe UI"/>
              </a:rPr>
              <a:t>▸  </a:t>
            </a:r>
            <a:r>
              <a:rPr sz="1150" b="1">
                <a:solidFill>
                  <a:srgbClr val="0F2540"/>
                </a:solidFill>
                <a:latin typeface="Segoe UI"/>
              </a:rPr>
              <a:t>platform.  </a:t>
            </a:r>
            <a:r>
              <a:rPr sz="1150" b="0">
                <a:solidFill>
                  <a:srgbClr val="1E2833"/>
                </a:solidFill>
                <a:latin typeface="Segoe UI"/>
              </a:rPr>
              <a:t>Airframe (FC, ESC, motors, PDB) — the wiring hub.</a:t>
            </a:r>
          </a:p>
          <a:p>
            <a:pPr>
              <a:lnSpc>
                <a:spcPct val="104000"/>
              </a:lnSpc>
              <a:spcBef>
                <a:spcPts val="300"/>
              </a:spcBef>
              <a:spcAft>
                <a:spcPts val="400"/>
              </a:spcAft>
            </a:pPr>
            <a:r>
              <a:rPr sz="1400" b="1">
                <a:solidFill>
                  <a:srgbClr val="2E86AB"/>
                </a:solidFill>
                <a:latin typeface="Segoe UI"/>
              </a:rPr>
              <a:t>▸  </a:t>
            </a:r>
            <a:r>
              <a:rPr sz="1150" b="1">
                <a:solidFill>
                  <a:srgbClr val="0F2540"/>
                </a:solidFill>
                <a:latin typeface="Segoe UI"/>
              </a:rPr>
              <a:t>battery → antiSpark.  </a:t>
            </a:r>
            <a:r>
              <a:rPr sz="1150" b="0">
                <a:solidFill>
                  <a:srgbClr val="1E2833"/>
                </a:solidFill>
                <a:latin typeface="Segoe UI"/>
              </a:rPr>
              <a:t>XT60 power chain with inrush-limiting filter.</a:t>
            </a:r>
          </a:p>
          <a:p>
            <a:pPr>
              <a:lnSpc>
                <a:spcPct val="104000"/>
              </a:lnSpc>
              <a:spcBef>
                <a:spcPts val="300"/>
              </a:spcBef>
              <a:spcAft>
                <a:spcPts val="400"/>
              </a:spcAft>
            </a:pPr>
            <a:r>
              <a:rPr sz="1400" b="1">
                <a:solidFill>
                  <a:srgbClr val="2E86AB"/>
                </a:solidFill>
                <a:latin typeface="Segoe UI"/>
              </a:rPr>
              <a:t>▸  </a:t>
            </a:r>
            <a:r>
              <a:rPr sz="1150" b="1">
                <a:solidFill>
                  <a:srgbClr val="0F2540"/>
                </a:solidFill>
                <a:latin typeface="Segoe UI"/>
              </a:rPr>
              <a:t>camera → sbc.  </a:t>
            </a:r>
            <a:r>
              <a:rPr sz="1150" b="0">
                <a:solidFill>
                  <a:srgbClr val="1E2833"/>
                </a:solidFill>
                <a:latin typeface="Segoe UI"/>
              </a:rPr>
              <a:t>Thermal over USB-UVC to onboard compute.</a:t>
            </a:r>
          </a:p>
          <a:p>
            <a:pPr>
              <a:lnSpc>
                <a:spcPct val="104000"/>
              </a:lnSpc>
              <a:spcBef>
                <a:spcPts val="300"/>
              </a:spcBef>
              <a:spcAft>
                <a:spcPts val="400"/>
              </a:spcAft>
            </a:pPr>
            <a:r>
              <a:rPr sz="1400" b="1">
                <a:solidFill>
                  <a:srgbClr val="2E86AB"/>
                </a:solidFill>
                <a:latin typeface="Segoe UI"/>
              </a:rPr>
              <a:t>▸  </a:t>
            </a:r>
            <a:r>
              <a:rPr sz="1150" b="1">
                <a:solidFill>
                  <a:srgbClr val="0F2540"/>
                </a:solidFill>
                <a:latin typeface="Segoe UI"/>
              </a:rPr>
              <a:t>sbc ↔ FC.  </a:t>
            </a:r>
            <a:r>
              <a:rPr sz="1150" b="0">
                <a:solidFill>
                  <a:srgbClr val="1E2833"/>
                </a:solidFill>
                <a:latin typeface="Segoe UI"/>
              </a:rPr>
              <a:t>MAVLink over UART (autonomous route mod).</a:t>
            </a:r>
          </a:p>
          <a:p>
            <a:pPr>
              <a:lnSpc>
                <a:spcPct val="104000"/>
              </a:lnSpc>
              <a:spcBef>
                <a:spcPts val="300"/>
              </a:spcBef>
              <a:spcAft>
                <a:spcPts val="400"/>
              </a:spcAft>
            </a:pPr>
            <a:r>
              <a:rPr sz="1400" b="1">
                <a:solidFill>
                  <a:srgbClr val="2E86AB"/>
                </a:solidFill>
                <a:latin typeface="Segoe UI"/>
              </a:rPr>
              <a:t>▸  </a:t>
            </a:r>
            <a:r>
              <a:rPr sz="1150" b="1">
                <a:solidFill>
                  <a:srgbClr val="0F2540"/>
                </a:solidFill>
                <a:latin typeface="Segoe UI"/>
              </a:rPr>
              <a:t>fpvCam → vtx.  </a:t>
            </a:r>
            <a:r>
              <a:rPr sz="1150" b="0">
                <a:solidFill>
                  <a:srgbClr val="1E2833"/>
                </a:solidFill>
                <a:latin typeface="Segoe UI"/>
              </a:rPr>
              <a:t>Analog video for piloting; VTX → antenna.</a:t>
            </a:r>
          </a:p>
          <a:p>
            <a:pPr>
              <a:lnSpc>
                <a:spcPct val="104000"/>
              </a:lnSpc>
              <a:spcBef>
                <a:spcPts val="300"/>
              </a:spcBef>
              <a:spcAft>
                <a:spcPts val="400"/>
              </a:spcAft>
            </a:pPr>
            <a:r>
              <a:rPr sz="1400" b="1">
                <a:solidFill>
                  <a:srgbClr val="2E86AB"/>
                </a:solidFill>
                <a:latin typeface="Segoe UI"/>
              </a:rPr>
              <a:t>▸  </a:t>
            </a:r>
            <a:r>
              <a:rPr sz="1150" b="1">
                <a:solidFill>
                  <a:srgbClr val="0F2540"/>
                </a:solidFill>
                <a:latin typeface="Segoe UI"/>
              </a:rPr>
              <a:t>rx (diversity).  </a:t>
            </a:r>
            <a:r>
              <a:rPr sz="1150" b="0">
                <a:solidFill>
                  <a:srgbClr val="1E2833"/>
                </a:solidFill>
                <a:latin typeface="Segoe UI"/>
              </a:rPr>
              <a:t>ELRS control + telemetry, two antennas.</a:t>
            </a:r>
          </a:p>
          <a:p>
            <a:pPr>
              <a:lnSpc>
                <a:spcPct val="104000"/>
              </a:lnSpc>
              <a:spcBef>
                <a:spcPts val="300"/>
              </a:spcBef>
              <a:spcAft>
                <a:spcPts val="400"/>
              </a:spcAft>
            </a:pPr>
            <a:r>
              <a:rPr sz="1400" b="1">
                <a:solidFill>
                  <a:srgbClr val="2E86AB"/>
                </a:solidFill>
                <a:latin typeface="Segoe UI"/>
              </a:rPr>
              <a:t>▸  </a:t>
            </a:r>
            <a:r>
              <a:rPr sz="1150" b="1">
                <a:solidFill>
                  <a:srgbClr val="0F2540"/>
                </a:solidFill>
                <a:latin typeface="Segoe UI"/>
              </a:rPr>
              <a:t>gps.  </a:t>
            </a:r>
            <a:r>
              <a:rPr sz="1150" b="0">
                <a:solidFill>
                  <a:srgbClr val="1E2833"/>
                </a:solidFill>
                <a:latin typeface="Segoe UI"/>
              </a:rPr>
              <a:t>u-blox M10 for waypoint navigation.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2 · ARCHITECTURE</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Onboard Compute (SBC) — Software Architecture</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16</a:t>
            </a:r>
          </a:p>
        </p:txBody>
      </p:sp>
      <p:sp>
        <p:nvSpPr>
          <p:cNvPr id="9" name="Rectangle 8"/>
          <p:cNvSpPr/>
          <p:nvPr/>
        </p:nvSpPr>
        <p:spPr>
          <a:xfrm>
            <a:off x="1107388" y="1234440"/>
            <a:ext cx="4496920" cy="4800600"/>
          </a:xfrm>
          <a:prstGeom prst="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bc_internal_block_diagram_dev.png"/>
          <p:cNvPicPr>
            <a:picLocks noChangeAspect="1"/>
          </p:cNvPicPr>
          <p:nvPr/>
        </p:nvPicPr>
        <p:blipFill>
          <a:blip r:embed="rId2"/>
          <a:stretch>
            <a:fillRect/>
          </a:stretch>
        </p:blipFill>
        <p:spPr>
          <a:xfrm>
            <a:off x="1162252" y="1289304"/>
            <a:ext cx="4387192" cy="4690872"/>
          </a:xfrm>
          <a:prstGeom prst="rect">
            <a:avLst/>
          </a:prstGeom>
        </p:spPr>
      </p:pic>
      <p:sp>
        <p:nvSpPr>
          <p:cNvPr id="11" name="TextBox 10"/>
          <p:cNvSpPr txBox="1"/>
          <p:nvPr/>
        </p:nvSpPr>
        <p:spPr>
          <a:xfrm>
            <a:off x="566928" y="6053328"/>
            <a:ext cx="55778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050" b="0" i="1">
                <a:solidFill>
                  <a:srgbClr val="5C6B7A"/>
                </a:solidFill>
                <a:latin typeface="Segoe UI"/>
              </a:rPr>
              <a:t>SBCPayload internal block diagram — amber boxes = to-be-developed software (D-1 thermalModel · D-2 missionApp)</a:t>
            </a:r>
          </a:p>
        </p:txBody>
      </p:sp>
      <p:sp>
        <p:nvSpPr>
          <p:cNvPr id="12" name="TextBox 11"/>
          <p:cNvSpPr txBox="1"/>
          <p:nvPr/>
        </p:nvSpPr>
        <p:spPr>
          <a:xfrm>
            <a:off x="6355080" y="1371600"/>
            <a:ext cx="5257800" cy="4663440"/>
          </a:xfrm>
          <a:prstGeom prst="rect">
            <a:avLst/>
          </a:prstGeom>
          <a:noFill/>
        </p:spPr>
        <p:txBody>
          <a:bodyPr wrap="square" anchor="t" lIns="0" rIns="0" tIns="0" bIns="0">
            <a:spAutoFit/>
          </a:bodyPr>
          <a:lstStyle/>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NanoPi M5 (RK3576, 6 TOPS NPU).  </a:t>
            </a:r>
            <a:r>
              <a:rPr sz="1300" b="0">
                <a:solidFill>
                  <a:srgbClr val="1E2833"/>
                </a:solidFill>
                <a:latin typeface="Segoe UI"/>
              </a:rPr>
              <a:t>Passive-cooled, ≤ 10 W — meets R4_SBC_PWR / R4_SBC_TEMP with no fan required.</a:t>
            </a:r>
          </a:p>
          <a:p>
            <a:pPr>
              <a:lnSpc>
                <a:spcPct val="104000"/>
              </a:lnSpc>
              <a:spcBef>
                <a:spcPts val="300"/>
              </a:spcBef>
              <a:spcAft>
                <a:spcPts val="300"/>
              </a:spcAft>
            </a:pPr>
            <a:r>
              <a:rPr sz="1400" b="1">
                <a:solidFill>
                  <a:srgbClr val="2E86AB"/>
                </a:solidFill>
                <a:latin typeface="Segoe UI"/>
              </a:rPr>
              <a:t>▸  </a:t>
            </a:r>
            <a:r>
              <a:rPr sz="1300" b="1">
                <a:solidFill>
                  <a:srgbClr val="D9821E"/>
                </a:solidFill>
                <a:latin typeface="Segoe UI"/>
              </a:rPr>
              <a:t>missionApp  (D-2 · to develop).  </a:t>
            </a:r>
          </a:p>
          <a:p>
            <a:pPr>
              <a:lnSpc>
                <a:spcPct val="104000"/>
              </a:lnSpc>
              <a:spcBef>
                <a:spcPts val="300"/>
              </a:spcBef>
              <a:spcAft>
                <a:spcPts val="300"/>
              </a:spcAft>
            </a:pPr>
            <a:r>
              <a:rPr sz="1400" b="1">
                <a:solidFill>
                  <a:srgbClr val="5C6B7A"/>
                </a:solidFill>
                <a:latin typeface="Segoe UI"/>
              </a:rPr>
              <a:t>     –  </a:t>
            </a:r>
            <a:r>
              <a:rPr sz="1250" b="0">
                <a:solidFill>
                  <a:srgbClr val="1E2833"/>
                </a:solidFill>
                <a:latin typeface="Segoe UI"/>
              </a:rPr>
              <a:t>Receives the thermal frame (UVC), runs the detect/investigate loop, commands routes via MAVLink.</a:t>
            </a:r>
          </a:p>
          <a:p>
            <a:pPr>
              <a:lnSpc>
                <a:spcPct val="104000"/>
              </a:lnSpc>
              <a:spcBef>
                <a:spcPts val="300"/>
              </a:spcBef>
              <a:spcAft>
                <a:spcPts val="300"/>
              </a:spcAft>
            </a:pPr>
            <a:r>
              <a:rPr sz="1400" b="1">
                <a:solidFill>
                  <a:srgbClr val="2E86AB"/>
                </a:solidFill>
                <a:latin typeface="Segoe UI"/>
              </a:rPr>
              <a:t>▸  </a:t>
            </a:r>
            <a:r>
              <a:rPr sz="1300" b="1">
                <a:solidFill>
                  <a:srgbClr val="D9821E"/>
                </a:solidFill>
                <a:latin typeface="Segoe UI"/>
              </a:rPr>
              <a:t>thermalModel  (D-1 · to develop) → rknnRuntime.  </a:t>
            </a:r>
          </a:p>
          <a:p>
            <a:pPr>
              <a:lnSpc>
                <a:spcPct val="104000"/>
              </a:lnSpc>
              <a:spcBef>
                <a:spcPts val="300"/>
              </a:spcBef>
              <a:spcAft>
                <a:spcPts val="300"/>
              </a:spcAft>
            </a:pPr>
            <a:r>
              <a:rPr sz="1400" b="1">
                <a:solidFill>
                  <a:srgbClr val="5C6B7A"/>
                </a:solidFill>
                <a:latin typeface="Segoe UI"/>
              </a:rPr>
              <a:t>     –  </a:t>
            </a:r>
            <a:r>
              <a:rPr sz="1250" b="0">
                <a:solidFill>
                  <a:srgbClr val="1E2833"/>
                </a:solidFill>
                <a:latin typeface="Segoe UI"/>
              </a:rPr>
              <a:t>INT8 model allocated to the RKNN NPU runtime — the inference server for onboard classification.</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mavlinkRouter.  </a:t>
            </a:r>
          </a:p>
          <a:p>
            <a:pPr>
              <a:lnSpc>
                <a:spcPct val="104000"/>
              </a:lnSpc>
              <a:spcBef>
                <a:spcPts val="300"/>
              </a:spcBef>
              <a:spcAft>
                <a:spcPts val="300"/>
              </a:spcAft>
            </a:pPr>
            <a:r>
              <a:rPr sz="1400" b="1">
                <a:solidFill>
                  <a:srgbClr val="5C6B7A"/>
                </a:solidFill>
                <a:latin typeface="Segoe UI"/>
              </a:rPr>
              <a:t>     –  </a:t>
            </a:r>
            <a:r>
              <a:rPr sz="1250" b="0">
                <a:solidFill>
                  <a:srgbClr val="1E2833"/>
                </a:solidFill>
                <a:latin typeface="Segoe UI"/>
              </a:rPr>
              <a:t>Routes MAVLink between missionApp and the flight-controller UART (data_af interface).</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Ports.  </a:t>
            </a:r>
            <a:r>
              <a:rPr sz="1300" b="0">
                <a:solidFill>
                  <a:srgbClr val="1E2833"/>
                </a:solidFill>
                <a:latin typeface="Segoe UI"/>
              </a:rPr>
              <a:t>USB-A #1 = thermal in (committed); USB-A #2 reserved for Phase 4 downlink; USB-C = 12 V power via dedicated UBEC.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2 · ARCHITECTURE</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Ground Control Station — Internal Block Diagram</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17</a:t>
            </a:r>
          </a:p>
        </p:txBody>
      </p:sp>
      <p:sp>
        <p:nvSpPr>
          <p:cNvPr id="9" name="Rectangle 8"/>
          <p:cNvSpPr/>
          <p:nvPr/>
        </p:nvSpPr>
        <p:spPr>
          <a:xfrm>
            <a:off x="1041105" y="1234440"/>
            <a:ext cx="4629486" cy="4800600"/>
          </a:xfrm>
          <a:prstGeom prst="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cs_internal_block_diagram.png"/>
          <p:cNvPicPr>
            <a:picLocks noChangeAspect="1"/>
          </p:cNvPicPr>
          <p:nvPr/>
        </p:nvPicPr>
        <p:blipFill>
          <a:blip r:embed="rId2"/>
          <a:stretch>
            <a:fillRect/>
          </a:stretch>
        </p:blipFill>
        <p:spPr>
          <a:xfrm>
            <a:off x="1095969" y="1289304"/>
            <a:ext cx="4519758" cy="4690872"/>
          </a:xfrm>
          <a:prstGeom prst="rect">
            <a:avLst/>
          </a:prstGeom>
        </p:spPr>
      </p:pic>
      <p:sp>
        <p:nvSpPr>
          <p:cNvPr id="11" name="TextBox 10"/>
          <p:cNvSpPr txBox="1"/>
          <p:nvPr/>
        </p:nvSpPr>
        <p:spPr>
          <a:xfrm>
            <a:off x="566928" y="6053328"/>
            <a:ext cx="55778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050" b="0" i="1">
                <a:solidFill>
                  <a:srgbClr val="5C6B7A"/>
                </a:solidFill>
                <a:latin typeface="Segoe UI"/>
              </a:rPr>
              <a:t>GCS internal block diagram — laptop, video capture, control &amp; telemetry</a:t>
            </a:r>
          </a:p>
        </p:txBody>
      </p:sp>
      <p:sp>
        <p:nvSpPr>
          <p:cNvPr id="12" name="TextBox 11"/>
          <p:cNvSpPr txBox="1"/>
          <p:nvPr/>
        </p:nvSpPr>
        <p:spPr>
          <a:xfrm>
            <a:off x="6355080" y="1371600"/>
            <a:ext cx="5257800" cy="4663440"/>
          </a:xfrm>
          <a:prstGeom prst="rect">
            <a:avLst/>
          </a:prstGeom>
          <a:noFill/>
        </p:spPr>
        <p:txBody>
          <a:bodyPr wrap="square" anchor="t" lIns="0" rIns="0" tIns="0" bIns="0">
            <a:spAutoFit/>
          </a:bodyPr>
          <a:lstStyle/>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viewingComputer (laptop).  </a:t>
            </a:r>
            <a:r>
              <a:rPr sz="1300" b="0">
                <a:solidFill>
                  <a:srgbClr val="1E2833"/>
                </a:solidFill>
                <a:latin typeface="Segoe UI"/>
              </a:rPr>
              <a:t>Existing MacBook Air running QGroundControl 4.4+ — mission plan, telemetry, video, params, alerts, logs.</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videoRx → capture.  </a:t>
            </a:r>
            <a:r>
              <a:rPr sz="1300" b="0">
                <a:solidFill>
                  <a:srgbClr val="1E2833"/>
                </a:solidFill>
                <a:latin typeface="Segoe UI"/>
              </a:rPr>
              <a:t>5.8 GHz analog receiver → USB UVC capture into the laptop (QuickTime/OBS) for piloting video.</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rcTx.  </a:t>
            </a:r>
            <a:r>
              <a:rPr sz="1300" b="0">
                <a:solidFill>
                  <a:srgbClr val="1E2833"/>
                </a:solidFill>
                <a:latin typeface="Segoe UI"/>
              </a:rPr>
              <a:t>RadioMaster TX12 MkII (ELRS) — manual control uplink; primary in-flight MAVLink telemetry runs through the HGLRC Hermes USB dongle.</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groundAntenna.  </a:t>
            </a:r>
            <a:r>
              <a:rPr sz="1300" b="0">
                <a:solidFill>
                  <a:srgbClr val="1E2833"/>
                </a:solidFill>
                <a:latin typeface="Segoe UI"/>
              </a:rPr>
              <a:t>TrueRC X-AIR patch (10 dBic, 120°) — closes the 2.8 km video link with margin.</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charger.  </a:t>
            </a:r>
            <a:r>
              <a:rPr sz="1300" b="0">
                <a:solidFill>
                  <a:srgbClr val="1E2833"/>
                </a:solidFill>
                <a:latin typeface="Segoe UI"/>
              </a:rPr>
              <a:t>Ground-support equipment (HOTA D6 Pro) — not flown, excluded from system cost.</a:t>
            </a:r>
          </a:p>
          <a:p>
            <a:pPr>
              <a:lnSpc>
                <a:spcPct val="104000"/>
              </a:lnSpc>
              <a:spcBef>
                <a:spcPts val="300"/>
              </a:spcBef>
              <a:spcAft>
                <a:spcPts val="300"/>
              </a:spcAft>
            </a:pPr>
            <a:r>
              <a:rPr sz="1400" b="1">
                <a:solidFill>
                  <a:srgbClr val="2E86AB"/>
                </a:solidFill>
                <a:latin typeface="Segoe UI"/>
              </a:rPr>
              <a:t>▸  </a:t>
            </a:r>
            <a:r>
              <a:rPr sz="1250" b="1">
                <a:solidFill>
                  <a:srgbClr val="D9821E"/>
                </a:solidFill>
                <a:latin typeface="Segoe UI"/>
              </a:rPr>
              <a:t>Phase 4 (deferred) — not shown on the diagram above.  </a:t>
            </a:r>
            <a:r>
              <a:rPr sz="1250" b="0">
                <a:solidFill>
                  <a:srgbClr val="5C6B7A"/>
                </a:solidFill>
                <a:latin typeface="Segoe UI"/>
              </a:rPr>
              <a:t>Ground OpenHD node for the future thermal-video downlink: openHDRx (Alfa AWUS036ACH Wi-Fi adapter) + openHDAntennaA / openHDAntennaB (Foxeer Echo 2 Max diversity antennas). Phase 4 options, not in the committed build.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2 · ARCHITECTURE</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Interface Design  (Internal &amp; External)</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18</a:t>
            </a:r>
          </a:p>
        </p:txBody>
      </p:sp>
      <p:sp>
        <p:nvSpPr>
          <p:cNvPr id="9" name="TextBox 8"/>
          <p:cNvSpPr txBox="1"/>
          <p:nvPr/>
        </p:nvSpPr>
        <p:spPr>
          <a:xfrm>
            <a:off x="566928" y="1170432"/>
            <a:ext cx="548640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INTERNAL (WIRED) INTERFACES</a:t>
            </a:r>
          </a:p>
        </p:txBody>
      </p:sp>
      <p:graphicFrame>
        <p:nvGraphicFramePr>
          <p:cNvPr id="10" name="Table 9"/>
          <p:cNvGraphicFramePr>
            <a:graphicFrameLocks noGrp="1"/>
          </p:cNvGraphicFramePr>
          <p:nvPr/>
        </p:nvGraphicFramePr>
        <p:xfrm>
          <a:off x="566928" y="1481328"/>
          <a:ext cx="5486400" cy="2487168"/>
        </p:xfrm>
        <a:graphic>
          <a:graphicData uri="http://schemas.openxmlformats.org/drawingml/2006/table">
            <a:tbl>
              <a:tblPr>
                <a:tableStyleId>{5C22544A-7EE6-4342-B048-85BDC9FD1C3A}</a:tableStyleId>
              </a:tblPr>
              <a:tblGrid>
                <a:gridCol w="1554480"/>
                <a:gridCol w="2697480"/>
                <a:gridCol w="1234440"/>
              </a:tblGrid>
              <a:tr h="310896">
                <a:tc>
                  <a:txBody>
                    <a:bodyPr wrap="square"/>
                    <a:lstStyle/>
                    <a:p>
                      <a:pPr algn="l"/>
                      <a:r>
                        <a:rPr sz="1000" b="1">
                          <a:solidFill>
                            <a:srgbClr val="FFFFFF"/>
                          </a:solidFill>
                          <a:latin typeface="Segoe UI"/>
                        </a:rPr>
                        <a:t>Interface</a:t>
                      </a:r>
                    </a:p>
                  </a:txBody>
                  <a:tcPr marL="54864" marR="54864" marT="18288" marB="18288" anchor="ctr">
                    <a:solidFill>
                      <a:srgbClr val="0F2540"/>
                    </a:solidFill>
                  </a:tcPr>
                </a:tc>
                <a:tc>
                  <a:txBody>
                    <a:bodyPr wrap="square"/>
                    <a:lstStyle/>
                    <a:p>
                      <a:pPr algn="l"/>
                      <a:r>
                        <a:rPr sz="1000" b="1">
                          <a:solidFill>
                            <a:srgbClr val="FFFFFF"/>
                          </a:solidFill>
                          <a:latin typeface="Segoe UI"/>
                        </a:rPr>
                        <a:t>From → To</a:t>
                      </a:r>
                    </a:p>
                  </a:txBody>
                  <a:tcPr marL="54864" marR="54864" marT="18288" marB="18288" anchor="ctr">
                    <a:solidFill>
                      <a:srgbClr val="0F2540"/>
                    </a:solidFill>
                  </a:tcPr>
                </a:tc>
                <a:tc>
                  <a:txBody>
                    <a:bodyPr wrap="square"/>
                    <a:lstStyle/>
                    <a:p>
                      <a:pPr algn="l"/>
                      <a:r>
                        <a:rPr sz="1000" b="1">
                          <a:solidFill>
                            <a:srgbClr val="FFFFFF"/>
                          </a:solidFill>
                          <a:latin typeface="Segoe UI"/>
                        </a:rPr>
                        <a:t>Type</a:t>
                      </a:r>
                    </a:p>
                  </a:txBody>
                  <a:tcPr marL="54864" marR="54864" marT="18288" marB="18288" anchor="ctr">
                    <a:solidFill>
                      <a:srgbClr val="0F2540"/>
                    </a:solidFill>
                  </a:tcPr>
                </a:tc>
              </a:tr>
              <a:tr h="310896">
                <a:tc>
                  <a:txBody>
                    <a:bodyPr wrap="square"/>
                    <a:lstStyle/>
                    <a:p>
                      <a:pPr algn="l"/>
                      <a:r>
                        <a:rPr sz="950" b="0">
                          <a:solidFill>
                            <a:srgbClr val="1E2833"/>
                          </a:solidFill>
                          <a:latin typeface="Segoe UI"/>
                        </a:rPr>
                        <a:t>Battery power</a:t>
                      </a:r>
                    </a:p>
                  </a:txBody>
                  <a:tcPr marL="54864" marR="54864" marT="18288" marB="18288" anchor="ctr">
                    <a:solidFill>
                      <a:srgbClr val="FFFFFF"/>
                    </a:solidFill>
                  </a:tcPr>
                </a:tc>
                <a:tc>
                  <a:txBody>
                    <a:bodyPr wrap="square"/>
                    <a:lstStyle/>
                    <a:p>
                      <a:pPr algn="l"/>
                      <a:r>
                        <a:rPr sz="950" b="0">
                          <a:solidFill>
                            <a:srgbClr val="1E2833"/>
                          </a:solidFill>
                          <a:latin typeface="Segoe UI"/>
                        </a:rPr>
                        <a:t>battery → antiSpark → platform</a:t>
                      </a:r>
                    </a:p>
                  </a:txBody>
                  <a:tcPr marL="54864" marR="54864" marT="18288" marB="18288" anchor="ctr">
                    <a:solidFill>
                      <a:srgbClr val="FFFFFF"/>
                    </a:solidFill>
                  </a:tcPr>
                </a:tc>
                <a:tc>
                  <a:txBody>
                    <a:bodyPr wrap="square"/>
                    <a:lstStyle/>
                    <a:p>
                      <a:pPr algn="l"/>
                      <a:r>
                        <a:rPr sz="950" b="0">
                          <a:solidFill>
                            <a:srgbClr val="1E2833"/>
                          </a:solidFill>
                          <a:latin typeface="Segoe UI"/>
                        </a:rPr>
                        <a:t>XT60, 6S</a:t>
                      </a:r>
                    </a:p>
                  </a:txBody>
                  <a:tcPr marL="54864" marR="54864" marT="18288" marB="18288" anchor="ctr">
                    <a:solidFill>
                      <a:srgbClr val="FFFFFF"/>
                    </a:solidFill>
                  </a:tcPr>
                </a:tc>
              </a:tr>
              <a:tr h="310896">
                <a:tc>
                  <a:txBody>
                    <a:bodyPr wrap="square"/>
                    <a:lstStyle/>
                    <a:p>
                      <a:pPr algn="l"/>
                      <a:r>
                        <a:rPr sz="950" b="0">
                          <a:solidFill>
                            <a:srgbClr val="1E2833"/>
                          </a:solidFill>
                          <a:latin typeface="Segoe UI"/>
                        </a:rPr>
                        <a:t>Thermal video</a:t>
                      </a:r>
                    </a:p>
                  </a:txBody>
                  <a:tcPr marL="54864" marR="54864" marT="18288" marB="18288" anchor="ctr">
                    <a:solidFill>
                      <a:srgbClr val="F6F8FA"/>
                    </a:solidFill>
                  </a:tcPr>
                </a:tc>
                <a:tc>
                  <a:txBody>
                    <a:bodyPr wrap="square"/>
                    <a:lstStyle/>
                    <a:p>
                      <a:pPr algn="l"/>
                      <a:r>
                        <a:rPr sz="950" b="0">
                          <a:solidFill>
                            <a:srgbClr val="1E2833"/>
                          </a:solidFill>
                          <a:latin typeface="Segoe UI"/>
                        </a:rPr>
                        <a:t>camera → sbc</a:t>
                      </a:r>
                    </a:p>
                  </a:txBody>
                  <a:tcPr marL="54864" marR="54864" marT="18288" marB="18288" anchor="ctr">
                    <a:solidFill>
                      <a:srgbClr val="F6F8FA"/>
                    </a:solidFill>
                  </a:tcPr>
                </a:tc>
                <a:tc>
                  <a:txBody>
                    <a:bodyPr wrap="square"/>
                    <a:lstStyle/>
                    <a:p>
                      <a:pPr algn="l"/>
                      <a:r>
                        <a:rPr sz="950" b="0">
                          <a:solidFill>
                            <a:srgbClr val="1E2833"/>
                          </a:solidFill>
                          <a:latin typeface="Segoe UI"/>
                        </a:rPr>
                        <a:t>USB-UVC</a:t>
                      </a:r>
                    </a:p>
                  </a:txBody>
                  <a:tcPr marL="54864" marR="54864" marT="18288" marB="18288" anchor="ctr">
                    <a:solidFill>
                      <a:srgbClr val="F6F8FA"/>
                    </a:solidFill>
                  </a:tcPr>
                </a:tc>
              </a:tr>
              <a:tr h="310896">
                <a:tc>
                  <a:txBody>
                    <a:bodyPr wrap="square"/>
                    <a:lstStyle/>
                    <a:p>
                      <a:pPr algn="l"/>
                      <a:r>
                        <a:rPr sz="950" b="0">
                          <a:solidFill>
                            <a:srgbClr val="1E2833"/>
                          </a:solidFill>
                          <a:latin typeface="Segoe UI"/>
                        </a:rPr>
                        <a:t>Autonomy data</a:t>
                      </a:r>
                    </a:p>
                  </a:txBody>
                  <a:tcPr marL="54864" marR="54864" marT="18288" marB="18288" anchor="ctr">
                    <a:solidFill>
                      <a:srgbClr val="FFFFFF"/>
                    </a:solidFill>
                  </a:tcPr>
                </a:tc>
                <a:tc>
                  <a:txBody>
                    <a:bodyPr wrap="square"/>
                    <a:lstStyle/>
                    <a:p>
                      <a:pPr algn="l"/>
                      <a:r>
                        <a:rPr sz="950" b="0">
                          <a:solidFill>
                            <a:srgbClr val="1E2833"/>
                          </a:solidFill>
                          <a:latin typeface="Segoe UI"/>
                        </a:rPr>
                        <a:t>sbc ↔ FC</a:t>
                      </a:r>
                    </a:p>
                  </a:txBody>
                  <a:tcPr marL="54864" marR="54864" marT="18288" marB="18288" anchor="ctr">
                    <a:solidFill>
                      <a:srgbClr val="FFFFFF"/>
                    </a:solidFill>
                  </a:tcPr>
                </a:tc>
                <a:tc>
                  <a:txBody>
                    <a:bodyPr wrap="square"/>
                    <a:lstStyle/>
                    <a:p>
                      <a:pPr algn="l"/>
                      <a:r>
                        <a:rPr sz="950" b="0">
                          <a:solidFill>
                            <a:srgbClr val="1E2833"/>
                          </a:solidFill>
                          <a:latin typeface="Segoe UI"/>
                        </a:rPr>
                        <a:t>MAVLink / UART</a:t>
                      </a:r>
                    </a:p>
                  </a:txBody>
                  <a:tcPr marL="54864" marR="54864" marT="18288" marB="18288" anchor="ctr">
                    <a:solidFill>
                      <a:srgbClr val="FFFFFF"/>
                    </a:solidFill>
                  </a:tcPr>
                </a:tc>
              </a:tr>
              <a:tr h="310896">
                <a:tc>
                  <a:txBody>
                    <a:bodyPr wrap="square"/>
                    <a:lstStyle/>
                    <a:p>
                      <a:pPr algn="l"/>
                      <a:r>
                        <a:rPr sz="950" b="0">
                          <a:solidFill>
                            <a:srgbClr val="1E2833"/>
                          </a:solidFill>
                          <a:latin typeface="Segoe UI"/>
                        </a:rPr>
                        <a:t>FPV video</a:t>
                      </a:r>
                    </a:p>
                  </a:txBody>
                  <a:tcPr marL="54864" marR="54864" marT="18288" marB="18288" anchor="ctr">
                    <a:solidFill>
                      <a:srgbClr val="F6F8FA"/>
                    </a:solidFill>
                  </a:tcPr>
                </a:tc>
                <a:tc>
                  <a:txBody>
                    <a:bodyPr wrap="square"/>
                    <a:lstStyle/>
                    <a:p>
                      <a:pPr algn="l"/>
                      <a:r>
                        <a:rPr sz="950" b="0">
                          <a:solidFill>
                            <a:srgbClr val="1E2833"/>
                          </a:solidFill>
                          <a:latin typeface="Segoe UI"/>
                        </a:rPr>
                        <a:t>fpvCam → vtx</a:t>
                      </a:r>
                    </a:p>
                  </a:txBody>
                  <a:tcPr marL="54864" marR="54864" marT="18288" marB="18288" anchor="ctr">
                    <a:solidFill>
                      <a:srgbClr val="F6F8FA"/>
                    </a:solidFill>
                  </a:tcPr>
                </a:tc>
                <a:tc>
                  <a:txBody>
                    <a:bodyPr wrap="square"/>
                    <a:lstStyle/>
                    <a:p>
                      <a:pPr algn="l"/>
                      <a:r>
                        <a:rPr sz="950" b="0">
                          <a:solidFill>
                            <a:srgbClr val="1E2833"/>
                          </a:solidFill>
                          <a:latin typeface="Segoe UI"/>
                        </a:rPr>
                        <a:t>Analog CVBS</a:t>
                      </a:r>
                    </a:p>
                  </a:txBody>
                  <a:tcPr marL="54864" marR="54864" marT="18288" marB="18288" anchor="ctr">
                    <a:solidFill>
                      <a:srgbClr val="F6F8FA"/>
                    </a:solidFill>
                  </a:tcPr>
                </a:tc>
              </a:tr>
              <a:tr h="310896">
                <a:tc>
                  <a:txBody>
                    <a:bodyPr wrap="square"/>
                    <a:lstStyle/>
                    <a:p>
                      <a:pPr algn="l"/>
                      <a:r>
                        <a:rPr sz="950" b="0">
                          <a:solidFill>
                            <a:srgbClr val="1E2833"/>
                          </a:solidFill>
                          <a:latin typeface="Segoe UI"/>
                        </a:rPr>
                        <a:t>Navigation</a:t>
                      </a:r>
                    </a:p>
                  </a:txBody>
                  <a:tcPr marL="54864" marR="54864" marT="18288" marB="18288" anchor="ctr">
                    <a:solidFill>
                      <a:srgbClr val="FFFFFF"/>
                    </a:solidFill>
                  </a:tcPr>
                </a:tc>
                <a:tc>
                  <a:txBody>
                    <a:bodyPr wrap="square"/>
                    <a:lstStyle/>
                    <a:p>
                      <a:pPr algn="l"/>
                      <a:r>
                        <a:rPr sz="950" b="0">
                          <a:solidFill>
                            <a:srgbClr val="1E2833"/>
                          </a:solidFill>
                          <a:latin typeface="Segoe UI"/>
                        </a:rPr>
                        <a:t>gps → FC</a:t>
                      </a:r>
                    </a:p>
                  </a:txBody>
                  <a:tcPr marL="54864" marR="54864" marT="18288" marB="18288" anchor="ctr">
                    <a:solidFill>
                      <a:srgbClr val="FFFFFF"/>
                    </a:solidFill>
                  </a:tcPr>
                </a:tc>
                <a:tc>
                  <a:txBody>
                    <a:bodyPr wrap="square"/>
                    <a:lstStyle/>
                    <a:p>
                      <a:pPr algn="l"/>
                      <a:r>
                        <a:rPr sz="950" b="0">
                          <a:solidFill>
                            <a:srgbClr val="1E2833"/>
                          </a:solidFill>
                          <a:latin typeface="Segoe UI"/>
                        </a:rPr>
                        <a:t>UART</a:t>
                      </a:r>
                    </a:p>
                  </a:txBody>
                  <a:tcPr marL="54864" marR="54864" marT="18288" marB="18288" anchor="ctr">
                    <a:solidFill>
                      <a:srgbClr val="FFFFFF"/>
                    </a:solidFill>
                  </a:tcPr>
                </a:tc>
              </a:tr>
              <a:tr h="310896">
                <a:tc>
                  <a:txBody>
                    <a:bodyPr wrap="square"/>
                    <a:lstStyle/>
                    <a:p>
                      <a:pPr algn="l"/>
                      <a:r>
                        <a:rPr sz="950" b="0">
                          <a:solidFill>
                            <a:srgbClr val="1E2833"/>
                          </a:solidFill>
                          <a:latin typeface="Segoe UI"/>
                        </a:rPr>
                        <a:t>Control data</a:t>
                      </a:r>
                    </a:p>
                  </a:txBody>
                  <a:tcPr marL="54864" marR="54864" marT="18288" marB="18288" anchor="ctr">
                    <a:solidFill>
                      <a:srgbClr val="F6F8FA"/>
                    </a:solidFill>
                  </a:tcPr>
                </a:tc>
                <a:tc>
                  <a:txBody>
                    <a:bodyPr wrap="square"/>
                    <a:lstStyle/>
                    <a:p>
                      <a:pPr algn="l"/>
                      <a:r>
                        <a:rPr sz="950" b="0">
                          <a:solidFill>
                            <a:srgbClr val="1E2833"/>
                          </a:solidFill>
                          <a:latin typeface="Segoe UI"/>
                        </a:rPr>
                        <a:t>rx → FC</a:t>
                      </a:r>
                    </a:p>
                  </a:txBody>
                  <a:tcPr marL="54864" marR="54864" marT="18288" marB="18288" anchor="ctr">
                    <a:solidFill>
                      <a:srgbClr val="F6F8FA"/>
                    </a:solidFill>
                  </a:tcPr>
                </a:tc>
                <a:tc>
                  <a:txBody>
                    <a:bodyPr wrap="square"/>
                    <a:lstStyle/>
                    <a:p>
                      <a:pPr algn="l"/>
                      <a:r>
                        <a:rPr sz="950" b="0">
                          <a:solidFill>
                            <a:srgbClr val="1E2833"/>
                          </a:solidFill>
                          <a:latin typeface="Segoe UI"/>
                        </a:rPr>
                        <a:t>CRSF</a:t>
                      </a:r>
                    </a:p>
                  </a:txBody>
                  <a:tcPr marL="54864" marR="54864" marT="18288" marB="18288" anchor="ctr">
                    <a:solidFill>
                      <a:srgbClr val="F6F8FA"/>
                    </a:solidFill>
                  </a:tcPr>
                </a:tc>
              </a:tr>
              <a:tr h="310896">
                <a:tc>
                  <a:txBody>
                    <a:bodyPr wrap="square"/>
                    <a:lstStyle/>
                    <a:p>
                      <a:pPr algn="l"/>
                      <a:r>
                        <a:rPr sz="950" b="0">
                          <a:solidFill>
                            <a:srgbClr val="1E2833"/>
                          </a:solidFill>
                          <a:latin typeface="Segoe UI"/>
                        </a:rPr>
                        <a:t>SBC power</a:t>
                      </a:r>
                    </a:p>
                  </a:txBody>
                  <a:tcPr marL="54864" marR="54864" marT="18288" marB="18288" anchor="ctr">
                    <a:solidFill>
                      <a:srgbClr val="FFFFFF"/>
                    </a:solidFill>
                  </a:tcPr>
                </a:tc>
                <a:tc>
                  <a:txBody>
                    <a:bodyPr wrap="square"/>
                    <a:lstStyle/>
                    <a:p>
                      <a:pPr algn="l"/>
                      <a:r>
                        <a:rPr sz="950" b="0">
                          <a:solidFill>
                            <a:srgbClr val="1E2833"/>
                          </a:solidFill>
                          <a:latin typeface="Segoe UI"/>
                        </a:rPr>
                        <a:t>battery → UBEC → sbc</a:t>
                      </a:r>
                    </a:p>
                  </a:txBody>
                  <a:tcPr marL="54864" marR="54864" marT="18288" marB="18288" anchor="ctr">
                    <a:solidFill>
                      <a:srgbClr val="FFFFFF"/>
                    </a:solidFill>
                  </a:tcPr>
                </a:tc>
                <a:tc>
                  <a:txBody>
                    <a:bodyPr wrap="square"/>
                    <a:lstStyle/>
                    <a:p>
                      <a:pPr algn="l"/>
                      <a:r>
                        <a:rPr sz="950" b="0">
                          <a:solidFill>
                            <a:srgbClr val="1E2833"/>
                          </a:solidFill>
                          <a:latin typeface="Segoe UI"/>
                        </a:rPr>
                        <a:t>12 V / USB-C</a:t>
                      </a:r>
                    </a:p>
                  </a:txBody>
                  <a:tcPr marL="54864" marR="54864" marT="18288" marB="18288" anchor="ctr">
                    <a:solidFill>
                      <a:srgbClr val="FFFFFF"/>
                    </a:solidFill>
                  </a:tcPr>
                </a:tc>
              </a:tr>
            </a:tbl>
          </a:graphicData>
        </a:graphic>
      </p:graphicFrame>
      <p:sp>
        <p:nvSpPr>
          <p:cNvPr id="11" name="TextBox 10"/>
          <p:cNvSpPr txBox="1"/>
          <p:nvPr/>
        </p:nvSpPr>
        <p:spPr>
          <a:xfrm>
            <a:off x="6309360" y="1170432"/>
            <a:ext cx="53035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EXTERNAL (WIRELESS) INTERFACES</a:t>
            </a:r>
          </a:p>
        </p:txBody>
      </p:sp>
      <p:graphicFrame>
        <p:nvGraphicFramePr>
          <p:cNvPr id="12" name="Table 11"/>
          <p:cNvGraphicFramePr>
            <a:graphicFrameLocks noGrp="1"/>
          </p:cNvGraphicFramePr>
          <p:nvPr/>
        </p:nvGraphicFramePr>
        <p:xfrm>
          <a:off x="6309360" y="1481328"/>
          <a:ext cx="5303520" cy="1956816"/>
        </p:xfrm>
        <a:graphic>
          <a:graphicData uri="http://schemas.openxmlformats.org/drawingml/2006/table">
            <a:tbl>
              <a:tblPr>
                <a:tableStyleId>{5C22544A-7EE6-4342-B048-85BDC9FD1C3A}</a:tableStyleId>
              </a:tblPr>
              <a:tblGrid>
                <a:gridCol w="2011680"/>
                <a:gridCol w="1737360"/>
                <a:gridCol w="1554480"/>
              </a:tblGrid>
              <a:tr h="310896">
                <a:tc>
                  <a:txBody>
                    <a:bodyPr wrap="square"/>
                    <a:lstStyle/>
                    <a:p>
                      <a:pPr algn="l"/>
                      <a:r>
                        <a:rPr sz="1000" b="1">
                          <a:solidFill>
                            <a:srgbClr val="FFFFFF"/>
                          </a:solidFill>
                          <a:latin typeface="Segoe UI"/>
                        </a:rPr>
                        <a:t>Link</a:t>
                      </a:r>
                    </a:p>
                  </a:txBody>
                  <a:tcPr marL="54864" marR="54864" marT="18288" marB="18288" anchor="ctr">
                    <a:solidFill>
                      <a:srgbClr val="0F2540"/>
                    </a:solidFill>
                  </a:tcPr>
                </a:tc>
                <a:tc>
                  <a:txBody>
                    <a:bodyPr wrap="square"/>
                    <a:lstStyle/>
                    <a:p>
                      <a:pPr algn="l"/>
                      <a:r>
                        <a:rPr sz="1000" b="1">
                          <a:solidFill>
                            <a:srgbClr val="FFFFFF"/>
                          </a:solidFill>
                          <a:latin typeface="Segoe UI"/>
                        </a:rPr>
                        <a:t>Band</a:t>
                      </a:r>
                    </a:p>
                  </a:txBody>
                  <a:tcPr marL="54864" marR="54864" marT="18288" marB="18288" anchor="ctr">
                    <a:solidFill>
                      <a:srgbClr val="0F2540"/>
                    </a:solidFill>
                  </a:tcPr>
                </a:tc>
                <a:tc>
                  <a:txBody>
                    <a:bodyPr wrap="square"/>
                    <a:lstStyle/>
                    <a:p>
                      <a:pPr algn="l"/>
                      <a:r>
                        <a:rPr sz="1000" b="1">
                          <a:solidFill>
                            <a:srgbClr val="FFFFFF"/>
                          </a:solidFill>
                          <a:latin typeface="Segoe UI"/>
                        </a:rPr>
                        <a:t>Role</a:t>
                      </a:r>
                    </a:p>
                  </a:txBody>
                  <a:tcPr marL="54864" marR="54864" marT="18288" marB="18288" anchor="ctr">
                    <a:solidFill>
                      <a:srgbClr val="0F2540"/>
                    </a:solidFill>
                  </a:tcPr>
                </a:tc>
              </a:tr>
              <a:tr h="329184">
                <a:tc>
                  <a:txBody>
                    <a:bodyPr wrap="square"/>
                    <a:lstStyle/>
                    <a:p>
                      <a:pPr algn="l"/>
                      <a:r>
                        <a:rPr sz="950" b="0">
                          <a:solidFill>
                            <a:srgbClr val="1E2833"/>
                          </a:solidFill>
                          <a:latin typeface="Segoe UI"/>
                        </a:rPr>
                        <a:t>Control uplink</a:t>
                      </a:r>
                    </a:p>
                  </a:txBody>
                  <a:tcPr marL="54864" marR="54864" marT="18288" marB="18288" anchor="ctr">
                    <a:solidFill>
                      <a:srgbClr val="FFFFFF"/>
                    </a:solidFill>
                  </a:tcPr>
                </a:tc>
                <a:tc>
                  <a:txBody>
                    <a:bodyPr wrap="square"/>
                    <a:lstStyle/>
                    <a:p>
                      <a:pPr algn="l"/>
                      <a:r>
                        <a:rPr sz="950" b="0">
                          <a:solidFill>
                            <a:srgbClr val="1E2833"/>
                          </a:solidFill>
                          <a:latin typeface="Segoe UI"/>
                        </a:rPr>
                        <a:t>2.4 GHz ELRS</a:t>
                      </a:r>
                    </a:p>
                  </a:txBody>
                  <a:tcPr marL="54864" marR="54864" marT="18288" marB="18288" anchor="ctr">
                    <a:solidFill>
                      <a:srgbClr val="FFFFFF"/>
                    </a:solidFill>
                  </a:tcPr>
                </a:tc>
                <a:tc>
                  <a:txBody>
                    <a:bodyPr wrap="square"/>
                    <a:lstStyle/>
                    <a:p>
                      <a:pPr algn="l"/>
                      <a:r>
                        <a:rPr sz="950" b="0">
                          <a:solidFill>
                            <a:srgbClr val="1E2833"/>
                          </a:solidFill>
                          <a:latin typeface="Segoe UI"/>
                        </a:rPr>
                        <a:t>RC + failsafe</a:t>
                      </a:r>
                    </a:p>
                  </a:txBody>
                  <a:tcPr marL="54864" marR="54864" marT="18288" marB="18288" anchor="ctr">
                    <a:solidFill>
                      <a:srgbClr val="FFFFFF"/>
                    </a:solidFill>
                  </a:tcPr>
                </a:tc>
              </a:tr>
              <a:tr h="329184">
                <a:tc>
                  <a:txBody>
                    <a:bodyPr wrap="square"/>
                    <a:lstStyle/>
                    <a:p>
                      <a:pPr algn="l"/>
                      <a:r>
                        <a:rPr sz="950" b="0">
                          <a:solidFill>
                            <a:srgbClr val="1E2833"/>
                          </a:solidFill>
                          <a:latin typeface="Segoe UI"/>
                        </a:rPr>
                        <a:t>Telemetry downlink</a:t>
                      </a:r>
                    </a:p>
                  </a:txBody>
                  <a:tcPr marL="54864" marR="54864" marT="18288" marB="18288" anchor="ctr">
                    <a:solidFill>
                      <a:srgbClr val="F6F8FA"/>
                    </a:solidFill>
                  </a:tcPr>
                </a:tc>
                <a:tc>
                  <a:txBody>
                    <a:bodyPr wrap="square"/>
                    <a:lstStyle/>
                    <a:p>
                      <a:pPr algn="l"/>
                      <a:r>
                        <a:rPr sz="950" b="0">
                          <a:solidFill>
                            <a:srgbClr val="1E2833"/>
                          </a:solidFill>
                          <a:latin typeface="Segoe UI"/>
                        </a:rPr>
                        <a:t>2.4 GHz ELRS</a:t>
                      </a:r>
                    </a:p>
                  </a:txBody>
                  <a:tcPr marL="54864" marR="54864" marT="18288" marB="18288" anchor="ctr">
                    <a:solidFill>
                      <a:srgbClr val="F6F8FA"/>
                    </a:solidFill>
                  </a:tcPr>
                </a:tc>
                <a:tc>
                  <a:txBody>
                    <a:bodyPr wrap="square"/>
                    <a:lstStyle/>
                    <a:p>
                      <a:pPr algn="l"/>
                      <a:r>
                        <a:rPr sz="950" b="0">
                          <a:solidFill>
                            <a:srgbClr val="1E2833"/>
                          </a:solidFill>
                          <a:latin typeface="Segoe UI"/>
                        </a:rPr>
                        <a:t>MAVLink status</a:t>
                      </a:r>
                    </a:p>
                  </a:txBody>
                  <a:tcPr marL="54864" marR="54864" marT="18288" marB="18288" anchor="ctr">
                    <a:solidFill>
                      <a:srgbClr val="F6F8FA"/>
                    </a:solidFill>
                  </a:tcPr>
                </a:tc>
              </a:tr>
              <a:tr h="329184">
                <a:tc>
                  <a:txBody>
                    <a:bodyPr wrap="square"/>
                    <a:lstStyle/>
                    <a:p>
                      <a:pPr algn="l"/>
                      <a:r>
                        <a:rPr sz="950" b="0">
                          <a:solidFill>
                            <a:srgbClr val="1E2833"/>
                          </a:solidFill>
                          <a:latin typeface="Segoe UI"/>
                        </a:rPr>
                        <a:t>FPV video</a:t>
                      </a:r>
                    </a:p>
                  </a:txBody>
                  <a:tcPr marL="54864" marR="54864" marT="18288" marB="18288" anchor="ctr">
                    <a:solidFill>
                      <a:srgbClr val="FFFFFF"/>
                    </a:solidFill>
                  </a:tcPr>
                </a:tc>
                <a:tc>
                  <a:txBody>
                    <a:bodyPr wrap="square"/>
                    <a:lstStyle/>
                    <a:p>
                      <a:pPr algn="l"/>
                      <a:r>
                        <a:rPr sz="950" b="0">
                          <a:solidFill>
                            <a:srgbClr val="1E2833"/>
                          </a:solidFill>
                          <a:latin typeface="Segoe UI"/>
                        </a:rPr>
                        <a:t>5.8 GHz analog</a:t>
                      </a:r>
                    </a:p>
                  </a:txBody>
                  <a:tcPr marL="54864" marR="54864" marT="18288" marB="18288" anchor="ctr">
                    <a:solidFill>
                      <a:srgbClr val="FFFFFF"/>
                    </a:solidFill>
                  </a:tcPr>
                </a:tc>
                <a:tc>
                  <a:txBody>
                    <a:bodyPr wrap="square"/>
                    <a:lstStyle/>
                    <a:p>
                      <a:pPr algn="l"/>
                      <a:r>
                        <a:rPr sz="950" b="0">
                          <a:solidFill>
                            <a:srgbClr val="1E2833"/>
                          </a:solidFill>
                          <a:latin typeface="Segoe UI"/>
                        </a:rPr>
                        <a:t>Piloting video</a:t>
                      </a:r>
                    </a:p>
                  </a:txBody>
                  <a:tcPr marL="54864" marR="54864" marT="18288" marB="18288" anchor="ctr">
                    <a:solidFill>
                      <a:srgbClr val="FFFFFF"/>
                    </a:solidFill>
                  </a:tcPr>
                </a:tc>
              </a:tr>
              <a:tr h="329184">
                <a:tc>
                  <a:txBody>
                    <a:bodyPr wrap="square"/>
                    <a:lstStyle/>
                    <a:p>
                      <a:pPr algn="l"/>
                      <a:r>
                        <a:rPr sz="950" b="0">
                          <a:solidFill>
                            <a:srgbClr val="1E2833"/>
                          </a:solidFill>
                          <a:latin typeface="Segoe UI"/>
                        </a:rPr>
                        <a:t>GNSS</a:t>
                      </a:r>
                    </a:p>
                  </a:txBody>
                  <a:tcPr marL="54864" marR="54864" marT="18288" marB="18288" anchor="ctr">
                    <a:solidFill>
                      <a:srgbClr val="F6F8FA"/>
                    </a:solidFill>
                  </a:tcPr>
                </a:tc>
                <a:tc>
                  <a:txBody>
                    <a:bodyPr wrap="square"/>
                    <a:lstStyle/>
                    <a:p>
                      <a:pPr algn="l"/>
                      <a:r>
                        <a:rPr sz="950" b="0">
                          <a:solidFill>
                            <a:srgbClr val="1E2833"/>
                          </a:solidFill>
                          <a:latin typeface="Segoe UI"/>
                        </a:rPr>
                        <a:t>1.575 GHz</a:t>
                      </a:r>
                    </a:p>
                  </a:txBody>
                  <a:tcPr marL="54864" marR="54864" marT="18288" marB="18288" anchor="ctr">
                    <a:solidFill>
                      <a:srgbClr val="F6F8FA"/>
                    </a:solidFill>
                  </a:tcPr>
                </a:tc>
                <a:tc>
                  <a:txBody>
                    <a:bodyPr wrap="square"/>
                    <a:lstStyle/>
                    <a:p>
                      <a:pPr algn="l"/>
                      <a:r>
                        <a:rPr sz="950" b="0">
                          <a:solidFill>
                            <a:srgbClr val="1E2833"/>
                          </a:solidFill>
                          <a:latin typeface="Segoe UI"/>
                        </a:rPr>
                        <a:t>Position (Rx only)</a:t>
                      </a:r>
                    </a:p>
                  </a:txBody>
                  <a:tcPr marL="54864" marR="54864" marT="18288" marB="18288" anchor="ctr">
                    <a:solidFill>
                      <a:srgbClr val="F6F8FA"/>
                    </a:solidFill>
                  </a:tcPr>
                </a:tc>
              </a:tr>
              <a:tr h="329184">
                <a:tc>
                  <a:txBody>
                    <a:bodyPr wrap="square"/>
                    <a:lstStyle/>
                    <a:p>
                      <a:pPr algn="l"/>
                      <a:r>
                        <a:rPr sz="950" b="0">
                          <a:solidFill>
                            <a:srgbClr val="1E2833"/>
                          </a:solidFill>
                          <a:latin typeface="Segoe UI"/>
                        </a:rPr>
                        <a:t>Thermal downlink*</a:t>
                      </a:r>
                    </a:p>
                  </a:txBody>
                  <a:tcPr marL="54864" marR="54864" marT="18288" marB="18288" anchor="ctr">
                    <a:solidFill>
                      <a:srgbClr val="FFFFFF"/>
                    </a:solidFill>
                  </a:tcPr>
                </a:tc>
                <a:tc>
                  <a:txBody>
                    <a:bodyPr wrap="square"/>
                    <a:lstStyle/>
                    <a:p>
                      <a:pPr algn="l"/>
                      <a:r>
                        <a:rPr sz="950" b="0">
                          <a:solidFill>
                            <a:srgbClr val="1E2833"/>
                          </a:solidFill>
                          <a:latin typeface="Segoe UI"/>
                        </a:rPr>
                        <a:t>5.8 GHz OpenHD</a:t>
                      </a:r>
                    </a:p>
                  </a:txBody>
                  <a:tcPr marL="54864" marR="54864" marT="18288" marB="18288" anchor="ctr">
                    <a:solidFill>
                      <a:srgbClr val="FFFFFF"/>
                    </a:solidFill>
                  </a:tcPr>
                </a:tc>
                <a:tc>
                  <a:txBody>
                    <a:bodyPr wrap="square"/>
                    <a:lstStyle/>
                    <a:p>
                      <a:pPr algn="l"/>
                      <a:r>
                        <a:rPr sz="950" b="0">
                          <a:solidFill>
                            <a:srgbClr val="1E2833"/>
                          </a:solidFill>
                          <a:latin typeface="Segoe UI"/>
                        </a:rPr>
                        <a:t>Phase 4 (deferred)</a:t>
                      </a:r>
                    </a:p>
                  </a:txBody>
                  <a:tcPr marL="54864" marR="54864" marT="18288" marB="18288" anchor="ctr">
                    <a:solidFill>
                      <a:srgbClr val="FFFFFF"/>
                    </a:solidFill>
                  </a:tcPr>
                </a:tc>
              </a:tr>
            </a:tbl>
          </a:graphicData>
        </a:graphic>
      </p:graphicFrame>
      <p:sp>
        <p:nvSpPr>
          <p:cNvPr id="13" name="Rounded Rectangle 12"/>
          <p:cNvSpPr/>
          <p:nvPr/>
        </p:nvSpPr>
        <p:spPr>
          <a:xfrm>
            <a:off x="566928" y="4160520"/>
            <a:ext cx="11055096" cy="1874519"/>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97680"/>
            <a:ext cx="1060704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0F2540"/>
                </a:solidFill>
                <a:latin typeface="Segoe UI"/>
              </a:rPr>
              <a:t>FORMAL COMPATIBILITY RULES  (modeled as SysML v2 constraints; enforced by the configuration sweep)</a:t>
            </a:r>
          </a:p>
        </p:txBody>
      </p:sp>
      <p:sp>
        <p:nvSpPr>
          <p:cNvPr id="15" name="TextBox 14"/>
          <p:cNvSpPr txBox="1"/>
          <p:nvPr/>
        </p:nvSpPr>
        <p:spPr>
          <a:xfrm>
            <a:off x="777240" y="4681728"/>
            <a:ext cx="5394960" cy="1280160"/>
          </a:xfrm>
          <a:prstGeom prst="rect">
            <a:avLst/>
          </a:prstGeom>
          <a:noFill/>
        </p:spPr>
        <p:txBody>
          <a:bodyPr wrap="square" anchor="t" lIns="0" rIns="0" tIns="0" bIns="0">
            <a:spAutoFit/>
          </a:bodyPr>
          <a:lstStyle/>
          <a:p>
            <a:pPr>
              <a:lnSpc>
                <a:spcPct val="104000"/>
              </a:lnSpc>
              <a:spcBef>
                <a:spcPts val="300"/>
              </a:spcBef>
              <a:spcAft>
                <a:spcPts val="300"/>
              </a:spcAft>
            </a:pPr>
            <a:r>
              <a:rPr sz="1200" b="1">
                <a:solidFill>
                  <a:srgbClr val="2E86AB"/>
                </a:solidFill>
                <a:latin typeface="Segoe UI"/>
              </a:rPr>
              <a:t>▸  </a:t>
            </a:r>
            <a:r>
              <a:rPr sz="1200" b="1">
                <a:solidFill>
                  <a:srgbClr val="0F2540"/>
                </a:solidFill>
                <a:latin typeface="Segoe UI"/>
              </a:rPr>
              <a:t>P1  Cell-count.  </a:t>
            </a:r>
            <a:r>
              <a:rPr sz="1200" b="0">
                <a:solidFill>
                  <a:srgbClr val="1E2833"/>
                </a:solidFill>
                <a:latin typeface="Segoe UI"/>
              </a:rPr>
              <a:t>Battery cells must lie within airframe min/max (e.g. no 4S pack on a 6S-only frame).</a:t>
            </a:r>
          </a:p>
          <a:p>
            <a:pPr>
              <a:lnSpc>
                <a:spcPct val="104000"/>
              </a:lnSpc>
              <a:spcBef>
                <a:spcPts val="300"/>
              </a:spcBef>
              <a:spcAft>
                <a:spcPts val="300"/>
              </a:spcAft>
            </a:pPr>
            <a:r>
              <a:rPr sz="1200" b="1">
                <a:solidFill>
                  <a:srgbClr val="2E86AB"/>
                </a:solidFill>
                <a:latin typeface="Segoe UI"/>
              </a:rPr>
              <a:t>▸  </a:t>
            </a:r>
            <a:r>
              <a:rPr sz="1200" b="1">
                <a:solidFill>
                  <a:srgbClr val="0F2540"/>
                </a:solidFill>
                <a:latin typeface="Segoe UI"/>
              </a:rPr>
              <a:t>V1–V4  Video chain.  </a:t>
            </a:r>
            <a:r>
              <a:rPr sz="1200" b="0">
                <a:solidFill>
                  <a:srgbClr val="1E2833"/>
                </a:solidFill>
                <a:latin typeface="Segoe UI"/>
              </a:rPr>
              <a:t>Camera output format must match VTX / ground-receiver format end-to-end.</a:t>
            </a:r>
          </a:p>
        </p:txBody>
      </p:sp>
      <p:sp>
        <p:nvSpPr>
          <p:cNvPr id="16" name="TextBox 15"/>
          <p:cNvSpPr txBox="1"/>
          <p:nvPr/>
        </p:nvSpPr>
        <p:spPr>
          <a:xfrm>
            <a:off x="6355080" y="4681728"/>
            <a:ext cx="5120640" cy="1280160"/>
          </a:xfrm>
          <a:prstGeom prst="rect">
            <a:avLst/>
          </a:prstGeom>
          <a:noFill/>
        </p:spPr>
        <p:txBody>
          <a:bodyPr wrap="square" anchor="t" lIns="0" rIns="0" tIns="0" bIns="0">
            <a:spAutoFit/>
          </a:bodyPr>
          <a:lstStyle/>
          <a:p>
            <a:pPr>
              <a:lnSpc>
                <a:spcPct val="104000"/>
              </a:lnSpc>
              <a:spcBef>
                <a:spcPts val="300"/>
              </a:spcBef>
              <a:spcAft>
                <a:spcPts val="300"/>
              </a:spcAft>
            </a:pPr>
            <a:r>
              <a:rPr sz="1200" b="1">
                <a:solidFill>
                  <a:srgbClr val="2E86AB"/>
                </a:solidFill>
                <a:latin typeface="Segoe UI"/>
              </a:rPr>
              <a:t>▸  </a:t>
            </a:r>
            <a:r>
              <a:rPr sz="1200" b="1">
                <a:solidFill>
                  <a:srgbClr val="0F2540"/>
                </a:solidFill>
                <a:latin typeface="Segoe UI"/>
              </a:rPr>
              <a:t>R1–R2  RF band.  </a:t>
            </a:r>
            <a:r>
              <a:rPr sz="1200" b="0">
                <a:solidFill>
                  <a:srgbClr val="1E2833"/>
                </a:solidFill>
                <a:latin typeface="Segoe UI"/>
              </a:rPr>
              <a:t>Air/ground radio bands must match per link.</a:t>
            </a:r>
          </a:p>
          <a:p>
            <a:pPr>
              <a:lnSpc>
                <a:spcPct val="104000"/>
              </a:lnSpc>
              <a:spcBef>
                <a:spcPts val="300"/>
              </a:spcBef>
              <a:spcAft>
                <a:spcPts val="300"/>
              </a:spcAft>
            </a:pPr>
            <a:r>
              <a:rPr sz="1200" b="1">
                <a:solidFill>
                  <a:srgbClr val="2E86AB"/>
                </a:solidFill>
                <a:latin typeface="Segoe UI"/>
              </a:rPr>
              <a:t>▸  </a:t>
            </a:r>
            <a:r>
              <a:rPr sz="1200" b="1">
                <a:solidFill>
                  <a:srgbClr val="0F2540"/>
                </a:solidFill>
                <a:latin typeface="Segoe UI"/>
              </a:rPr>
              <a:t>Connector.  </a:t>
            </a:r>
            <a:r>
              <a:rPr sz="1200" b="0">
                <a:solidFill>
                  <a:srgbClr val="1E2833"/>
                </a:solidFill>
                <a:latin typeface="Segoe UI"/>
              </a:rPr>
              <a:t>Whole power chain standardized on XT60 (battery → filter → airframe).</a:t>
            </a:r>
          </a:p>
        </p:txBody>
      </p:sp>
      <p:sp>
        <p:nvSpPr>
          <p:cNvPr id="17" name="TextBox 16"/>
          <p:cNvSpPr txBox="1"/>
          <p:nvPr/>
        </p:nvSpPr>
        <p:spPr>
          <a:xfrm>
            <a:off x="6309360" y="3383280"/>
            <a:ext cx="5303520" cy="548640"/>
          </a:xfrm>
          <a:prstGeom prst="rect">
            <a:avLst/>
          </a:prstGeom>
          <a:noFill/>
        </p:spPr>
        <p:txBody>
          <a:bodyPr wrap="square" anchor="t" lIns="0" rIns="0" tIns="0" bIns="0">
            <a:spAutoFit/>
          </a:bodyPr>
          <a:lstStyle/>
          <a:p>
            <a:pPr algn="l">
              <a:lnSpc>
                <a:spcPct val="100000"/>
              </a:lnSpc>
              <a:spcBef>
                <a:spcPts val="0"/>
              </a:spcBef>
              <a:spcAft>
                <a:spcPts val="400"/>
              </a:spcAft>
            </a:pPr>
            <a:r>
              <a:rPr sz="950" b="0" i="1">
                <a:solidFill>
                  <a:srgbClr val="5C6B7A"/>
                </a:solidFill>
                <a:latin typeface="Segoe UI"/>
              </a:rPr>
              <a:t>* Phase 4 downlink is a deferred future capability, shown for completeness; not part of the committed Phase 1–3 system.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2 · ARCHITECTURE</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Standards Profile  (StdV-1)</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19</a:t>
            </a:r>
          </a:p>
        </p:txBody>
      </p:sp>
      <p:sp>
        <p:nvSpPr>
          <p:cNvPr id="9" name="TextBox 8"/>
          <p:cNvSpPr txBox="1"/>
          <p:nvPr/>
        </p:nvSpPr>
        <p:spPr>
          <a:xfrm>
            <a:off x="566928" y="1170432"/>
            <a:ext cx="11055096"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5C6B7A"/>
                </a:solidFill>
                <a:latin typeface="Segoe UI"/>
              </a:rPr>
              <a:t>The system is built on mature, open / de-facto-standard protocols — the interoperability basis behind the interfaces on the previous slide.</a:t>
            </a:r>
          </a:p>
        </p:txBody>
      </p:sp>
      <p:graphicFrame>
        <p:nvGraphicFramePr>
          <p:cNvPr id="10" name="Table 9"/>
          <p:cNvGraphicFramePr>
            <a:graphicFrameLocks noGrp="1"/>
          </p:cNvGraphicFramePr>
          <p:nvPr/>
        </p:nvGraphicFramePr>
        <p:xfrm>
          <a:off x="566928" y="1536192"/>
          <a:ext cx="11055096" cy="4370832"/>
        </p:xfrm>
        <a:graphic>
          <a:graphicData uri="http://schemas.openxmlformats.org/drawingml/2006/table">
            <a:tbl>
              <a:tblPr>
                <a:tableStyleId>{5C22544A-7EE6-4342-B048-85BDC9FD1C3A}</a:tableStyleId>
              </a:tblPr>
              <a:tblGrid>
                <a:gridCol w="2606040"/>
                <a:gridCol w="4206240"/>
                <a:gridCol w="4242816"/>
              </a:tblGrid>
              <a:tr h="310896">
                <a:tc>
                  <a:txBody>
                    <a:bodyPr wrap="square"/>
                    <a:lstStyle/>
                    <a:p>
                      <a:pPr algn="l"/>
                      <a:r>
                        <a:rPr sz="1050" b="1">
                          <a:solidFill>
                            <a:srgbClr val="FFFFFF"/>
                          </a:solidFill>
                          <a:latin typeface="Segoe UI"/>
                        </a:rPr>
                        <a:t>Domain</a:t>
                      </a:r>
                    </a:p>
                  </a:txBody>
                  <a:tcPr marL="54864" marR="54864" marT="18288" marB="18288" anchor="ctr">
                    <a:solidFill>
                      <a:srgbClr val="0F2540"/>
                    </a:solidFill>
                  </a:tcPr>
                </a:tc>
                <a:tc>
                  <a:txBody>
                    <a:bodyPr wrap="square"/>
                    <a:lstStyle/>
                    <a:p>
                      <a:pPr algn="l"/>
                      <a:r>
                        <a:rPr sz="1050" b="1">
                          <a:solidFill>
                            <a:srgbClr val="FFFFFF"/>
                          </a:solidFill>
                          <a:latin typeface="Segoe UI"/>
                        </a:rPr>
                        <a:t>Standard / protocol</a:t>
                      </a:r>
                    </a:p>
                  </a:txBody>
                  <a:tcPr marL="54864" marR="54864" marT="18288" marB="18288" anchor="ctr">
                    <a:solidFill>
                      <a:srgbClr val="0F2540"/>
                    </a:solidFill>
                  </a:tcPr>
                </a:tc>
                <a:tc>
                  <a:txBody>
                    <a:bodyPr wrap="square"/>
                    <a:lstStyle/>
                    <a:p>
                      <a:pPr algn="l"/>
                      <a:r>
                        <a:rPr sz="1050" b="1">
                          <a:solidFill>
                            <a:srgbClr val="FFFFFF"/>
                          </a:solidFill>
                          <a:latin typeface="Segoe UI"/>
                        </a:rPr>
                        <a:t>Where used</a:t>
                      </a:r>
                    </a:p>
                  </a:txBody>
                  <a:tcPr marL="54864" marR="54864" marT="18288" marB="18288" anchor="ctr">
                    <a:solidFill>
                      <a:srgbClr val="0F2540"/>
                    </a:solidFill>
                  </a:tcPr>
                </a:tc>
              </a:tr>
              <a:tr h="338328">
                <a:tc>
                  <a:txBody>
                    <a:bodyPr wrap="square"/>
                    <a:lstStyle/>
                    <a:p>
                      <a:pPr algn="l"/>
                      <a:r>
                        <a:rPr sz="1000" b="0">
                          <a:solidFill>
                            <a:srgbClr val="1E2833"/>
                          </a:solidFill>
                          <a:latin typeface="Segoe UI"/>
                        </a:rPr>
                        <a:t>Flight control / autonomy</a:t>
                      </a:r>
                    </a:p>
                  </a:txBody>
                  <a:tcPr marL="54864" marR="54864" marT="18288" marB="18288" anchor="ctr">
                    <a:solidFill>
                      <a:srgbClr val="FFFFFF"/>
                    </a:solidFill>
                  </a:tcPr>
                </a:tc>
                <a:tc>
                  <a:txBody>
                    <a:bodyPr wrap="square"/>
                    <a:lstStyle/>
                    <a:p>
                      <a:pPr algn="l"/>
                      <a:r>
                        <a:rPr sz="1000" b="0">
                          <a:solidFill>
                            <a:srgbClr val="1E2833"/>
                          </a:solidFill>
                          <a:latin typeface="Segoe UI"/>
                        </a:rPr>
                        <a:t>ArduPilot ArduCopter ≥ 4.5 (GPLv3)</a:t>
                      </a:r>
                    </a:p>
                  </a:txBody>
                  <a:tcPr marL="54864" marR="54864" marT="18288" marB="18288" anchor="ctr">
                    <a:solidFill>
                      <a:srgbClr val="FFFFFF"/>
                    </a:solidFill>
                  </a:tcPr>
                </a:tc>
                <a:tc>
                  <a:txBody>
                    <a:bodyPr wrap="square"/>
                    <a:lstStyle/>
                    <a:p>
                      <a:pPr algn="l"/>
                      <a:r>
                        <a:rPr sz="1000" b="0">
                          <a:solidFill>
                            <a:srgbClr val="1E2833"/>
                          </a:solidFill>
                          <a:latin typeface="Segoe UI"/>
                        </a:rPr>
                        <a:t>FC firmware — AUTO/GUIDED, FS_/BATT_ failsafes</a:t>
                      </a:r>
                    </a:p>
                  </a:txBody>
                  <a:tcPr marL="54864" marR="54864" marT="18288" marB="18288" anchor="ctr">
                    <a:solidFill>
                      <a:srgbClr val="FFFFFF"/>
                    </a:solidFill>
                  </a:tcPr>
                </a:tc>
              </a:tr>
              <a:tr h="338328">
                <a:tc>
                  <a:txBody>
                    <a:bodyPr wrap="square"/>
                    <a:lstStyle/>
                    <a:p>
                      <a:pPr algn="l"/>
                      <a:r>
                        <a:rPr sz="1000" b="0">
                          <a:solidFill>
                            <a:srgbClr val="1E2833"/>
                          </a:solidFill>
                          <a:latin typeface="Segoe UI"/>
                        </a:rPr>
                        <a:t>Command &amp; telemetry</a:t>
                      </a:r>
                    </a:p>
                  </a:txBody>
                  <a:tcPr marL="54864" marR="54864" marT="18288" marB="18288" anchor="ctr">
                    <a:solidFill>
                      <a:srgbClr val="F6F8FA"/>
                    </a:solidFill>
                  </a:tcPr>
                </a:tc>
                <a:tc>
                  <a:txBody>
                    <a:bodyPr wrap="square"/>
                    <a:lstStyle/>
                    <a:p>
                      <a:pPr algn="l"/>
                      <a:r>
                        <a:rPr sz="1000" b="0">
                          <a:solidFill>
                            <a:srgbClr val="1E2833"/>
                          </a:solidFill>
                          <a:latin typeface="Segoe UI"/>
                        </a:rPr>
                        <a:t>MAVLink 2</a:t>
                      </a:r>
                    </a:p>
                  </a:txBody>
                  <a:tcPr marL="54864" marR="54864" marT="18288" marB="18288" anchor="ctr">
                    <a:solidFill>
                      <a:srgbClr val="F6F8FA"/>
                    </a:solidFill>
                  </a:tcPr>
                </a:tc>
                <a:tc>
                  <a:txBody>
                    <a:bodyPr wrap="square"/>
                    <a:lstStyle/>
                    <a:p>
                      <a:pPr algn="l"/>
                      <a:r>
                        <a:rPr sz="1000" b="0">
                          <a:solidFill>
                            <a:srgbClr val="1E2833"/>
                          </a:solidFill>
                          <a:latin typeface="Segoe UI"/>
                        </a:rPr>
                        <a:t>FC ↔ SBC (UART) · FC ↔ GCS</a:t>
                      </a:r>
                    </a:p>
                  </a:txBody>
                  <a:tcPr marL="54864" marR="54864" marT="18288" marB="18288" anchor="ctr">
                    <a:solidFill>
                      <a:srgbClr val="F6F8FA"/>
                    </a:solidFill>
                  </a:tcPr>
                </a:tc>
              </a:tr>
              <a:tr h="338328">
                <a:tc>
                  <a:txBody>
                    <a:bodyPr wrap="square"/>
                    <a:lstStyle/>
                    <a:p>
                      <a:pPr algn="l"/>
                      <a:r>
                        <a:rPr sz="1000" b="0">
                          <a:solidFill>
                            <a:srgbClr val="1E2833"/>
                          </a:solidFill>
                          <a:latin typeface="Segoe UI"/>
                        </a:rPr>
                        <a:t>RC control link</a:t>
                      </a:r>
                    </a:p>
                  </a:txBody>
                  <a:tcPr marL="54864" marR="54864" marT="18288" marB="18288" anchor="ctr">
                    <a:solidFill>
                      <a:srgbClr val="FFFFFF"/>
                    </a:solidFill>
                  </a:tcPr>
                </a:tc>
                <a:tc>
                  <a:txBody>
                    <a:bodyPr wrap="square"/>
                    <a:lstStyle/>
                    <a:p>
                      <a:pPr algn="l"/>
                      <a:r>
                        <a:rPr sz="1000" b="0">
                          <a:solidFill>
                            <a:srgbClr val="1E2833"/>
                          </a:solidFill>
                          <a:latin typeface="Segoe UI"/>
                        </a:rPr>
                        <a:t>ExpressLRS / CRSF</a:t>
                      </a:r>
                    </a:p>
                  </a:txBody>
                  <a:tcPr marL="54864" marR="54864" marT="18288" marB="18288" anchor="ctr">
                    <a:solidFill>
                      <a:srgbClr val="FFFFFF"/>
                    </a:solidFill>
                  </a:tcPr>
                </a:tc>
                <a:tc>
                  <a:txBody>
                    <a:bodyPr wrap="square"/>
                    <a:lstStyle/>
                    <a:p>
                      <a:pPr algn="l"/>
                      <a:r>
                        <a:rPr sz="1000" b="0">
                          <a:solidFill>
                            <a:srgbClr val="1E2833"/>
                          </a:solidFill>
                          <a:latin typeface="Segoe UI"/>
                        </a:rPr>
                        <a:t>2.4 GHz control uplink + telemetry</a:t>
                      </a:r>
                    </a:p>
                  </a:txBody>
                  <a:tcPr marL="54864" marR="54864" marT="18288" marB="18288" anchor="ctr">
                    <a:solidFill>
                      <a:srgbClr val="FFFFFF"/>
                    </a:solidFill>
                  </a:tcPr>
                </a:tc>
              </a:tr>
              <a:tr h="338328">
                <a:tc>
                  <a:txBody>
                    <a:bodyPr wrap="square"/>
                    <a:lstStyle/>
                    <a:p>
                      <a:pPr algn="l"/>
                      <a:r>
                        <a:rPr sz="1000" b="0">
                          <a:solidFill>
                            <a:srgbClr val="1E2833"/>
                          </a:solidFill>
                          <a:latin typeface="Segoe UI"/>
                        </a:rPr>
                        <a:t>Ground-station app</a:t>
                      </a:r>
                    </a:p>
                  </a:txBody>
                  <a:tcPr marL="54864" marR="54864" marT="18288" marB="18288" anchor="ctr">
                    <a:solidFill>
                      <a:srgbClr val="F6F8FA"/>
                    </a:solidFill>
                  </a:tcPr>
                </a:tc>
                <a:tc>
                  <a:txBody>
                    <a:bodyPr wrap="square"/>
                    <a:lstStyle/>
                    <a:p>
                      <a:pPr algn="l"/>
                      <a:r>
                        <a:rPr sz="1000" b="0">
                          <a:solidFill>
                            <a:srgbClr val="1E2833"/>
                          </a:solidFill>
                          <a:latin typeface="Segoe UI"/>
                        </a:rPr>
                        <a:t>QGroundControl 4.4+ (Apache-2.0)</a:t>
                      </a:r>
                    </a:p>
                  </a:txBody>
                  <a:tcPr marL="54864" marR="54864" marT="18288" marB="18288" anchor="ctr">
                    <a:solidFill>
                      <a:srgbClr val="F6F8FA"/>
                    </a:solidFill>
                  </a:tcPr>
                </a:tc>
                <a:tc>
                  <a:txBody>
                    <a:bodyPr wrap="square"/>
                    <a:lstStyle/>
                    <a:p>
                      <a:pPr algn="l"/>
                      <a:r>
                        <a:rPr sz="1000" b="0">
                          <a:solidFill>
                            <a:srgbClr val="1E2833"/>
                          </a:solidFill>
                          <a:latin typeface="Segoe UI"/>
                        </a:rPr>
                        <a:t>Mission plan, telemetry, video, params</a:t>
                      </a:r>
                    </a:p>
                  </a:txBody>
                  <a:tcPr marL="54864" marR="54864" marT="18288" marB="18288" anchor="ctr">
                    <a:solidFill>
                      <a:srgbClr val="F6F8FA"/>
                    </a:solidFill>
                  </a:tcPr>
                </a:tc>
              </a:tr>
              <a:tr h="338328">
                <a:tc>
                  <a:txBody>
                    <a:bodyPr wrap="square"/>
                    <a:lstStyle/>
                    <a:p>
                      <a:pPr algn="l"/>
                      <a:r>
                        <a:rPr sz="1000" b="0">
                          <a:solidFill>
                            <a:srgbClr val="1E2833"/>
                          </a:solidFill>
                          <a:latin typeface="Segoe UI"/>
                        </a:rPr>
                        <a:t>Thermal video</a:t>
                      </a:r>
                    </a:p>
                  </a:txBody>
                  <a:tcPr marL="54864" marR="54864" marT="18288" marB="18288" anchor="ctr">
                    <a:solidFill>
                      <a:srgbClr val="FFFFFF"/>
                    </a:solidFill>
                  </a:tcPr>
                </a:tc>
                <a:tc>
                  <a:txBody>
                    <a:bodyPr wrap="square"/>
                    <a:lstStyle/>
                    <a:p>
                      <a:pPr algn="l"/>
                      <a:r>
                        <a:rPr sz="1000" b="0">
                          <a:solidFill>
                            <a:srgbClr val="1E2833"/>
                          </a:solidFill>
                          <a:latin typeface="Segoe UI"/>
                        </a:rPr>
                        <a:t>USB Video Class (UVC 1.1)</a:t>
                      </a:r>
                    </a:p>
                  </a:txBody>
                  <a:tcPr marL="54864" marR="54864" marT="18288" marB="18288" anchor="ctr">
                    <a:solidFill>
                      <a:srgbClr val="FFFFFF"/>
                    </a:solidFill>
                  </a:tcPr>
                </a:tc>
                <a:tc>
                  <a:txBody>
                    <a:bodyPr wrap="square"/>
                    <a:lstStyle/>
                    <a:p>
                      <a:pPr algn="l"/>
                      <a:r>
                        <a:rPr sz="1000" b="0">
                          <a:solidFill>
                            <a:srgbClr val="1E2833"/>
                          </a:solidFill>
                          <a:latin typeface="Segoe UI"/>
                        </a:rPr>
                        <a:t>Thermal camera → SBC</a:t>
                      </a:r>
                    </a:p>
                  </a:txBody>
                  <a:tcPr marL="54864" marR="54864" marT="18288" marB="18288" anchor="ctr">
                    <a:solidFill>
                      <a:srgbClr val="FFFFFF"/>
                    </a:solidFill>
                  </a:tcPr>
                </a:tc>
              </a:tr>
              <a:tr h="338328">
                <a:tc>
                  <a:txBody>
                    <a:bodyPr wrap="square"/>
                    <a:lstStyle/>
                    <a:p>
                      <a:pPr algn="l"/>
                      <a:r>
                        <a:rPr sz="1000" b="0">
                          <a:solidFill>
                            <a:srgbClr val="1E2833"/>
                          </a:solidFill>
                          <a:latin typeface="Segoe UI"/>
                        </a:rPr>
                        <a:t>FPV video</a:t>
                      </a:r>
                    </a:p>
                  </a:txBody>
                  <a:tcPr marL="54864" marR="54864" marT="18288" marB="18288" anchor="ctr">
                    <a:solidFill>
                      <a:srgbClr val="F6F8FA"/>
                    </a:solidFill>
                  </a:tcPr>
                </a:tc>
                <a:tc>
                  <a:txBody>
                    <a:bodyPr wrap="square"/>
                    <a:lstStyle/>
                    <a:p>
                      <a:pPr algn="l"/>
                      <a:r>
                        <a:rPr sz="1000" b="0">
                          <a:solidFill>
                            <a:srgbClr val="1E2833"/>
                          </a:solidFill>
                          <a:latin typeface="Segoe UI"/>
                        </a:rPr>
                        <a:t>CVBS (analog composite)</a:t>
                      </a:r>
                    </a:p>
                  </a:txBody>
                  <a:tcPr marL="54864" marR="54864" marT="18288" marB="18288" anchor="ctr">
                    <a:solidFill>
                      <a:srgbClr val="F6F8FA"/>
                    </a:solidFill>
                  </a:tcPr>
                </a:tc>
                <a:tc>
                  <a:txBody>
                    <a:bodyPr wrap="square"/>
                    <a:lstStyle/>
                    <a:p>
                      <a:pPr algn="l"/>
                      <a:r>
                        <a:rPr sz="1000" b="0">
                          <a:solidFill>
                            <a:srgbClr val="1E2833"/>
                          </a:solidFill>
                          <a:latin typeface="Segoe UI"/>
                        </a:rPr>
                        <a:t>FPV camera → VTX → ground VRX</a:t>
                      </a:r>
                    </a:p>
                  </a:txBody>
                  <a:tcPr marL="54864" marR="54864" marT="18288" marB="18288" anchor="ctr">
                    <a:solidFill>
                      <a:srgbClr val="F6F8FA"/>
                    </a:solidFill>
                  </a:tcPr>
                </a:tc>
              </a:tr>
              <a:tr h="338328">
                <a:tc>
                  <a:txBody>
                    <a:bodyPr wrap="square"/>
                    <a:lstStyle/>
                    <a:p>
                      <a:pPr algn="l"/>
                      <a:r>
                        <a:rPr sz="1000" b="0">
                          <a:solidFill>
                            <a:srgbClr val="1E2833"/>
                          </a:solidFill>
                          <a:latin typeface="Segoe UI"/>
                        </a:rPr>
                        <a:t>Navigation</a:t>
                      </a:r>
                    </a:p>
                  </a:txBody>
                  <a:tcPr marL="54864" marR="54864" marT="18288" marB="18288" anchor="ctr">
                    <a:solidFill>
                      <a:srgbClr val="FFFFFF"/>
                    </a:solidFill>
                  </a:tcPr>
                </a:tc>
                <a:tc>
                  <a:txBody>
                    <a:bodyPr wrap="square"/>
                    <a:lstStyle/>
                    <a:p>
                      <a:pPr algn="l"/>
                      <a:r>
                        <a:rPr sz="1000" b="0">
                          <a:solidFill>
                            <a:srgbClr val="1E2833"/>
                          </a:solidFill>
                          <a:latin typeface="Segoe UI"/>
                        </a:rPr>
                        <a:t>u-blox UBX / NMEA 0183</a:t>
                      </a:r>
                    </a:p>
                  </a:txBody>
                  <a:tcPr marL="54864" marR="54864" marT="18288" marB="18288" anchor="ctr">
                    <a:solidFill>
                      <a:srgbClr val="FFFFFF"/>
                    </a:solidFill>
                  </a:tcPr>
                </a:tc>
                <a:tc>
                  <a:txBody>
                    <a:bodyPr wrap="square"/>
                    <a:lstStyle/>
                    <a:p>
                      <a:pPr algn="l"/>
                      <a:r>
                        <a:rPr sz="1000" b="0">
                          <a:solidFill>
                            <a:srgbClr val="1E2833"/>
                          </a:solidFill>
                          <a:latin typeface="Segoe UI"/>
                        </a:rPr>
                        <a:t>GPS → flight controller</a:t>
                      </a:r>
                    </a:p>
                  </a:txBody>
                  <a:tcPr marL="54864" marR="54864" marT="18288" marB="18288" anchor="ctr">
                    <a:solidFill>
                      <a:srgbClr val="FFFFFF"/>
                    </a:solidFill>
                  </a:tcPr>
                </a:tc>
              </a:tr>
              <a:tr h="338328">
                <a:tc>
                  <a:txBody>
                    <a:bodyPr wrap="square"/>
                    <a:lstStyle/>
                    <a:p>
                      <a:pPr algn="l"/>
                      <a:r>
                        <a:rPr sz="1000" b="0">
                          <a:solidFill>
                            <a:srgbClr val="1E2833"/>
                          </a:solidFill>
                          <a:latin typeface="Segoe UI"/>
                        </a:rPr>
                        <a:t>AI inference runtime</a:t>
                      </a:r>
                    </a:p>
                  </a:txBody>
                  <a:tcPr marL="54864" marR="54864" marT="18288" marB="18288" anchor="ctr">
                    <a:solidFill>
                      <a:srgbClr val="F6F8FA"/>
                    </a:solidFill>
                  </a:tcPr>
                </a:tc>
                <a:tc>
                  <a:txBody>
                    <a:bodyPr wrap="square"/>
                    <a:lstStyle/>
                    <a:p>
                      <a:pPr algn="l"/>
                      <a:r>
                        <a:rPr sz="1000" b="0">
                          <a:solidFill>
                            <a:srgbClr val="1E2833"/>
                          </a:solidFill>
                          <a:latin typeface="Segoe UI"/>
                        </a:rPr>
                        <a:t>RKNN (Rockchip NPU)</a:t>
                      </a:r>
                    </a:p>
                  </a:txBody>
                  <a:tcPr marL="54864" marR="54864" marT="18288" marB="18288" anchor="ctr">
                    <a:solidFill>
                      <a:srgbClr val="F6F8FA"/>
                    </a:solidFill>
                  </a:tcPr>
                </a:tc>
                <a:tc>
                  <a:txBody>
                    <a:bodyPr wrap="square"/>
                    <a:lstStyle/>
                    <a:p>
                      <a:pPr algn="l"/>
                      <a:r>
                        <a:rPr sz="1000" b="0">
                          <a:solidFill>
                            <a:srgbClr val="1E2833"/>
                          </a:solidFill>
                          <a:latin typeface="Segoe UI"/>
                        </a:rPr>
                        <a:t>INT8 model on the NanoPi M5 (6 TOPS)</a:t>
                      </a:r>
                    </a:p>
                  </a:txBody>
                  <a:tcPr marL="54864" marR="54864" marT="18288" marB="18288" anchor="ctr">
                    <a:solidFill>
                      <a:srgbClr val="F6F8FA"/>
                    </a:solidFill>
                  </a:tcPr>
                </a:tc>
              </a:tr>
              <a:tr h="338328">
                <a:tc>
                  <a:txBody>
                    <a:bodyPr wrap="square"/>
                    <a:lstStyle/>
                    <a:p>
                      <a:pPr algn="l"/>
                      <a:r>
                        <a:rPr sz="1000" b="0">
                          <a:solidFill>
                            <a:srgbClr val="1E2833"/>
                          </a:solidFill>
                          <a:latin typeface="Segoe UI"/>
                        </a:rPr>
                        <a:t>Detection sizing</a:t>
                      </a:r>
                    </a:p>
                  </a:txBody>
                  <a:tcPr marL="54864" marR="54864" marT="18288" marB="18288" anchor="ctr">
                    <a:solidFill>
                      <a:srgbClr val="FFFFFF"/>
                    </a:solidFill>
                  </a:tcPr>
                </a:tc>
                <a:tc>
                  <a:txBody>
                    <a:bodyPr wrap="square"/>
                    <a:lstStyle/>
                    <a:p>
                      <a:pPr algn="l"/>
                      <a:r>
                        <a:rPr sz="1000" b="0">
                          <a:solidFill>
                            <a:srgbClr val="1E2833"/>
                          </a:solidFill>
                          <a:latin typeface="Segoe UI"/>
                        </a:rPr>
                        <a:t>Johnson criteria</a:t>
                      </a:r>
                    </a:p>
                  </a:txBody>
                  <a:tcPr marL="54864" marR="54864" marT="18288" marB="18288" anchor="ctr">
                    <a:solidFill>
                      <a:srgbClr val="FFFFFF"/>
                    </a:solidFill>
                  </a:tcPr>
                </a:tc>
                <a:tc>
                  <a:txBody>
                    <a:bodyPr wrap="square"/>
                    <a:lstStyle/>
                    <a:p>
                      <a:pPr algn="l"/>
                      <a:r>
                        <a:rPr sz="1000" b="0">
                          <a:solidFill>
                            <a:srgbClr val="1E2833"/>
                          </a:solidFill>
                          <a:latin typeface="Segoe UI"/>
                        </a:rPr>
                        <a:t>Thermal detect / recognize analysis</a:t>
                      </a:r>
                    </a:p>
                  </a:txBody>
                  <a:tcPr marL="54864" marR="54864" marT="18288" marB="18288" anchor="ctr">
                    <a:solidFill>
                      <a:srgbClr val="FFFFFF"/>
                    </a:solidFill>
                  </a:tcPr>
                </a:tc>
              </a:tr>
              <a:tr h="338328">
                <a:tc>
                  <a:txBody>
                    <a:bodyPr wrap="square"/>
                    <a:lstStyle/>
                    <a:p>
                      <a:pPr algn="l"/>
                      <a:r>
                        <a:rPr sz="1000" b="0">
                          <a:solidFill>
                            <a:srgbClr val="1E2833"/>
                          </a:solidFill>
                          <a:latin typeface="Segoe UI"/>
                        </a:rPr>
                        <a:t>Power connector</a:t>
                      </a:r>
                    </a:p>
                  </a:txBody>
                  <a:tcPr marL="54864" marR="54864" marT="18288" marB="18288" anchor="ctr">
                    <a:solidFill>
                      <a:srgbClr val="F6F8FA"/>
                    </a:solidFill>
                  </a:tcPr>
                </a:tc>
                <a:tc>
                  <a:txBody>
                    <a:bodyPr wrap="square"/>
                    <a:lstStyle/>
                    <a:p>
                      <a:pPr algn="l"/>
                      <a:r>
                        <a:rPr sz="1000" b="0">
                          <a:solidFill>
                            <a:srgbClr val="1E2833"/>
                          </a:solidFill>
                          <a:latin typeface="Segoe UI"/>
                        </a:rPr>
                        <a:t>XT60</a:t>
                      </a:r>
                    </a:p>
                  </a:txBody>
                  <a:tcPr marL="54864" marR="54864" marT="18288" marB="18288" anchor="ctr">
                    <a:solidFill>
                      <a:srgbClr val="F6F8FA"/>
                    </a:solidFill>
                  </a:tcPr>
                </a:tc>
                <a:tc>
                  <a:txBody>
                    <a:bodyPr wrap="square"/>
                    <a:lstStyle/>
                    <a:p>
                      <a:pPr algn="l"/>
                      <a:r>
                        <a:rPr sz="1000" b="0">
                          <a:solidFill>
                            <a:srgbClr val="1E2833"/>
                          </a:solidFill>
                          <a:latin typeface="Segoe UI"/>
                        </a:rPr>
                        <a:t>Battery → anti-spark → airframe</a:t>
                      </a:r>
                    </a:p>
                  </a:txBody>
                  <a:tcPr marL="54864" marR="54864" marT="18288" marB="18288" anchor="ctr">
                    <a:solidFill>
                      <a:srgbClr val="F6F8FA"/>
                    </a:solidFill>
                  </a:tcPr>
                </a:tc>
              </a:tr>
              <a:tr h="338328">
                <a:tc>
                  <a:txBody>
                    <a:bodyPr wrap="square"/>
                    <a:lstStyle/>
                    <a:p>
                      <a:pPr algn="l"/>
                      <a:r>
                        <a:rPr sz="1000" b="0">
                          <a:solidFill>
                            <a:srgbClr val="1E2833"/>
                          </a:solidFill>
                          <a:latin typeface="Segoe UI"/>
                        </a:rPr>
                        <a:t>Digital downlink (Phase 4)</a:t>
                      </a:r>
                    </a:p>
                  </a:txBody>
                  <a:tcPr marL="54864" marR="54864" marT="18288" marB="18288" anchor="ctr">
                    <a:solidFill>
                      <a:srgbClr val="FFFFFF"/>
                    </a:solidFill>
                  </a:tcPr>
                </a:tc>
                <a:tc>
                  <a:txBody>
                    <a:bodyPr wrap="square"/>
                    <a:lstStyle/>
                    <a:p>
                      <a:pPr algn="l"/>
                      <a:r>
                        <a:rPr sz="1000" b="0">
                          <a:solidFill>
                            <a:srgbClr val="1E2833"/>
                          </a:solidFill>
                          <a:latin typeface="Segoe UI"/>
                        </a:rPr>
                        <a:t>OpenHD / WFB-ng over 802.11 monitor mode</a:t>
                      </a:r>
                    </a:p>
                  </a:txBody>
                  <a:tcPr marL="54864" marR="54864" marT="18288" marB="18288" anchor="ctr">
                    <a:solidFill>
                      <a:srgbClr val="FFFFFF"/>
                    </a:solidFill>
                  </a:tcPr>
                </a:tc>
                <a:tc>
                  <a:txBody>
                    <a:bodyPr wrap="square"/>
                    <a:lstStyle/>
                    <a:p>
                      <a:pPr algn="l"/>
                      <a:r>
                        <a:rPr sz="1000" b="0">
                          <a:solidFill>
                            <a:srgbClr val="1E2833"/>
                          </a:solidFill>
                          <a:latin typeface="Segoe UI"/>
                        </a:rPr>
                        <a:t>Deferred thermal video downlink</a:t>
                      </a:r>
                    </a:p>
                  </a:txBody>
                  <a:tcPr marL="54864" marR="54864" marT="18288" marB="18288" anchor="ctr">
                    <a:solidFill>
                      <a:srgbClr val="FFFFFF"/>
                    </a:solidFill>
                  </a:tcPr>
                </a:tc>
              </a:tr>
              <a:tr h="338328">
                <a:tc>
                  <a:txBody>
                    <a:bodyPr wrap="square"/>
                    <a:lstStyle/>
                    <a:p>
                      <a:pPr algn="l"/>
                      <a:r>
                        <a:rPr sz="1000" b="0">
                          <a:solidFill>
                            <a:srgbClr val="1E2833"/>
                          </a:solidFill>
                          <a:latin typeface="Segoe UI"/>
                        </a:rPr>
                        <a:t>Regulatory</a:t>
                      </a:r>
                    </a:p>
                  </a:txBody>
                  <a:tcPr marL="54864" marR="54864" marT="18288" marB="18288" anchor="ctr">
                    <a:solidFill>
                      <a:srgbClr val="F6F8FA"/>
                    </a:solidFill>
                  </a:tcPr>
                </a:tc>
                <a:tc>
                  <a:txBody>
                    <a:bodyPr wrap="square"/>
                    <a:lstStyle/>
                    <a:p>
                      <a:pPr algn="l"/>
                      <a:r>
                        <a:rPr sz="1000" b="0">
                          <a:solidFill>
                            <a:srgbClr val="1E2833"/>
                          </a:solidFill>
                          <a:latin typeface="Segoe UI"/>
                        </a:rPr>
                        <a:t>FAA Part 107 (+ BVLOS authorization)</a:t>
                      </a:r>
                    </a:p>
                  </a:txBody>
                  <a:tcPr marL="54864" marR="54864" marT="18288" marB="18288" anchor="ctr">
                    <a:solidFill>
                      <a:srgbClr val="F6F8FA"/>
                    </a:solidFill>
                  </a:tcPr>
                </a:tc>
                <a:tc>
                  <a:txBody>
                    <a:bodyPr wrap="square"/>
                    <a:lstStyle/>
                    <a:p>
                      <a:pPr algn="l"/>
                      <a:r>
                        <a:rPr sz="1000" b="0">
                          <a:solidFill>
                            <a:srgbClr val="1E2833"/>
                          </a:solidFill>
                          <a:latin typeface="Segoe UI"/>
                        </a:rPr>
                        <a:t>Commercial UAS operation</a:t>
                      </a:r>
                    </a:p>
                  </a:txBody>
                  <a:tcPr marL="54864" marR="54864" marT="18288" marB="18288" anchor="ctr">
                    <a:solidFill>
                      <a:srgbClr val="F6F8FA"/>
                    </a:solidFill>
                  </a:tcPr>
                </a:tc>
              </a:tr>
            </a:tbl>
          </a:graphicData>
        </a:graphic>
      </p:graphicFrame>
      <p:sp>
        <p:nvSpPr>
          <p:cNvPr id="11" name="TextBox 10"/>
          <p:cNvSpPr txBox="1"/>
          <p:nvPr/>
        </p:nvSpPr>
        <p:spPr>
          <a:xfrm>
            <a:off x="566928" y="6355080"/>
            <a:ext cx="11055096"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1">
                <a:solidFill>
                  <a:srgbClr val="5C6B7A"/>
                </a:solidFill>
                <a:latin typeface="Segoe UI"/>
              </a:rPr>
              <a:t>StdV-1 (DoDAF Standards Profile) — no proprietary lock-in on the committed build; every committed interface rides an open or de-facto-standard protocol.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2761488"/>
            <a:ext cx="50292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331720"/>
            <a:ext cx="11055096"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8FC5E0"/>
                </a:solidFill>
                <a:latin typeface="Segoe UI"/>
              </a:rPr>
              <a:t>SECTION 3</a:t>
            </a:r>
          </a:p>
        </p:txBody>
      </p:sp>
      <p:sp>
        <p:nvSpPr>
          <p:cNvPr id="6" name="TextBox 5"/>
          <p:cNvSpPr txBox="1"/>
          <p:nvPr/>
        </p:nvSpPr>
        <p:spPr>
          <a:xfrm>
            <a:off x="566928" y="2880360"/>
            <a:ext cx="11055096" cy="1097280"/>
          </a:xfrm>
          <a:prstGeom prst="rect">
            <a:avLst/>
          </a:prstGeom>
          <a:noFill/>
        </p:spPr>
        <p:txBody>
          <a:bodyPr wrap="square" anchor="t" lIns="0" rIns="0" tIns="0" bIns="0">
            <a:spAutoFit/>
          </a:bodyPr>
          <a:lstStyle/>
          <a:p>
            <a:pPr algn="l">
              <a:lnSpc>
                <a:spcPct val="100000"/>
              </a:lnSpc>
              <a:spcBef>
                <a:spcPts val="0"/>
              </a:spcBef>
              <a:spcAft>
                <a:spcPts val="400"/>
              </a:spcAft>
            </a:pPr>
            <a:r>
              <a:rPr sz="4000" b="1" i="0">
                <a:solidFill>
                  <a:srgbClr val="FFFFFF"/>
                </a:solidFill>
                <a:latin typeface="Segoe UI"/>
              </a:rPr>
              <a:t>Functional &amp; Behavioral Design</a:t>
            </a:r>
          </a:p>
        </p:txBody>
      </p:sp>
      <p:sp>
        <p:nvSpPr>
          <p:cNvPr id="7" name="TextBox 6"/>
          <p:cNvSpPr txBox="1"/>
          <p:nvPr/>
        </p:nvSpPr>
        <p:spPr>
          <a:xfrm>
            <a:off x="566928" y="3977639"/>
            <a:ext cx="9601200" cy="1097280"/>
          </a:xfrm>
          <a:prstGeom prst="rect">
            <a:avLst/>
          </a:prstGeom>
          <a:noFill/>
        </p:spPr>
        <p:txBody>
          <a:bodyPr wrap="square" anchor="t" lIns="0" rIns="0" tIns="0" bIns="0">
            <a:spAutoFit/>
          </a:bodyPr>
          <a:lstStyle/>
          <a:p>
            <a:pPr algn="l">
              <a:lnSpc>
                <a:spcPct val="115000"/>
              </a:lnSpc>
              <a:spcBef>
                <a:spcPts val="0"/>
              </a:spcBef>
              <a:spcAft>
                <a:spcPts val="400"/>
              </a:spcAft>
            </a:pPr>
            <a:r>
              <a:rPr sz="1500" b="0" i="0">
                <a:solidFill>
                  <a:srgbClr val="B9CBDB"/>
                </a:solidFill>
                <a:latin typeface="Segoe UI"/>
              </a:rPr>
              <a:t>The functional architecture: a flight-mode state machine with failsafes, and the autonomous detect–investigate–classify loop that runs on the onboard computer during a sortie.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3 · BEHAVIOR</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Flight-Mode State Machine &amp; Failsafes</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21</a:t>
            </a:r>
          </a:p>
        </p:txBody>
      </p:sp>
      <p:sp>
        <p:nvSpPr>
          <p:cNvPr id="9" name="Rectangle 8"/>
          <p:cNvSpPr/>
          <p:nvPr/>
        </p:nvSpPr>
        <p:spPr>
          <a:xfrm>
            <a:off x="638700" y="1280160"/>
            <a:ext cx="6531576" cy="4709160"/>
          </a:xfrm>
          <a:prstGeom prst="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rone_state_diagram.png"/>
          <p:cNvPicPr>
            <a:picLocks noChangeAspect="1"/>
          </p:cNvPicPr>
          <p:nvPr/>
        </p:nvPicPr>
        <p:blipFill>
          <a:blip r:embed="rId2"/>
          <a:stretch>
            <a:fillRect/>
          </a:stretch>
        </p:blipFill>
        <p:spPr>
          <a:xfrm>
            <a:off x="693564" y="1335024"/>
            <a:ext cx="6421848" cy="4599432"/>
          </a:xfrm>
          <a:prstGeom prst="rect">
            <a:avLst/>
          </a:prstGeom>
        </p:spPr>
      </p:pic>
      <p:sp>
        <p:nvSpPr>
          <p:cNvPr id="11" name="TextBox 10"/>
          <p:cNvSpPr txBox="1"/>
          <p:nvPr/>
        </p:nvSpPr>
        <p:spPr>
          <a:xfrm>
            <a:off x="566928" y="6035040"/>
            <a:ext cx="6675120" cy="457200"/>
          </a:xfrm>
          <a:prstGeom prst="rect">
            <a:avLst/>
          </a:prstGeom>
          <a:noFill/>
        </p:spPr>
        <p:txBody>
          <a:bodyPr wrap="square" anchor="t" lIns="0" rIns="0" tIns="0" bIns="0">
            <a:spAutoFit/>
          </a:bodyPr>
          <a:lstStyle/>
          <a:p>
            <a:pPr algn="ctr">
              <a:lnSpc>
                <a:spcPct val="100000"/>
              </a:lnSpc>
              <a:spcBef>
                <a:spcPts val="0"/>
              </a:spcBef>
              <a:spcAft>
                <a:spcPts val="400"/>
              </a:spcAft>
            </a:pPr>
            <a:r>
              <a:rPr sz="1050" b="0" i="1">
                <a:solidFill>
                  <a:srgbClr val="5C6B7A"/>
                </a:solidFill>
                <a:latin typeface="Segoe UI"/>
              </a:rPr>
              <a:t>FlightMode state machine — disarmed · armed · flying · returnToLaunch · land</a:t>
            </a:r>
          </a:p>
        </p:txBody>
      </p:sp>
      <p:sp>
        <p:nvSpPr>
          <p:cNvPr id="12" name="TextBox 11"/>
          <p:cNvSpPr txBox="1"/>
          <p:nvPr/>
        </p:nvSpPr>
        <p:spPr>
          <a:xfrm>
            <a:off x="7452360" y="1371600"/>
            <a:ext cx="4160520" cy="4572000"/>
          </a:xfrm>
          <a:prstGeom prst="rect">
            <a:avLst/>
          </a:prstGeom>
          <a:noFill/>
        </p:spPr>
        <p:txBody>
          <a:bodyPr wrap="square" anchor="t" lIns="0" rIns="0" tIns="0" bIns="0">
            <a:spAutoFit/>
          </a:bodyPr>
          <a:lstStyle/>
          <a:p>
            <a:pPr>
              <a:lnSpc>
                <a:spcPct val="104000"/>
              </a:lnSpc>
              <a:spcBef>
                <a:spcPts val="300"/>
              </a:spcBef>
              <a:spcAft>
                <a:spcPts val="300"/>
              </a:spcAft>
            </a:pPr>
            <a:r>
              <a:rPr sz="1400" b="1">
                <a:solidFill>
                  <a:srgbClr val="2E86AB"/>
                </a:solidFill>
                <a:latin typeface="Segoe UI"/>
              </a:rPr>
              <a:t>▸  </a:t>
            </a:r>
            <a:r>
              <a:rPr sz="1350" b="1">
                <a:solidFill>
                  <a:srgbClr val="0F2540"/>
                </a:solidFill>
                <a:latin typeface="Segoe UI"/>
              </a:rPr>
              <a:t>Nominal path.  </a:t>
            </a:r>
            <a:r>
              <a:rPr sz="1350" b="0">
                <a:solidFill>
                  <a:srgbClr val="1E2833"/>
                </a:solidFill>
                <a:latin typeface="Segoe UI"/>
              </a:rPr>
              <a:t>disarmed → armed → flying (route execution) → returnToLaunch → land (touchdown &amp; disarm).</a:t>
            </a:r>
          </a:p>
          <a:p>
            <a:pPr>
              <a:lnSpc>
                <a:spcPct val="104000"/>
              </a:lnSpc>
              <a:spcBef>
                <a:spcPts val="300"/>
              </a:spcBef>
              <a:spcAft>
                <a:spcPts val="300"/>
              </a:spcAft>
            </a:pPr>
            <a:r>
              <a:rPr sz="1400" b="1">
                <a:solidFill>
                  <a:srgbClr val="2E86AB"/>
                </a:solidFill>
                <a:latin typeface="Segoe UI"/>
              </a:rPr>
              <a:t>▸  </a:t>
            </a:r>
            <a:r>
              <a:rPr sz="1350" b="1">
                <a:solidFill>
                  <a:srgbClr val="0F2540"/>
                </a:solidFill>
                <a:latin typeface="Segoe UI"/>
              </a:rPr>
              <a:t>Failsafe transitions (safety design):</a:t>
            </a:r>
          </a:p>
          <a:p>
            <a:pPr>
              <a:lnSpc>
                <a:spcPct val="104000"/>
              </a:lnSpc>
              <a:spcBef>
                <a:spcPts val="300"/>
              </a:spcBef>
              <a:spcAft>
                <a:spcPts val="300"/>
              </a:spcAft>
            </a:pPr>
            <a:r>
              <a:rPr sz="1400" b="1">
                <a:solidFill>
                  <a:srgbClr val="5C6B7A"/>
                </a:solidFill>
                <a:latin typeface="Segoe UI"/>
              </a:rPr>
              <a:t>     –  </a:t>
            </a:r>
            <a:r>
              <a:rPr sz="1250" b="1">
                <a:solidFill>
                  <a:srgbClr val="0F2540"/>
                </a:solidFill>
                <a:latin typeface="Segoe UI"/>
              </a:rPr>
              <a:t>Link loss.  </a:t>
            </a:r>
            <a:r>
              <a:rPr sz="1250" b="0">
                <a:solidFill>
                  <a:srgbClr val="1E2833"/>
                </a:solidFill>
                <a:latin typeface="Segoe UI"/>
              </a:rPr>
              <a:t>flying → RTL when ELRS is lost past the FC failsafe timeout (R7_BHV_LINKLOSS_RTL).</a:t>
            </a:r>
          </a:p>
          <a:p>
            <a:pPr>
              <a:lnSpc>
                <a:spcPct val="104000"/>
              </a:lnSpc>
              <a:spcBef>
                <a:spcPts val="300"/>
              </a:spcBef>
              <a:spcAft>
                <a:spcPts val="300"/>
              </a:spcAft>
            </a:pPr>
            <a:r>
              <a:rPr sz="1400" b="1">
                <a:solidFill>
                  <a:srgbClr val="5C6B7A"/>
                </a:solidFill>
                <a:latin typeface="Segoe UI"/>
              </a:rPr>
              <a:t>     –  </a:t>
            </a:r>
            <a:r>
              <a:rPr sz="1250" b="1">
                <a:solidFill>
                  <a:srgbClr val="0F2540"/>
                </a:solidFill>
                <a:latin typeface="Segoe UI"/>
              </a:rPr>
              <a:t>Low battery.  </a:t>
            </a:r>
            <a:r>
              <a:rPr sz="1250" b="0">
                <a:solidFill>
                  <a:srgbClr val="1E2833"/>
                </a:solidFill>
                <a:latin typeface="Segoe UI"/>
              </a:rPr>
              <a:t>→ RTL when usable energy hits the return reserve (R6_BHV_RTL_RESERVE).</a:t>
            </a:r>
          </a:p>
          <a:p>
            <a:pPr>
              <a:lnSpc>
                <a:spcPct val="104000"/>
              </a:lnSpc>
              <a:spcBef>
                <a:spcPts val="300"/>
              </a:spcBef>
              <a:spcAft>
                <a:spcPts val="300"/>
              </a:spcAft>
            </a:pPr>
            <a:r>
              <a:rPr sz="1400" b="1">
                <a:solidFill>
                  <a:srgbClr val="2E86AB"/>
                </a:solidFill>
                <a:latin typeface="Segoe UI"/>
              </a:rPr>
              <a:t>▸  </a:t>
            </a:r>
            <a:r>
              <a:rPr sz="1350" b="1">
                <a:solidFill>
                  <a:srgbClr val="0F2540"/>
                </a:solidFill>
                <a:latin typeface="Segoe UI"/>
              </a:rPr>
              <a:t>Realization.  </a:t>
            </a:r>
            <a:r>
              <a:rPr sz="1350" b="0">
                <a:solidFill>
                  <a:srgbClr val="1E2833"/>
                </a:solidFill>
                <a:latin typeface="Segoe UI"/>
              </a:rPr>
              <a:t>Transitions map to ArduPilot FS_* / BATT_* failsafe parameters; executeRtl / touchDownAndDisarm are modeled actions.</a:t>
            </a:r>
          </a:p>
          <a:p>
            <a:pPr>
              <a:lnSpc>
                <a:spcPct val="104000"/>
              </a:lnSpc>
              <a:spcBef>
                <a:spcPts val="300"/>
              </a:spcBef>
              <a:spcAft>
                <a:spcPts val="300"/>
              </a:spcAft>
            </a:pPr>
            <a:r>
              <a:rPr sz="1400" b="1">
                <a:solidFill>
                  <a:srgbClr val="2E86AB"/>
                </a:solidFill>
                <a:latin typeface="Segoe UI"/>
              </a:rPr>
              <a:t>▸  </a:t>
            </a:r>
            <a:r>
              <a:rPr sz="1250" b="1">
                <a:solidFill>
                  <a:srgbClr val="0F2540"/>
                </a:solidFill>
                <a:latin typeface="Segoe UI"/>
              </a:rPr>
              <a:t>Open policy.  </a:t>
            </a:r>
            <a:r>
              <a:rPr sz="1250" b="0">
                <a:solidFill>
                  <a:srgbClr val="1E2833"/>
                </a:solidFill>
                <a:latin typeface="Segoe UI"/>
              </a:rPr>
              <a:t>RTL reserve-energy threshold value is TBD (tracked as an open item).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3 · BEHAVIOR</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Autonomous Detect · Investigate · Classify Loop</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22</a:t>
            </a:r>
          </a:p>
        </p:txBody>
      </p:sp>
      <p:sp>
        <p:nvSpPr>
          <p:cNvPr id="9" name="Rectangle 8"/>
          <p:cNvSpPr/>
          <p:nvPr/>
        </p:nvSpPr>
        <p:spPr>
          <a:xfrm>
            <a:off x="646023" y="1234440"/>
            <a:ext cx="2905050" cy="4617720"/>
          </a:xfrm>
          <a:prstGeom prst="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weep_and_detect_action_flow.png"/>
          <p:cNvPicPr>
            <a:picLocks noChangeAspect="1"/>
          </p:cNvPicPr>
          <p:nvPr/>
        </p:nvPicPr>
        <p:blipFill>
          <a:blip r:embed="rId2"/>
          <a:stretch>
            <a:fillRect/>
          </a:stretch>
        </p:blipFill>
        <p:spPr>
          <a:xfrm>
            <a:off x="700887" y="1289304"/>
            <a:ext cx="2795322" cy="4507992"/>
          </a:xfrm>
          <a:prstGeom prst="rect">
            <a:avLst/>
          </a:prstGeom>
        </p:spPr>
      </p:pic>
      <p:sp>
        <p:nvSpPr>
          <p:cNvPr id="11" name="TextBox 10"/>
          <p:cNvSpPr txBox="1"/>
          <p:nvPr/>
        </p:nvSpPr>
        <p:spPr>
          <a:xfrm>
            <a:off x="566928" y="5897880"/>
            <a:ext cx="30632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050" b="0" i="1">
                <a:solidFill>
                  <a:srgbClr val="5C6B7A"/>
                </a:solidFill>
                <a:latin typeface="Segoe UI"/>
              </a:rPr>
              <a:t>SweepAndDetect (UC-5a)</a:t>
            </a:r>
          </a:p>
        </p:txBody>
      </p:sp>
      <p:sp>
        <p:nvSpPr>
          <p:cNvPr id="12" name="Rectangle 11"/>
          <p:cNvSpPr/>
          <p:nvPr/>
        </p:nvSpPr>
        <p:spPr>
          <a:xfrm>
            <a:off x="3887188" y="1234440"/>
            <a:ext cx="3381304" cy="4617720"/>
          </a:xfrm>
          <a:prstGeom prst="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nvestigate_and_classify_action_flow.png"/>
          <p:cNvPicPr>
            <a:picLocks noChangeAspect="1"/>
          </p:cNvPicPr>
          <p:nvPr/>
        </p:nvPicPr>
        <p:blipFill>
          <a:blip r:embed="rId3"/>
          <a:stretch>
            <a:fillRect/>
          </a:stretch>
        </p:blipFill>
        <p:spPr>
          <a:xfrm>
            <a:off x="3942052" y="1289304"/>
            <a:ext cx="3271576" cy="4507992"/>
          </a:xfrm>
          <a:prstGeom prst="rect">
            <a:avLst/>
          </a:prstGeom>
        </p:spPr>
      </p:pic>
      <p:sp>
        <p:nvSpPr>
          <p:cNvPr id="14" name="TextBox 13"/>
          <p:cNvSpPr txBox="1"/>
          <p:nvPr/>
        </p:nvSpPr>
        <p:spPr>
          <a:xfrm>
            <a:off x="3794760" y="5897880"/>
            <a:ext cx="3566160" cy="457200"/>
          </a:xfrm>
          <a:prstGeom prst="rect">
            <a:avLst/>
          </a:prstGeom>
          <a:noFill/>
        </p:spPr>
        <p:txBody>
          <a:bodyPr wrap="square" anchor="t" lIns="0" rIns="0" tIns="0" bIns="0">
            <a:spAutoFit/>
          </a:bodyPr>
          <a:lstStyle/>
          <a:p>
            <a:pPr algn="ctr">
              <a:lnSpc>
                <a:spcPct val="100000"/>
              </a:lnSpc>
              <a:spcBef>
                <a:spcPts val="0"/>
              </a:spcBef>
              <a:spcAft>
                <a:spcPts val="400"/>
              </a:spcAft>
            </a:pPr>
            <a:r>
              <a:rPr sz="1050" b="0" i="1">
                <a:solidFill>
                  <a:srgbClr val="5C6B7A"/>
                </a:solidFill>
                <a:latin typeface="Segoe UI"/>
              </a:rPr>
              <a:t>InvestigateAndClassify (UC-5b)</a:t>
            </a:r>
          </a:p>
        </p:txBody>
      </p:sp>
      <p:sp>
        <p:nvSpPr>
          <p:cNvPr id="15" name="Rounded Rectangle 14"/>
          <p:cNvSpPr/>
          <p:nvPr/>
        </p:nvSpPr>
        <p:spPr>
          <a:xfrm>
            <a:off x="7635240" y="1280160"/>
            <a:ext cx="3977639" cy="457200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18120" y="1417320"/>
            <a:ext cx="3657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HOW THE LOOP RUNS</a:t>
            </a:r>
          </a:p>
        </p:txBody>
      </p:sp>
      <p:sp>
        <p:nvSpPr>
          <p:cNvPr id="17" name="TextBox 16"/>
          <p:cNvSpPr txBox="1"/>
          <p:nvPr/>
        </p:nvSpPr>
        <p:spPr>
          <a:xfrm>
            <a:off x="7818120" y="1810512"/>
            <a:ext cx="3611880" cy="3931920"/>
          </a:xfrm>
          <a:prstGeom prst="rect">
            <a:avLst/>
          </a:prstGeom>
          <a:noFill/>
        </p:spPr>
        <p:txBody>
          <a:bodyPr wrap="square" anchor="t" lIns="0" rIns="0" tIns="0" bIns="0">
            <a:spAutoFit/>
          </a:bodyPr>
          <a:lstStyle/>
          <a:p>
            <a:pPr>
              <a:lnSpc>
                <a:spcPct val="104000"/>
              </a:lnSpc>
              <a:spcBef>
                <a:spcPts val="300"/>
              </a:spcBef>
              <a:spcAft>
                <a:spcPts val="300"/>
              </a:spcAft>
            </a:pPr>
            <a:r>
              <a:rPr sz="1400" b="1">
                <a:solidFill>
                  <a:srgbClr val="2E86AB"/>
                </a:solidFill>
                <a:latin typeface="Segoe UI"/>
              </a:rPr>
              <a:t>▸  </a:t>
            </a:r>
            <a:r>
              <a:rPr sz="1250" b="1">
                <a:solidFill>
                  <a:srgbClr val="0F2540"/>
                </a:solidFill>
                <a:latin typeface="Segoe UI"/>
              </a:rPr>
              <a:t>Detect.  </a:t>
            </a:r>
            <a:r>
              <a:rPr sz="1250" b="0">
                <a:solidFill>
                  <a:srgbClr val="1E2833"/>
                </a:solidFill>
                <a:latin typeface="Segoe UI"/>
              </a:rPr>
              <a:t>Per-frame onboard inference; when detectionConfidence ≥ threshold → mark POI, alert operator, emit targetDetectedEvt.</a:t>
            </a:r>
          </a:p>
          <a:p>
            <a:pPr>
              <a:lnSpc>
                <a:spcPct val="104000"/>
              </a:lnSpc>
              <a:spcBef>
                <a:spcPts val="300"/>
              </a:spcBef>
              <a:spcAft>
                <a:spcPts val="300"/>
              </a:spcAft>
            </a:pPr>
            <a:r>
              <a:rPr sz="1400" b="1">
                <a:solidFill>
                  <a:srgbClr val="2E86AB"/>
                </a:solidFill>
                <a:latin typeface="Segoe UI"/>
              </a:rPr>
              <a:t>▸  </a:t>
            </a:r>
            <a:r>
              <a:rPr sz="1250" b="1">
                <a:solidFill>
                  <a:srgbClr val="0F2540"/>
                </a:solidFill>
                <a:latin typeface="Segoe UI"/>
              </a:rPr>
              <a:t>Investigate.  </a:t>
            </a:r>
            <a:r>
              <a:rPr sz="1250" b="0">
                <a:solidFill>
                  <a:srgbClr val="1E2833"/>
                </a:solidFill>
                <a:latin typeface="Segoe UI"/>
              </a:rPr>
              <a:t>Reroute to target; classify in a loop until classificationConfidence ≥ threshold, else adjust orbit and retry.</a:t>
            </a:r>
          </a:p>
          <a:p>
            <a:pPr>
              <a:lnSpc>
                <a:spcPct val="104000"/>
              </a:lnSpc>
              <a:spcBef>
                <a:spcPts val="300"/>
              </a:spcBef>
              <a:spcAft>
                <a:spcPts val="300"/>
              </a:spcAft>
            </a:pPr>
            <a:r>
              <a:rPr sz="1400" b="1">
                <a:solidFill>
                  <a:srgbClr val="2E86AB"/>
                </a:solidFill>
                <a:latin typeface="Segoe UI"/>
              </a:rPr>
              <a:t>▸  </a:t>
            </a:r>
            <a:r>
              <a:rPr sz="1250" b="1">
                <a:solidFill>
                  <a:srgbClr val="0F2540"/>
                </a:solidFill>
                <a:latin typeface="Segoe UI"/>
              </a:rPr>
              <a:t>Resume.  </a:t>
            </a:r>
            <a:r>
              <a:rPr sz="1250" b="0">
                <a:solidFill>
                  <a:srgbClr val="1E2833"/>
                </a:solidFill>
                <a:latin typeface="Segoe UI"/>
              </a:rPr>
              <a:t>Report classification, resume the survey route, emit investigationCompleteEvt.</a:t>
            </a:r>
          </a:p>
          <a:p>
            <a:pPr>
              <a:lnSpc>
                <a:spcPct val="104000"/>
              </a:lnSpc>
              <a:spcBef>
                <a:spcPts val="300"/>
              </a:spcBef>
              <a:spcAft>
                <a:spcPts val="300"/>
              </a:spcAft>
            </a:pPr>
            <a:r>
              <a:rPr sz="1400" b="1">
                <a:solidFill>
                  <a:srgbClr val="2E86AB"/>
                </a:solidFill>
                <a:latin typeface="Segoe UI"/>
              </a:rPr>
              <a:t>▸  </a:t>
            </a:r>
            <a:r>
              <a:rPr sz="1250" b="1">
                <a:solidFill>
                  <a:srgbClr val="0F2540"/>
                </a:solidFill>
                <a:latin typeface="Segoe UI"/>
              </a:rPr>
              <a:t>Seam.  </a:t>
            </a:r>
            <a:r>
              <a:rPr sz="1250" b="0">
                <a:solidFill>
                  <a:srgbClr val="1E2833"/>
                </a:solidFill>
                <a:latin typeface="Segoe UI"/>
              </a:rPr>
              <a:t>Both halves formally send their events to missionContext — the receiver that ties functions to the system.</a:t>
            </a:r>
          </a:p>
          <a:p>
            <a:pPr>
              <a:lnSpc>
                <a:spcPct val="104000"/>
              </a:lnSpc>
              <a:spcBef>
                <a:spcPts val="300"/>
              </a:spcBef>
              <a:spcAft>
                <a:spcPts val="300"/>
              </a:spcAft>
            </a:pPr>
            <a:r>
              <a:rPr sz="1400" b="1">
                <a:solidFill>
                  <a:srgbClr val="2E86AB"/>
                </a:solidFill>
                <a:latin typeface="Segoe UI"/>
              </a:rPr>
              <a:t>▸  </a:t>
            </a:r>
            <a:r>
              <a:rPr sz="1250" b="1">
                <a:solidFill>
                  <a:srgbClr val="0F2540"/>
                </a:solidFill>
                <a:latin typeface="Segoe UI"/>
              </a:rPr>
              <a:t>Allocation.  </a:t>
            </a:r>
            <a:r>
              <a:rPr sz="1250" b="0">
                <a:solidFill>
                  <a:srgbClr val="1E2833"/>
                </a:solidFill>
                <a:latin typeface="Segoe UI"/>
              </a:rPr>
              <a:t>Runs on the SBC (missionApp + rknnRuntime); routes commanded to the FC over MAVLink.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2761488"/>
            <a:ext cx="50292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331720"/>
            <a:ext cx="11055096"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8FC5E0"/>
                </a:solidFill>
                <a:latin typeface="Segoe UI"/>
              </a:rPr>
              <a:t>SECTION 4</a:t>
            </a:r>
          </a:p>
        </p:txBody>
      </p:sp>
      <p:sp>
        <p:nvSpPr>
          <p:cNvPr id="6" name="TextBox 5"/>
          <p:cNvSpPr txBox="1"/>
          <p:nvPr/>
        </p:nvSpPr>
        <p:spPr>
          <a:xfrm>
            <a:off x="566928" y="2880360"/>
            <a:ext cx="11055096" cy="1097280"/>
          </a:xfrm>
          <a:prstGeom prst="rect">
            <a:avLst/>
          </a:prstGeom>
          <a:noFill/>
        </p:spPr>
        <p:txBody>
          <a:bodyPr wrap="square" anchor="t" lIns="0" rIns="0" tIns="0" bIns="0">
            <a:spAutoFit/>
          </a:bodyPr>
          <a:lstStyle/>
          <a:p>
            <a:pPr algn="l">
              <a:lnSpc>
                <a:spcPct val="100000"/>
              </a:lnSpc>
              <a:spcBef>
                <a:spcPts val="0"/>
              </a:spcBef>
              <a:spcAft>
                <a:spcPts val="400"/>
              </a:spcAft>
            </a:pPr>
            <a:r>
              <a:rPr sz="4000" b="1" i="0">
                <a:solidFill>
                  <a:srgbClr val="FFFFFF"/>
                </a:solidFill>
                <a:latin typeface="Segoe UI"/>
              </a:rPr>
              <a:t>Engineering Analyses</a:t>
            </a:r>
          </a:p>
        </p:txBody>
      </p:sp>
      <p:sp>
        <p:nvSpPr>
          <p:cNvPr id="7" name="TextBox 6"/>
          <p:cNvSpPr txBox="1"/>
          <p:nvPr/>
        </p:nvSpPr>
        <p:spPr>
          <a:xfrm>
            <a:off x="566928" y="3977639"/>
            <a:ext cx="9601200" cy="1097280"/>
          </a:xfrm>
          <a:prstGeom prst="rect">
            <a:avLst/>
          </a:prstGeom>
          <a:noFill/>
        </p:spPr>
        <p:txBody>
          <a:bodyPr wrap="square" anchor="t" lIns="0" rIns="0" tIns="0" bIns="0">
            <a:spAutoFit/>
          </a:bodyPr>
          <a:lstStyle/>
          <a:p>
            <a:pPr algn="l">
              <a:lnSpc>
                <a:spcPct val="115000"/>
              </a:lnSpc>
              <a:spcBef>
                <a:spcPts val="0"/>
              </a:spcBef>
              <a:spcAft>
                <a:spcPts val="400"/>
              </a:spcAft>
            </a:pPr>
            <a:r>
              <a:rPr sz="1500" b="0" i="0">
                <a:solidFill>
                  <a:srgbClr val="B9CBDB"/>
                </a:solidFill>
                <a:latin typeface="Segoe UI"/>
              </a:rPr>
              <a:t>Four quantitative analyses verify the design against the driving requirements — endurance, thermal detection, RF link budget, and cost / physical integration — each with its method and fidelity stated.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4 · ANALYSES</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Detailed Design — Selected Configuration</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24</a:t>
            </a:r>
          </a:p>
        </p:txBody>
      </p:sp>
      <p:sp>
        <p:nvSpPr>
          <p:cNvPr id="9" name="TextBox 8"/>
          <p:cNvSpPr txBox="1"/>
          <p:nvPr/>
        </p:nvSpPr>
        <p:spPr>
          <a:xfrm>
            <a:off x="566928" y="1170432"/>
            <a:ext cx="11055096"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5C6B7A"/>
                </a:solidFill>
                <a:latin typeface="Segoe UI"/>
              </a:rPr>
              <a:t>Components down-selected from ~110 real market candidates via trade studies; selections are version-controlled and machine-enforced in the analysis.</a:t>
            </a:r>
          </a:p>
        </p:txBody>
      </p:sp>
      <p:graphicFrame>
        <p:nvGraphicFramePr>
          <p:cNvPr id="10" name="Table 9"/>
          <p:cNvGraphicFramePr>
            <a:graphicFrameLocks noGrp="1"/>
          </p:cNvGraphicFramePr>
          <p:nvPr/>
        </p:nvGraphicFramePr>
        <p:xfrm>
          <a:off x="566928" y="1600200"/>
          <a:ext cx="11055096" cy="3529584"/>
        </p:xfrm>
        <a:graphic>
          <a:graphicData uri="http://schemas.openxmlformats.org/drawingml/2006/table">
            <a:tbl>
              <a:tblPr>
                <a:tableStyleId>{5C22544A-7EE6-4342-B048-85BDC9FD1C3A}</a:tableStyleId>
              </a:tblPr>
              <a:tblGrid>
                <a:gridCol w="2148840"/>
                <a:gridCol w="4023360"/>
                <a:gridCol w="4882896"/>
              </a:tblGrid>
              <a:tr h="310896">
                <a:tc>
                  <a:txBody>
                    <a:bodyPr wrap="square"/>
                    <a:lstStyle/>
                    <a:p>
                      <a:pPr algn="l"/>
                      <a:r>
                        <a:rPr sz="1100" b="1">
                          <a:solidFill>
                            <a:srgbClr val="FFFFFF"/>
                          </a:solidFill>
                          <a:latin typeface="Segoe UI"/>
                        </a:rPr>
                        <a:t>Role</a:t>
                      </a:r>
                    </a:p>
                  </a:txBody>
                  <a:tcPr marL="54864" marR="54864" marT="18288" marB="18288" anchor="ctr">
                    <a:solidFill>
                      <a:srgbClr val="0F2540"/>
                    </a:solidFill>
                  </a:tcPr>
                </a:tc>
                <a:tc>
                  <a:txBody>
                    <a:bodyPr wrap="square"/>
                    <a:lstStyle/>
                    <a:p>
                      <a:pPr algn="l"/>
                      <a:r>
                        <a:rPr sz="1100" b="1">
                          <a:solidFill>
                            <a:srgbClr val="FFFFFF"/>
                          </a:solidFill>
                          <a:latin typeface="Segoe UI"/>
                        </a:rPr>
                        <a:t>Selected component</a:t>
                      </a:r>
                    </a:p>
                  </a:txBody>
                  <a:tcPr marL="54864" marR="54864" marT="18288" marB="18288" anchor="ctr">
                    <a:solidFill>
                      <a:srgbClr val="0F2540"/>
                    </a:solidFill>
                  </a:tcPr>
                </a:tc>
                <a:tc>
                  <a:txBody>
                    <a:bodyPr wrap="square"/>
                    <a:lstStyle/>
                    <a:p>
                      <a:pPr algn="l"/>
                      <a:r>
                        <a:rPr sz="1100" b="1">
                          <a:solidFill>
                            <a:srgbClr val="FFFFFF"/>
                          </a:solidFill>
                          <a:latin typeface="Segoe UI"/>
                        </a:rPr>
                        <a:t>Basis</a:t>
                      </a:r>
                    </a:p>
                  </a:txBody>
                  <a:tcPr marL="54864" marR="54864" marT="18288" marB="18288" anchor="ctr">
                    <a:solidFill>
                      <a:srgbClr val="0F2540"/>
                    </a:solidFill>
                  </a:tcPr>
                </a:tc>
              </a:tr>
              <a:tr h="402336">
                <a:tc>
                  <a:txBody>
                    <a:bodyPr wrap="square"/>
                    <a:lstStyle/>
                    <a:p>
                      <a:pPr algn="l"/>
                      <a:r>
                        <a:rPr sz="1050" b="0">
                          <a:solidFill>
                            <a:srgbClr val="1E2833"/>
                          </a:solidFill>
                          <a:latin typeface="Segoe UI"/>
                        </a:rPr>
                        <a:t>Airframe</a:t>
                      </a:r>
                    </a:p>
                  </a:txBody>
                  <a:tcPr marL="54864" marR="54864" marT="18288" marB="18288" anchor="ctr">
                    <a:solidFill>
                      <a:srgbClr val="FFFFFF"/>
                    </a:solidFill>
                  </a:tcPr>
                </a:tc>
                <a:tc>
                  <a:txBody>
                    <a:bodyPr wrap="square"/>
                    <a:lstStyle/>
                    <a:p>
                      <a:pPr algn="l"/>
                      <a:r>
                        <a:rPr sz="1050" b="0">
                          <a:solidFill>
                            <a:srgbClr val="1E2833"/>
                          </a:solidFill>
                          <a:latin typeface="Segoe UI"/>
                        </a:rPr>
                        <a:t>iFlight Chimera9 ECO 9" (PNP)</a:t>
                      </a:r>
                    </a:p>
                  </a:txBody>
                  <a:tcPr marL="54864" marR="54864" marT="18288" marB="18288" anchor="ctr">
                    <a:solidFill>
                      <a:srgbClr val="FFFFFF"/>
                    </a:solidFill>
                  </a:tcPr>
                </a:tc>
                <a:tc>
                  <a:txBody>
                    <a:bodyPr wrap="square"/>
                    <a:lstStyle/>
                    <a:p>
                      <a:pPr algn="l"/>
                      <a:r>
                        <a:rPr sz="1050" b="0">
                          <a:solidFill>
                            <a:srgbClr val="1E2833"/>
                          </a:solidFill>
                          <a:latin typeface="Segoe UI"/>
                        </a:rPr>
                        <a:t>Best endurance/$ of SBC-capable frames; SBC fits deck</a:t>
                      </a:r>
                    </a:p>
                  </a:txBody>
                  <a:tcPr marL="54864" marR="54864" marT="18288" marB="18288" anchor="ctr">
                    <a:solidFill>
                      <a:srgbClr val="FFFFFF"/>
                    </a:solidFill>
                  </a:tcPr>
                </a:tc>
              </a:tr>
              <a:tr h="402336">
                <a:tc>
                  <a:txBody>
                    <a:bodyPr wrap="square"/>
                    <a:lstStyle/>
                    <a:p>
                      <a:pPr algn="l"/>
                      <a:r>
                        <a:rPr sz="1050" b="0">
                          <a:solidFill>
                            <a:srgbClr val="1E2833"/>
                          </a:solidFill>
                          <a:latin typeface="Segoe UI"/>
                        </a:rPr>
                        <a:t>Battery (flight)</a:t>
                      </a:r>
                    </a:p>
                  </a:txBody>
                  <a:tcPr marL="54864" marR="54864" marT="18288" marB="18288" anchor="ctr">
                    <a:solidFill>
                      <a:srgbClr val="F6F8FA"/>
                    </a:solidFill>
                  </a:tcPr>
                </a:tc>
                <a:tc>
                  <a:txBody>
                    <a:bodyPr wrap="square"/>
                    <a:lstStyle/>
                    <a:p>
                      <a:pPr algn="l"/>
                      <a:r>
                        <a:rPr sz="1050" b="0">
                          <a:solidFill>
                            <a:srgbClr val="1E2833"/>
                          </a:solidFill>
                          <a:latin typeface="Segoe UI"/>
                        </a:rPr>
                        <a:t>Upgrade Energy 6S 12 Ah Amprius</a:t>
                      </a:r>
                    </a:p>
                  </a:txBody>
                  <a:tcPr marL="54864" marR="54864" marT="18288" marB="18288" anchor="ctr">
                    <a:solidFill>
                      <a:srgbClr val="F6F8FA"/>
                    </a:solidFill>
                  </a:tcPr>
                </a:tc>
                <a:tc>
                  <a:txBody>
                    <a:bodyPr wrap="square"/>
                    <a:lstStyle/>
                    <a:p>
                      <a:pPr algn="l"/>
                      <a:r>
                        <a:rPr sz="1050" b="0">
                          <a:solidFill>
                            <a:srgbClr val="1E2833"/>
                          </a:solidFill>
                          <a:latin typeface="Segoe UI"/>
                        </a:rPr>
                        <a:t>57 min hover; XT60; in-stock Amprius</a:t>
                      </a:r>
                    </a:p>
                  </a:txBody>
                  <a:tcPr marL="54864" marR="54864" marT="18288" marB="18288" anchor="ctr">
                    <a:solidFill>
                      <a:srgbClr val="F6F8FA"/>
                    </a:solidFill>
                  </a:tcPr>
                </a:tc>
              </a:tr>
              <a:tr h="402336">
                <a:tc>
                  <a:txBody>
                    <a:bodyPr wrap="square"/>
                    <a:lstStyle/>
                    <a:p>
                      <a:pPr algn="l"/>
                      <a:r>
                        <a:rPr sz="1050" b="0">
                          <a:solidFill>
                            <a:srgbClr val="1E2833"/>
                          </a:solidFill>
                          <a:latin typeface="Segoe UI"/>
                        </a:rPr>
                        <a:t>Thermal camera</a:t>
                      </a:r>
                    </a:p>
                  </a:txBody>
                  <a:tcPr marL="54864" marR="54864" marT="18288" marB="18288" anchor="ctr">
                    <a:solidFill>
                      <a:srgbClr val="FFFFFF"/>
                    </a:solidFill>
                  </a:tcPr>
                </a:tc>
                <a:tc>
                  <a:txBody>
                    <a:bodyPr wrap="square"/>
                    <a:lstStyle/>
                    <a:p>
                      <a:pPr algn="l"/>
                      <a:r>
                        <a:rPr sz="1050" b="0">
                          <a:solidFill>
                            <a:srgbClr val="1E2833"/>
                          </a:solidFill>
                          <a:latin typeface="Segoe UI"/>
                        </a:rPr>
                        <a:t>PurpleRiver Mini 640 (640×512, 12 µm)</a:t>
                      </a:r>
                    </a:p>
                  </a:txBody>
                  <a:tcPr marL="54864" marR="54864" marT="18288" marB="18288" anchor="ctr">
                    <a:solidFill>
                      <a:srgbClr val="FFFFFF"/>
                    </a:solidFill>
                  </a:tcPr>
                </a:tc>
                <a:tc>
                  <a:txBody>
                    <a:bodyPr wrap="square"/>
                    <a:lstStyle/>
                    <a:p>
                      <a:pPr algn="l"/>
                      <a:r>
                        <a:rPr sz="1050" b="0">
                          <a:solidFill>
                            <a:srgbClr val="1E2833"/>
                          </a:solidFill>
                          <a:latin typeface="Segoe UI"/>
                        </a:rPr>
                        <a:t>Meets Johnson detect/recognize; USB-UVC</a:t>
                      </a:r>
                    </a:p>
                  </a:txBody>
                  <a:tcPr marL="54864" marR="54864" marT="18288" marB="18288" anchor="ctr">
                    <a:solidFill>
                      <a:srgbClr val="FFFFFF"/>
                    </a:solidFill>
                  </a:tcPr>
                </a:tc>
              </a:tr>
              <a:tr h="402336">
                <a:tc>
                  <a:txBody>
                    <a:bodyPr wrap="square"/>
                    <a:lstStyle/>
                    <a:p>
                      <a:pPr algn="l"/>
                      <a:r>
                        <a:rPr sz="1050" b="0">
                          <a:solidFill>
                            <a:srgbClr val="1E2833"/>
                          </a:solidFill>
                          <a:latin typeface="Segoe UI"/>
                        </a:rPr>
                        <a:t>Onboard compute</a:t>
                      </a:r>
                    </a:p>
                  </a:txBody>
                  <a:tcPr marL="54864" marR="54864" marT="18288" marB="18288" anchor="ctr">
                    <a:solidFill>
                      <a:srgbClr val="F6F8FA"/>
                    </a:solidFill>
                  </a:tcPr>
                </a:tc>
                <a:tc>
                  <a:txBody>
                    <a:bodyPr wrap="square"/>
                    <a:lstStyle/>
                    <a:p>
                      <a:pPr algn="l"/>
                      <a:r>
                        <a:rPr sz="1050" b="0">
                          <a:solidFill>
                            <a:srgbClr val="1E2833"/>
                          </a:solidFill>
                          <a:latin typeface="Segoe UI"/>
                        </a:rPr>
                        <a:t>NanoPi M5 (RK3576, 6 TOPS)</a:t>
                      </a:r>
                    </a:p>
                  </a:txBody>
                  <a:tcPr marL="54864" marR="54864" marT="18288" marB="18288" anchor="ctr">
                    <a:solidFill>
                      <a:srgbClr val="F6F8FA"/>
                    </a:solidFill>
                  </a:tcPr>
                </a:tc>
                <a:tc>
                  <a:txBody>
                    <a:bodyPr wrap="square"/>
                    <a:lstStyle/>
                    <a:p>
                      <a:pPr algn="l"/>
                      <a:r>
                        <a:rPr sz="1050" b="0">
                          <a:solidFill>
                            <a:srgbClr val="1E2833"/>
                          </a:solidFill>
                          <a:latin typeface="Segoe UI"/>
                        </a:rPr>
                        <a:t>Mature RKNN toolchain; ≤10 W passive</a:t>
                      </a:r>
                    </a:p>
                  </a:txBody>
                  <a:tcPr marL="54864" marR="54864" marT="18288" marB="18288" anchor="ctr">
                    <a:solidFill>
                      <a:srgbClr val="F6F8FA"/>
                    </a:solidFill>
                  </a:tcPr>
                </a:tc>
              </a:tr>
              <a:tr h="402336">
                <a:tc>
                  <a:txBody>
                    <a:bodyPr wrap="square"/>
                    <a:lstStyle/>
                    <a:p>
                      <a:pPr algn="l"/>
                      <a:r>
                        <a:rPr sz="1050" b="0">
                          <a:solidFill>
                            <a:srgbClr val="1E2833"/>
                          </a:solidFill>
                          <a:latin typeface="Segoe UI"/>
                        </a:rPr>
                        <a:t>Control link</a:t>
                      </a:r>
                    </a:p>
                  </a:txBody>
                  <a:tcPr marL="54864" marR="54864" marT="18288" marB="18288" anchor="ctr">
                    <a:solidFill>
                      <a:srgbClr val="FFFFFF"/>
                    </a:solidFill>
                  </a:tcPr>
                </a:tc>
                <a:tc>
                  <a:txBody>
                    <a:bodyPr wrap="square"/>
                    <a:lstStyle/>
                    <a:p>
                      <a:pPr algn="l"/>
                      <a:r>
                        <a:rPr sz="1050" b="0">
                          <a:solidFill>
                            <a:srgbClr val="1E2833"/>
                          </a:solidFill>
                          <a:latin typeface="Segoe UI"/>
                        </a:rPr>
                        <a:t>iFlight TD ELRS + TX12 MkII + Hermes</a:t>
                      </a:r>
                    </a:p>
                  </a:txBody>
                  <a:tcPr marL="54864" marR="54864" marT="18288" marB="18288" anchor="ctr">
                    <a:solidFill>
                      <a:srgbClr val="FFFFFF"/>
                    </a:solidFill>
                  </a:tcPr>
                </a:tc>
                <a:tc>
                  <a:txBody>
                    <a:bodyPr wrap="square"/>
                    <a:lstStyle/>
                    <a:p>
                      <a:pPr algn="l"/>
                      <a:r>
                        <a:rPr sz="1050" b="0">
                          <a:solidFill>
                            <a:srgbClr val="1E2833"/>
                          </a:solidFill>
                          <a:latin typeface="Segoe UI"/>
                        </a:rPr>
                        <a:t>True-diversity 2.4 GHz; huge link margin</a:t>
                      </a:r>
                    </a:p>
                  </a:txBody>
                  <a:tcPr marL="54864" marR="54864" marT="18288" marB="18288" anchor="ctr">
                    <a:solidFill>
                      <a:srgbClr val="FFFFFF"/>
                    </a:solidFill>
                  </a:tcPr>
                </a:tc>
              </a:tr>
              <a:tr h="402336">
                <a:tc>
                  <a:txBody>
                    <a:bodyPr wrap="square"/>
                    <a:lstStyle/>
                    <a:p>
                      <a:pPr algn="l"/>
                      <a:r>
                        <a:rPr sz="1050" b="0">
                          <a:solidFill>
                            <a:srgbClr val="1E2833"/>
                          </a:solidFill>
                          <a:latin typeface="Segoe UI"/>
                        </a:rPr>
                        <a:t>Video (ground)</a:t>
                      </a:r>
                    </a:p>
                  </a:txBody>
                  <a:tcPr marL="54864" marR="54864" marT="18288" marB="18288" anchor="ctr">
                    <a:solidFill>
                      <a:srgbClr val="F6F8FA"/>
                    </a:solidFill>
                  </a:tcPr>
                </a:tc>
                <a:tc>
                  <a:txBody>
                    <a:bodyPr wrap="square"/>
                    <a:lstStyle/>
                    <a:p>
                      <a:pPr algn="l"/>
                      <a:r>
                        <a:rPr sz="1050" b="0">
                          <a:solidFill>
                            <a:srgbClr val="1E2833"/>
                          </a:solidFill>
                          <a:latin typeface="Segoe UI"/>
                        </a:rPr>
                        <a:t>Skydroid UVC RX + TrueRC X-AIR patch</a:t>
                      </a:r>
                    </a:p>
                  </a:txBody>
                  <a:tcPr marL="54864" marR="54864" marT="18288" marB="18288" anchor="ctr">
                    <a:solidFill>
                      <a:srgbClr val="F6F8FA"/>
                    </a:solidFill>
                  </a:tcPr>
                </a:tc>
                <a:tc>
                  <a:txBody>
                    <a:bodyPr wrap="square"/>
                    <a:lstStyle/>
                    <a:p>
                      <a:pPr algn="l"/>
                      <a:r>
                        <a:rPr sz="1050" b="0">
                          <a:solidFill>
                            <a:srgbClr val="1E2833"/>
                          </a:solidFill>
                          <a:latin typeface="Segoe UI"/>
                        </a:rPr>
                        <a:t>Closes 2.8 km analog link with margin</a:t>
                      </a:r>
                    </a:p>
                  </a:txBody>
                  <a:tcPr marL="54864" marR="54864" marT="18288" marB="18288" anchor="ctr">
                    <a:solidFill>
                      <a:srgbClr val="F6F8FA"/>
                    </a:solidFill>
                  </a:tcPr>
                </a:tc>
              </a:tr>
              <a:tr h="402336">
                <a:tc>
                  <a:txBody>
                    <a:bodyPr wrap="square"/>
                    <a:lstStyle/>
                    <a:p>
                      <a:pPr algn="l"/>
                      <a:r>
                        <a:rPr sz="1050" b="0">
                          <a:solidFill>
                            <a:srgbClr val="1E2833"/>
                          </a:solidFill>
                          <a:latin typeface="Segoe UI"/>
                        </a:rPr>
                        <a:t>FC firmware</a:t>
                      </a:r>
                    </a:p>
                  </a:txBody>
                  <a:tcPr marL="54864" marR="54864" marT="18288" marB="18288" anchor="ctr">
                    <a:solidFill>
                      <a:srgbClr val="FFFFFF"/>
                    </a:solidFill>
                  </a:tcPr>
                </a:tc>
                <a:tc>
                  <a:txBody>
                    <a:bodyPr wrap="square"/>
                    <a:lstStyle/>
                    <a:p>
                      <a:pPr algn="l"/>
                      <a:r>
                        <a:rPr sz="1050" b="0">
                          <a:solidFill>
                            <a:srgbClr val="1E2833"/>
                          </a:solidFill>
                          <a:latin typeface="Segoe UI"/>
                        </a:rPr>
                        <a:t>ArduPilot ArduCopter ≥ 4.5</a:t>
                      </a:r>
                    </a:p>
                  </a:txBody>
                  <a:tcPr marL="54864" marR="54864" marT="18288" marB="18288" anchor="ctr">
                    <a:solidFill>
                      <a:srgbClr val="FFFFFF"/>
                    </a:solidFill>
                  </a:tcPr>
                </a:tc>
                <a:tc>
                  <a:txBody>
                    <a:bodyPr wrap="square"/>
                    <a:lstStyle/>
                    <a:p>
                      <a:pPr algn="l"/>
                      <a:r>
                        <a:rPr sz="1050" b="0">
                          <a:solidFill>
                            <a:srgbClr val="1E2833"/>
                          </a:solidFill>
                          <a:latin typeface="Segoe UI"/>
                        </a:rPr>
                        <a:t>AUTO/GUIDED + FS_/BATT_ failsafes ($0)</a:t>
                      </a:r>
                    </a:p>
                  </a:txBody>
                  <a:tcPr marL="54864" marR="54864" marT="18288" marB="18288" anchor="ctr">
                    <a:solidFill>
                      <a:srgbClr val="FFFFFF"/>
                    </a:solidFill>
                  </a:tcPr>
                </a:tc>
              </a:tr>
              <a:tr h="402336">
                <a:tc>
                  <a:txBody>
                    <a:bodyPr wrap="square"/>
                    <a:lstStyle/>
                    <a:p>
                      <a:pPr algn="l"/>
                      <a:r>
                        <a:rPr sz="1050" b="0">
                          <a:solidFill>
                            <a:srgbClr val="1E2833"/>
                          </a:solidFill>
                          <a:latin typeface="Segoe UI"/>
                        </a:rPr>
                        <a:t>GCS app</a:t>
                      </a:r>
                    </a:p>
                  </a:txBody>
                  <a:tcPr marL="54864" marR="54864" marT="18288" marB="18288" anchor="ctr">
                    <a:solidFill>
                      <a:srgbClr val="F6F8FA"/>
                    </a:solidFill>
                  </a:tcPr>
                </a:tc>
                <a:tc>
                  <a:txBody>
                    <a:bodyPr wrap="square"/>
                    <a:lstStyle/>
                    <a:p>
                      <a:pPr algn="l"/>
                      <a:r>
                        <a:rPr sz="1050" b="0">
                          <a:solidFill>
                            <a:srgbClr val="1E2833"/>
                          </a:solidFill>
                          <a:latin typeface="Segoe UI"/>
                        </a:rPr>
                        <a:t>QGroundControl 4.4+</a:t>
                      </a:r>
                    </a:p>
                  </a:txBody>
                  <a:tcPr marL="54864" marR="54864" marT="18288" marB="18288" anchor="ctr">
                    <a:solidFill>
                      <a:srgbClr val="F6F8FA"/>
                    </a:solidFill>
                  </a:tcPr>
                </a:tc>
                <a:tc>
                  <a:txBody>
                    <a:bodyPr wrap="square"/>
                    <a:lstStyle/>
                    <a:p>
                      <a:pPr algn="l"/>
                      <a:r>
                        <a:rPr sz="1050" b="0">
                          <a:solidFill>
                            <a:srgbClr val="1E2833"/>
                          </a:solidFill>
                          <a:latin typeface="Segoe UI"/>
                        </a:rPr>
                        <a:t>All laptop functions; macOS-compatible ($0)</a:t>
                      </a:r>
                    </a:p>
                  </a:txBody>
                  <a:tcPr marL="54864" marR="54864" marT="18288" marB="18288" anchor="ctr">
                    <a:solidFill>
                      <a:srgbClr val="F6F8FA"/>
                    </a:solidFill>
                  </a:tcPr>
                </a:tc>
              </a:tr>
            </a:tbl>
          </a:graphicData>
        </a:graphic>
      </p:graphicFrame>
      <p:sp>
        <p:nvSpPr>
          <p:cNvPr id="11" name="TextBox 10"/>
          <p:cNvSpPr txBox="1"/>
          <p:nvPr/>
        </p:nvSpPr>
        <p:spPr>
          <a:xfrm>
            <a:off x="566928" y="5806440"/>
            <a:ext cx="11055096" cy="457200"/>
          </a:xfrm>
          <a:prstGeom prst="rect">
            <a:avLst/>
          </a:prstGeom>
          <a:noFill/>
        </p:spPr>
        <p:txBody>
          <a:bodyPr wrap="square" anchor="t" lIns="0" rIns="0" tIns="0" bIns="0">
            <a:spAutoFit/>
          </a:bodyPr>
          <a:lstStyle/>
          <a:p>
            <a:pPr algn="l">
              <a:lnSpc>
                <a:spcPct val="100000"/>
              </a:lnSpc>
              <a:spcBef>
                <a:spcPts val="0"/>
              </a:spcBef>
              <a:spcAft>
                <a:spcPts val="400"/>
              </a:spcAft>
            </a:pPr>
            <a:r>
              <a:rPr sz="1050" b="1" i="0">
                <a:solidFill>
                  <a:srgbClr val="0F2540"/>
                </a:solidFill>
                <a:latin typeface="Segoe UI"/>
              </a:rPr>
              <a:t>Reference build: </a:t>
            </a:r>
            <a:r>
              <a:rPr sz="1050" b="0" i="0">
                <a:solidFill>
                  <a:srgbClr val="1E2833"/>
                </a:solidFill>
                <a:latin typeface="Segoe UI"/>
              </a:rPr>
              <a:t>Chimera9 ECO + 6S 12 Ah Amprius + Mini 640 + NanoPi M5 → ≈ 58 min hover, ≈ $1,850 committed system cost (≤ $2,500 R4), SBC fits the deck.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4 · ANALYSES  ·  DETAILED DESIGN</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Selected Hardware — Air Vehicle &amp; Payload</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25</a:t>
            </a:r>
          </a:p>
        </p:txBody>
      </p:sp>
      <p:sp>
        <p:nvSpPr>
          <p:cNvPr id="9" name="Rounded Rectangle 8"/>
          <p:cNvSpPr/>
          <p:nvPr/>
        </p:nvSpPr>
        <p:spPr>
          <a:xfrm>
            <a:off x="566928" y="1280160"/>
            <a:ext cx="3489960" cy="2208276"/>
          </a:xfrm>
          <a:prstGeom prst="round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irframe.png"/>
          <p:cNvPicPr>
            <a:picLocks noChangeAspect="1"/>
          </p:cNvPicPr>
          <p:nvPr/>
        </p:nvPicPr>
        <p:blipFill>
          <a:blip r:embed="rId2"/>
          <a:stretch>
            <a:fillRect/>
          </a:stretch>
        </p:blipFill>
        <p:spPr>
          <a:xfrm>
            <a:off x="1600962" y="1371600"/>
            <a:ext cx="1421892" cy="1421892"/>
          </a:xfrm>
          <a:prstGeom prst="rect">
            <a:avLst/>
          </a:prstGeom>
        </p:spPr>
      </p:pic>
      <p:sp>
        <p:nvSpPr>
          <p:cNvPr id="11" name="Rectangle 10"/>
          <p:cNvSpPr/>
          <p:nvPr/>
        </p:nvSpPr>
        <p:spPr>
          <a:xfrm>
            <a:off x="676656" y="2830068"/>
            <a:ext cx="3270504"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2875788"/>
            <a:ext cx="3270504"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0F2540"/>
                </a:solidFill>
                <a:latin typeface="Segoe UI"/>
              </a:rPr>
              <a:t>iFlight Chimera9 ECO 9"</a:t>
            </a:r>
          </a:p>
        </p:txBody>
      </p:sp>
      <p:sp>
        <p:nvSpPr>
          <p:cNvPr id="13" name="TextBox 12"/>
          <p:cNvSpPr txBox="1"/>
          <p:nvPr/>
        </p:nvSpPr>
        <p:spPr>
          <a:xfrm>
            <a:off x="676656" y="3195828"/>
            <a:ext cx="3270504" cy="310896"/>
          </a:xfrm>
          <a:prstGeom prst="rect">
            <a:avLst/>
          </a:prstGeom>
          <a:noFill/>
        </p:spPr>
        <p:txBody>
          <a:bodyPr wrap="square" anchor="t" lIns="0" rIns="0" tIns="0" bIns="0">
            <a:spAutoFit/>
          </a:bodyPr>
          <a:lstStyle/>
          <a:p>
            <a:pPr algn="ctr">
              <a:lnSpc>
                <a:spcPct val="100000"/>
              </a:lnSpc>
              <a:spcBef>
                <a:spcPts val="0"/>
              </a:spcBef>
              <a:spcAft>
                <a:spcPts val="400"/>
              </a:spcAft>
            </a:pPr>
            <a:r>
              <a:rPr sz="950" b="0" i="0">
                <a:solidFill>
                  <a:srgbClr val="5C6B7A"/>
                </a:solidFill>
                <a:latin typeface="Segoe UI"/>
              </a:rPr>
              <a:t>PNP airframe · 729 g · 6S · XING-E 2809</a:t>
            </a:r>
          </a:p>
        </p:txBody>
      </p:sp>
      <p:sp>
        <p:nvSpPr>
          <p:cNvPr id="14" name="Rounded Rectangle 13"/>
          <p:cNvSpPr/>
          <p:nvPr/>
        </p:nvSpPr>
        <p:spPr>
          <a:xfrm>
            <a:off x="4349496" y="1280160"/>
            <a:ext cx="3489960" cy="2208276"/>
          </a:xfrm>
          <a:prstGeom prst="round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battery.png"/>
          <p:cNvPicPr>
            <a:picLocks noChangeAspect="1"/>
          </p:cNvPicPr>
          <p:nvPr/>
        </p:nvPicPr>
        <p:blipFill>
          <a:blip r:embed="rId3"/>
          <a:stretch>
            <a:fillRect/>
          </a:stretch>
        </p:blipFill>
        <p:spPr>
          <a:xfrm>
            <a:off x="5146548" y="1371600"/>
            <a:ext cx="1895856" cy="1421892"/>
          </a:xfrm>
          <a:prstGeom prst="rect">
            <a:avLst/>
          </a:prstGeom>
        </p:spPr>
      </p:pic>
      <p:sp>
        <p:nvSpPr>
          <p:cNvPr id="16" name="Rectangle 15"/>
          <p:cNvSpPr/>
          <p:nvPr/>
        </p:nvSpPr>
        <p:spPr>
          <a:xfrm>
            <a:off x="4459224" y="2830068"/>
            <a:ext cx="3270504"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59224" y="2875788"/>
            <a:ext cx="3270504"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0F2540"/>
                </a:solidFill>
                <a:latin typeface="Segoe UI"/>
              </a:rPr>
              <a:t>Upgrade Energy 6S 12 Ah</a:t>
            </a:r>
          </a:p>
        </p:txBody>
      </p:sp>
      <p:sp>
        <p:nvSpPr>
          <p:cNvPr id="18" name="TextBox 17"/>
          <p:cNvSpPr txBox="1"/>
          <p:nvPr/>
        </p:nvSpPr>
        <p:spPr>
          <a:xfrm>
            <a:off x="4459224" y="3195828"/>
            <a:ext cx="3270504" cy="310896"/>
          </a:xfrm>
          <a:prstGeom prst="rect">
            <a:avLst/>
          </a:prstGeom>
          <a:noFill/>
        </p:spPr>
        <p:txBody>
          <a:bodyPr wrap="square" anchor="t" lIns="0" rIns="0" tIns="0" bIns="0">
            <a:spAutoFit/>
          </a:bodyPr>
          <a:lstStyle/>
          <a:p>
            <a:pPr algn="ctr">
              <a:lnSpc>
                <a:spcPct val="100000"/>
              </a:lnSpc>
              <a:spcBef>
                <a:spcPts val="0"/>
              </a:spcBef>
              <a:spcAft>
                <a:spcPts val="400"/>
              </a:spcAft>
            </a:pPr>
            <a:r>
              <a:rPr sz="950" b="0" i="0">
                <a:solidFill>
                  <a:srgbClr val="5C6B7A"/>
                </a:solidFill>
                <a:latin typeface="Segoe UI"/>
              </a:rPr>
              <a:t>Amprius Si-anode Li-ion · XT60 · ~57 min</a:t>
            </a:r>
          </a:p>
        </p:txBody>
      </p:sp>
      <p:sp>
        <p:nvSpPr>
          <p:cNvPr id="19" name="Rounded Rectangle 18"/>
          <p:cNvSpPr/>
          <p:nvPr/>
        </p:nvSpPr>
        <p:spPr>
          <a:xfrm>
            <a:off x="8132064" y="1280160"/>
            <a:ext cx="3489960" cy="2208276"/>
          </a:xfrm>
          <a:prstGeom prst="round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hermal.png"/>
          <p:cNvPicPr>
            <a:picLocks noChangeAspect="1"/>
          </p:cNvPicPr>
          <p:nvPr/>
        </p:nvPicPr>
        <p:blipFill>
          <a:blip r:embed="rId4"/>
          <a:stretch>
            <a:fillRect/>
          </a:stretch>
        </p:blipFill>
        <p:spPr>
          <a:xfrm>
            <a:off x="9166098" y="1371600"/>
            <a:ext cx="1421892" cy="1421892"/>
          </a:xfrm>
          <a:prstGeom prst="rect">
            <a:avLst/>
          </a:prstGeom>
        </p:spPr>
      </p:pic>
      <p:sp>
        <p:nvSpPr>
          <p:cNvPr id="21" name="Rectangle 20"/>
          <p:cNvSpPr/>
          <p:nvPr/>
        </p:nvSpPr>
        <p:spPr>
          <a:xfrm>
            <a:off x="8241792" y="2830068"/>
            <a:ext cx="3270504"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41792" y="2875788"/>
            <a:ext cx="3270504"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0F2540"/>
                </a:solidFill>
                <a:latin typeface="Segoe UI"/>
              </a:rPr>
              <a:t>PurpleRiver Mini 640</a:t>
            </a:r>
          </a:p>
        </p:txBody>
      </p:sp>
      <p:sp>
        <p:nvSpPr>
          <p:cNvPr id="23" name="TextBox 22"/>
          <p:cNvSpPr txBox="1"/>
          <p:nvPr/>
        </p:nvSpPr>
        <p:spPr>
          <a:xfrm>
            <a:off x="8241792" y="3195828"/>
            <a:ext cx="3270504" cy="310896"/>
          </a:xfrm>
          <a:prstGeom prst="rect">
            <a:avLst/>
          </a:prstGeom>
          <a:noFill/>
        </p:spPr>
        <p:txBody>
          <a:bodyPr wrap="square" anchor="t" lIns="0" rIns="0" tIns="0" bIns="0">
            <a:spAutoFit/>
          </a:bodyPr>
          <a:lstStyle/>
          <a:p>
            <a:pPr algn="ctr">
              <a:lnSpc>
                <a:spcPct val="100000"/>
              </a:lnSpc>
              <a:spcBef>
                <a:spcPts val="0"/>
              </a:spcBef>
              <a:spcAft>
                <a:spcPts val="400"/>
              </a:spcAft>
            </a:pPr>
            <a:r>
              <a:rPr sz="950" b="0" i="0">
                <a:solidFill>
                  <a:srgbClr val="5C6B7A"/>
                </a:solidFill>
                <a:latin typeface="Segoe UI"/>
              </a:rPr>
              <a:t>640×512 · 12 µm · 18 mm · USB-UVC</a:t>
            </a:r>
          </a:p>
        </p:txBody>
      </p:sp>
      <p:sp>
        <p:nvSpPr>
          <p:cNvPr id="24" name="Rounded Rectangle 23"/>
          <p:cNvSpPr/>
          <p:nvPr/>
        </p:nvSpPr>
        <p:spPr>
          <a:xfrm>
            <a:off x="566928" y="3781044"/>
            <a:ext cx="3489960" cy="2208276"/>
          </a:xfrm>
          <a:prstGeom prst="round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bc.png"/>
          <p:cNvPicPr>
            <a:picLocks noChangeAspect="1"/>
          </p:cNvPicPr>
          <p:nvPr/>
        </p:nvPicPr>
        <p:blipFill>
          <a:blip r:embed="rId5"/>
          <a:stretch>
            <a:fillRect/>
          </a:stretch>
        </p:blipFill>
        <p:spPr>
          <a:xfrm>
            <a:off x="990937" y="3872484"/>
            <a:ext cx="2641942" cy="1421892"/>
          </a:xfrm>
          <a:prstGeom prst="rect">
            <a:avLst/>
          </a:prstGeom>
        </p:spPr>
      </p:pic>
      <p:sp>
        <p:nvSpPr>
          <p:cNvPr id="26" name="Rectangle 25"/>
          <p:cNvSpPr/>
          <p:nvPr/>
        </p:nvSpPr>
        <p:spPr>
          <a:xfrm>
            <a:off x="676656" y="5330952"/>
            <a:ext cx="3270504"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 y="5376672"/>
            <a:ext cx="3270504"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0F2540"/>
                </a:solidFill>
                <a:latin typeface="Segoe UI"/>
              </a:rPr>
              <a:t>NanoPi M5 (RK3576)</a:t>
            </a:r>
          </a:p>
        </p:txBody>
      </p:sp>
      <p:sp>
        <p:nvSpPr>
          <p:cNvPr id="28" name="TextBox 27"/>
          <p:cNvSpPr txBox="1"/>
          <p:nvPr/>
        </p:nvSpPr>
        <p:spPr>
          <a:xfrm>
            <a:off x="676656" y="5696712"/>
            <a:ext cx="3270504" cy="310896"/>
          </a:xfrm>
          <a:prstGeom prst="rect">
            <a:avLst/>
          </a:prstGeom>
          <a:noFill/>
        </p:spPr>
        <p:txBody>
          <a:bodyPr wrap="square" anchor="t" lIns="0" rIns="0" tIns="0" bIns="0">
            <a:spAutoFit/>
          </a:bodyPr>
          <a:lstStyle/>
          <a:p>
            <a:pPr algn="ctr">
              <a:lnSpc>
                <a:spcPct val="100000"/>
              </a:lnSpc>
              <a:spcBef>
                <a:spcPts val="0"/>
              </a:spcBef>
              <a:spcAft>
                <a:spcPts val="400"/>
              </a:spcAft>
            </a:pPr>
            <a:r>
              <a:rPr sz="950" b="0" i="0">
                <a:solidFill>
                  <a:srgbClr val="5C6B7A"/>
                </a:solidFill>
                <a:latin typeface="Segoe UI"/>
              </a:rPr>
              <a:t>6 TOPS NPU · ≤10 W passive · 90×62 mm</a:t>
            </a:r>
          </a:p>
        </p:txBody>
      </p:sp>
      <p:sp>
        <p:nvSpPr>
          <p:cNvPr id="29" name="Rounded Rectangle 28"/>
          <p:cNvSpPr/>
          <p:nvPr/>
        </p:nvSpPr>
        <p:spPr>
          <a:xfrm>
            <a:off x="4349496" y="3781044"/>
            <a:ext cx="3489960" cy="2208276"/>
          </a:xfrm>
          <a:prstGeom prst="round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receiver.png"/>
          <p:cNvPicPr>
            <a:picLocks noChangeAspect="1"/>
          </p:cNvPicPr>
          <p:nvPr/>
        </p:nvPicPr>
        <p:blipFill>
          <a:blip r:embed="rId6"/>
          <a:stretch>
            <a:fillRect/>
          </a:stretch>
        </p:blipFill>
        <p:spPr>
          <a:xfrm>
            <a:off x="5383530" y="3872484"/>
            <a:ext cx="1421892" cy="1421892"/>
          </a:xfrm>
          <a:prstGeom prst="rect">
            <a:avLst/>
          </a:prstGeom>
        </p:spPr>
      </p:pic>
      <p:sp>
        <p:nvSpPr>
          <p:cNvPr id="31" name="Rectangle 30"/>
          <p:cNvSpPr/>
          <p:nvPr/>
        </p:nvSpPr>
        <p:spPr>
          <a:xfrm>
            <a:off x="4459224" y="5330952"/>
            <a:ext cx="3270504"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59224" y="5376672"/>
            <a:ext cx="3270504"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0F2540"/>
                </a:solidFill>
                <a:latin typeface="Segoe UI"/>
              </a:rPr>
              <a:t>iFlight True-Diversity ELRS</a:t>
            </a:r>
          </a:p>
        </p:txBody>
      </p:sp>
      <p:sp>
        <p:nvSpPr>
          <p:cNvPr id="33" name="TextBox 32"/>
          <p:cNvSpPr txBox="1"/>
          <p:nvPr/>
        </p:nvSpPr>
        <p:spPr>
          <a:xfrm>
            <a:off x="4459224" y="5696712"/>
            <a:ext cx="3270504" cy="310896"/>
          </a:xfrm>
          <a:prstGeom prst="rect">
            <a:avLst/>
          </a:prstGeom>
          <a:noFill/>
        </p:spPr>
        <p:txBody>
          <a:bodyPr wrap="square" anchor="t" lIns="0" rIns="0" tIns="0" bIns="0">
            <a:spAutoFit/>
          </a:bodyPr>
          <a:lstStyle/>
          <a:p>
            <a:pPr algn="ctr">
              <a:lnSpc>
                <a:spcPct val="100000"/>
              </a:lnSpc>
              <a:spcBef>
                <a:spcPts val="0"/>
              </a:spcBef>
              <a:spcAft>
                <a:spcPts val="400"/>
              </a:spcAft>
            </a:pPr>
            <a:r>
              <a:rPr sz="950" b="0" i="0">
                <a:solidFill>
                  <a:srgbClr val="5C6B7A"/>
                </a:solidFill>
                <a:latin typeface="Segoe UI"/>
              </a:rPr>
              <a:t>2.4 GHz · dual-antenna · 250 mW</a:t>
            </a:r>
          </a:p>
        </p:txBody>
      </p:sp>
      <p:sp>
        <p:nvSpPr>
          <p:cNvPr id="34" name="Rounded Rectangle 33"/>
          <p:cNvSpPr/>
          <p:nvPr/>
        </p:nvSpPr>
        <p:spPr>
          <a:xfrm>
            <a:off x="8132064" y="3781044"/>
            <a:ext cx="3489960" cy="2208276"/>
          </a:xfrm>
          <a:prstGeom prst="round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antispark.png"/>
          <p:cNvPicPr>
            <a:picLocks noChangeAspect="1"/>
          </p:cNvPicPr>
          <p:nvPr/>
        </p:nvPicPr>
        <p:blipFill>
          <a:blip r:embed="rId7"/>
          <a:stretch>
            <a:fillRect/>
          </a:stretch>
        </p:blipFill>
        <p:spPr>
          <a:xfrm>
            <a:off x="9166098" y="3872484"/>
            <a:ext cx="1421892" cy="1421892"/>
          </a:xfrm>
          <a:prstGeom prst="rect">
            <a:avLst/>
          </a:prstGeom>
        </p:spPr>
      </p:pic>
      <p:sp>
        <p:nvSpPr>
          <p:cNvPr id="36" name="Rectangle 35"/>
          <p:cNvSpPr/>
          <p:nvPr/>
        </p:nvSpPr>
        <p:spPr>
          <a:xfrm>
            <a:off x="8241792" y="5330952"/>
            <a:ext cx="3270504"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41792" y="5376672"/>
            <a:ext cx="3270504"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0F2540"/>
                </a:solidFill>
                <a:latin typeface="Segoe UI"/>
              </a:rPr>
              <a:t>iFlight Anti-Spark Filter</a:t>
            </a:r>
          </a:p>
        </p:txBody>
      </p:sp>
      <p:sp>
        <p:nvSpPr>
          <p:cNvPr id="38" name="TextBox 37"/>
          <p:cNvSpPr txBox="1"/>
          <p:nvPr/>
        </p:nvSpPr>
        <p:spPr>
          <a:xfrm>
            <a:off x="8241792" y="5696712"/>
            <a:ext cx="3270504" cy="310896"/>
          </a:xfrm>
          <a:prstGeom prst="rect">
            <a:avLst/>
          </a:prstGeom>
          <a:noFill/>
        </p:spPr>
        <p:txBody>
          <a:bodyPr wrap="square" anchor="t" lIns="0" rIns="0" tIns="0" bIns="0">
            <a:spAutoFit/>
          </a:bodyPr>
          <a:lstStyle/>
          <a:p>
            <a:pPr algn="ctr">
              <a:lnSpc>
                <a:spcPct val="100000"/>
              </a:lnSpc>
              <a:spcBef>
                <a:spcPts val="0"/>
              </a:spcBef>
              <a:spcAft>
                <a:spcPts val="400"/>
              </a:spcAft>
            </a:pPr>
            <a:r>
              <a:rPr sz="950" b="0" i="0">
                <a:solidFill>
                  <a:srgbClr val="5C6B7A"/>
                </a:solidFill>
                <a:latin typeface="Segoe UI"/>
              </a:rPr>
              <a:t>XT60 · 6S · 150 A · inrush limiter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4 · ANALYSES  ·  DETAILED DESIGN</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Selected Hardware — Ground Control &amp; Support</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26</a:t>
            </a:r>
          </a:p>
        </p:txBody>
      </p:sp>
      <p:sp>
        <p:nvSpPr>
          <p:cNvPr id="9" name="Rounded Rectangle 8"/>
          <p:cNvSpPr/>
          <p:nvPr/>
        </p:nvSpPr>
        <p:spPr>
          <a:xfrm>
            <a:off x="566928" y="2286000"/>
            <a:ext cx="3489960" cy="2377440"/>
          </a:xfrm>
          <a:prstGeom prst="round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radio.png"/>
          <p:cNvPicPr>
            <a:picLocks noChangeAspect="1"/>
          </p:cNvPicPr>
          <p:nvPr/>
        </p:nvPicPr>
        <p:blipFill>
          <a:blip r:embed="rId2"/>
          <a:stretch>
            <a:fillRect/>
          </a:stretch>
        </p:blipFill>
        <p:spPr>
          <a:xfrm>
            <a:off x="1516380" y="2377440"/>
            <a:ext cx="1591056" cy="1591056"/>
          </a:xfrm>
          <a:prstGeom prst="rect">
            <a:avLst/>
          </a:prstGeom>
        </p:spPr>
      </p:pic>
      <p:sp>
        <p:nvSpPr>
          <p:cNvPr id="11" name="Rectangle 10"/>
          <p:cNvSpPr/>
          <p:nvPr/>
        </p:nvSpPr>
        <p:spPr>
          <a:xfrm>
            <a:off x="676656" y="4005072"/>
            <a:ext cx="3270504"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4050792"/>
            <a:ext cx="3270504"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0F2540"/>
                </a:solidFill>
                <a:latin typeface="Segoe UI"/>
              </a:rPr>
              <a:t>RadioMaster TX12 Mark II</a:t>
            </a:r>
          </a:p>
        </p:txBody>
      </p:sp>
      <p:sp>
        <p:nvSpPr>
          <p:cNvPr id="13" name="TextBox 12"/>
          <p:cNvSpPr txBox="1"/>
          <p:nvPr/>
        </p:nvSpPr>
        <p:spPr>
          <a:xfrm>
            <a:off x="676656" y="4370832"/>
            <a:ext cx="3270504" cy="310896"/>
          </a:xfrm>
          <a:prstGeom prst="rect">
            <a:avLst/>
          </a:prstGeom>
          <a:noFill/>
        </p:spPr>
        <p:txBody>
          <a:bodyPr wrap="square" anchor="t" lIns="0" rIns="0" tIns="0" bIns="0">
            <a:spAutoFit/>
          </a:bodyPr>
          <a:lstStyle/>
          <a:p>
            <a:pPr algn="ctr">
              <a:lnSpc>
                <a:spcPct val="100000"/>
              </a:lnSpc>
              <a:spcBef>
                <a:spcPts val="0"/>
              </a:spcBef>
              <a:spcAft>
                <a:spcPts val="400"/>
              </a:spcAft>
            </a:pPr>
            <a:r>
              <a:rPr sz="950" b="0" i="0">
                <a:solidFill>
                  <a:srgbClr val="5C6B7A"/>
                </a:solidFill>
                <a:latin typeface="Segoe UI"/>
              </a:rPr>
              <a:t>ELRS 2.4 GHz · EdgeTX · hall gimbals</a:t>
            </a:r>
          </a:p>
        </p:txBody>
      </p:sp>
      <p:sp>
        <p:nvSpPr>
          <p:cNvPr id="14" name="Rounded Rectangle 13"/>
          <p:cNvSpPr/>
          <p:nvPr/>
        </p:nvSpPr>
        <p:spPr>
          <a:xfrm>
            <a:off x="4349496" y="2286000"/>
            <a:ext cx="3489960" cy="2377440"/>
          </a:xfrm>
          <a:prstGeom prst="round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ntenna.png"/>
          <p:cNvPicPr>
            <a:picLocks noChangeAspect="1"/>
          </p:cNvPicPr>
          <p:nvPr/>
        </p:nvPicPr>
        <p:blipFill>
          <a:blip r:embed="rId3"/>
          <a:stretch>
            <a:fillRect/>
          </a:stretch>
        </p:blipFill>
        <p:spPr>
          <a:xfrm>
            <a:off x="5298948" y="2377440"/>
            <a:ext cx="1591056" cy="1591056"/>
          </a:xfrm>
          <a:prstGeom prst="rect">
            <a:avLst/>
          </a:prstGeom>
        </p:spPr>
      </p:pic>
      <p:sp>
        <p:nvSpPr>
          <p:cNvPr id="16" name="Rectangle 15"/>
          <p:cNvSpPr/>
          <p:nvPr/>
        </p:nvSpPr>
        <p:spPr>
          <a:xfrm>
            <a:off x="4459224" y="4005072"/>
            <a:ext cx="3270504"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59224" y="4050792"/>
            <a:ext cx="3270504"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0F2540"/>
                </a:solidFill>
                <a:latin typeface="Segoe UI"/>
              </a:rPr>
              <a:t>TrueRC X-AIR 5.8 MK II</a:t>
            </a:r>
          </a:p>
        </p:txBody>
      </p:sp>
      <p:sp>
        <p:nvSpPr>
          <p:cNvPr id="18" name="TextBox 17"/>
          <p:cNvSpPr txBox="1"/>
          <p:nvPr/>
        </p:nvSpPr>
        <p:spPr>
          <a:xfrm>
            <a:off x="4459224" y="4370832"/>
            <a:ext cx="3270504" cy="310896"/>
          </a:xfrm>
          <a:prstGeom prst="rect">
            <a:avLst/>
          </a:prstGeom>
          <a:noFill/>
        </p:spPr>
        <p:txBody>
          <a:bodyPr wrap="square" anchor="t" lIns="0" rIns="0" tIns="0" bIns="0">
            <a:spAutoFit/>
          </a:bodyPr>
          <a:lstStyle/>
          <a:p>
            <a:pPr algn="ctr">
              <a:lnSpc>
                <a:spcPct val="100000"/>
              </a:lnSpc>
              <a:spcBef>
                <a:spcPts val="0"/>
              </a:spcBef>
              <a:spcAft>
                <a:spcPts val="400"/>
              </a:spcAft>
            </a:pPr>
            <a:r>
              <a:rPr sz="950" b="0" i="0">
                <a:solidFill>
                  <a:srgbClr val="5C6B7A"/>
                </a:solidFill>
                <a:latin typeface="Segoe UI"/>
              </a:rPr>
              <a:t>10 dBic patch · 120° · RHCP (ground)</a:t>
            </a:r>
          </a:p>
        </p:txBody>
      </p:sp>
      <p:sp>
        <p:nvSpPr>
          <p:cNvPr id="19" name="Rounded Rectangle 18"/>
          <p:cNvSpPr/>
          <p:nvPr/>
        </p:nvSpPr>
        <p:spPr>
          <a:xfrm>
            <a:off x="8132064" y="2286000"/>
            <a:ext cx="3489960" cy="2377440"/>
          </a:xfrm>
          <a:prstGeom prst="round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arger.png"/>
          <p:cNvPicPr>
            <a:picLocks noChangeAspect="1"/>
          </p:cNvPicPr>
          <p:nvPr/>
        </p:nvPicPr>
        <p:blipFill>
          <a:blip r:embed="rId4"/>
          <a:stretch>
            <a:fillRect/>
          </a:stretch>
        </p:blipFill>
        <p:spPr>
          <a:xfrm>
            <a:off x="9081516" y="2377440"/>
            <a:ext cx="1591056" cy="1591056"/>
          </a:xfrm>
          <a:prstGeom prst="rect">
            <a:avLst/>
          </a:prstGeom>
        </p:spPr>
      </p:pic>
      <p:sp>
        <p:nvSpPr>
          <p:cNvPr id="21" name="Rectangle 20"/>
          <p:cNvSpPr/>
          <p:nvPr/>
        </p:nvSpPr>
        <p:spPr>
          <a:xfrm>
            <a:off x="8241792" y="4005072"/>
            <a:ext cx="3270504"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41792" y="4050792"/>
            <a:ext cx="3270504"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0F2540"/>
                </a:solidFill>
                <a:latin typeface="Segoe UI"/>
              </a:rPr>
              <a:t>HOTA D6 Pro</a:t>
            </a:r>
          </a:p>
        </p:txBody>
      </p:sp>
      <p:sp>
        <p:nvSpPr>
          <p:cNvPr id="23" name="TextBox 22"/>
          <p:cNvSpPr txBox="1"/>
          <p:nvPr/>
        </p:nvSpPr>
        <p:spPr>
          <a:xfrm>
            <a:off x="8241792" y="4370832"/>
            <a:ext cx="3270504" cy="310896"/>
          </a:xfrm>
          <a:prstGeom prst="rect">
            <a:avLst/>
          </a:prstGeom>
          <a:noFill/>
        </p:spPr>
        <p:txBody>
          <a:bodyPr wrap="square" anchor="t" lIns="0" rIns="0" tIns="0" bIns="0">
            <a:spAutoFit/>
          </a:bodyPr>
          <a:lstStyle/>
          <a:p>
            <a:pPr algn="ctr">
              <a:lnSpc>
                <a:spcPct val="100000"/>
              </a:lnSpc>
              <a:spcBef>
                <a:spcPts val="0"/>
              </a:spcBef>
              <a:spcAft>
                <a:spcPts val="400"/>
              </a:spcAft>
            </a:pPr>
            <a:r>
              <a:rPr sz="950" b="0" i="0">
                <a:solidFill>
                  <a:srgbClr val="5C6B7A"/>
                </a:solidFill>
                <a:latin typeface="Segoe UI"/>
              </a:rPr>
              <a:t>AC 200 / DC 650 W · dual · Li-ion + LiPo</a:t>
            </a:r>
          </a:p>
        </p:txBody>
      </p:sp>
      <p:sp>
        <p:nvSpPr>
          <p:cNvPr id="24" name="Rounded Rectangle 23"/>
          <p:cNvSpPr/>
          <p:nvPr/>
        </p:nvSpPr>
        <p:spPr>
          <a:xfrm>
            <a:off x="566928" y="5943600"/>
            <a:ext cx="11055096" cy="54864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943600"/>
            <a:ext cx="10689336" cy="548640"/>
          </a:xfrm>
          <a:prstGeom prst="rect">
            <a:avLst/>
          </a:prstGeom>
          <a:noFill/>
        </p:spPr>
        <p:txBody>
          <a:bodyPr wrap="square" anchor="ctr" lIns="0" rIns="0" tIns="0" bIns="0">
            <a:spAutoFit/>
          </a:bodyPr>
          <a:lstStyle/>
          <a:p>
            <a:pPr algn="l">
              <a:lnSpc>
                <a:spcPct val="105000"/>
              </a:lnSpc>
              <a:spcBef>
                <a:spcPts val="0"/>
              </a:spcBef>
              <a:spcAft>
                <a:spcPts val="400"/>
              </a:spcAft>
            </a:pPr>
            <a:r>
              <a:rPr sz="1100" b="1" i="0">
                <a:solidFill>
                  <a:srgbClr val="0F2540"/>
                </a:solidFill>
                <a:latin typeface="Segoe UI"/>
              </a:rPr>
              <a:t>Also in the ground / support kit:  </a:t>
            </a:r>
            <a:r>
              <a:rPr sz="1100" b="0" i="0">
                <a:solidFill>
                  <a:srgbClr val="1E2833"/>
                </a:solidFill>
                <a:latin typeface="Segoe UI"/>
              </a:rPr>
              <a:t>Skydroid 150CH 5.8 GHz UVC video receiver ($44)  ·  HGLRC Hermes ELRS USB telemetry dongle ($16)  ·  GPS (iFlight BLITZ M10, bundled with the airframe)  ·  MacBook Air GCS (existing).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4 · ANALYSES</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Analysis 1 — Endurance (Flight Time)</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27</a:t>
            </a:r>
          </a:p>
        </p:txBody>
      </p:sp>
      <p:sp>
        <p:nvSpPr>
          <p:cNvPr id="9" name="Rounded Rectangle 8"/>
          <p:cNvSpPr/>
          <p:nvPr/>
        </p:nvSpPr>
        <p:spPr>
          <a:xfrm>
            <a:off x="566928" y="1188720"/>
            <a:ext cx="5532120" cy="141732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298448"/>
            <a:ext cx="512064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METHOD &amp; FIDELITY</a:t>
            </a:r>
          </a:p>
        </p:txBody>
      </p:sp>
      <p:sp>
        <p:nvSpPr>
          <p:cNvPr id="11" name="TextBox 10"/>
          <p:cNvSpPr txBox="1"/>
          <p:nvPr/>
        </p:nvSpPr>
        <p:spPr>
          <a:xfrm>
            <a:off x="731520" y="1600200"/>
            <a:ext cx="5120640" cy="960120"/>
          </a:xfrm>
          <a:prstGeom prst="rect">
            <a:avLst/>
          </a:prstGeom>
          <a:noFill/>
        </p:spPr>
        <p:txBody>
          <a:bodyPr wrap="square" anchor="t" lIns="0" rIns="0" tIns="0" bIns="0">
            <a:spAutoFit/>
          </a:bodyPr>
          <a:lstStyle/>
          <a:p>
            <a:pPr algn="l">
              <a:lnSpc>
                <a:spcPct val="103000"/>
              </a:lnSpc>
              <a:spcBef>
                <a:spcPts val="0"/>
              </a:spcBef>
              <a:spcAft>
                <a:spcPts val="400"/>
              </a:spcAft>
            </a:pPr>
            <a:r>
              <a:rPr sz="1050" b="0" i="0">
                <a:solidFill>
                  <a:srgbClr val="1E2833"/>
                </a:solidFill>
                <a:latin typeface="Segoe UI"/>
              </a:rPr>
              <a:t>Momentum / actuator-disk (blade-element) model with a forward-flight parasitic-drag term — the same physics family as eCalc. Holistic sweep crosses airframe × battery × payload, filtered by the compatibility rules. </a:t>
            </a:r>
            <a:r>
              <a:rPr sz="1050" b="1" i="0">
                <a:solidFill>
                  <a:srgbClr val="C12727"/>
                </a:solidFill>
                <a:latin typeface="Segoe UI"/>
              </a:rPr>
              <a:t>Fidelity: first-order comparative; FoM 0.65, η 0.80, ρ 1.225, C_d 1.0. Not yet validated against measured hover current.</a:t>
            </a:r>
          </a:p>
        </p:txBody>
      </p:sp>
      <p:sp>
        <p:nvSpPr>
          <p:cNvPr id="12" name="TextBox 11"/>
          <p:cNvSpPr txBox="1"/>
          <p:nvPr/>
        </p:nvSpPr>
        <p:spPr>
          <a:xfrm>
            <a:off x="566928" y="2788920"/>
            <a:ext cx="5532120" cy="3200400"/>
          </a:xfrm>
          <a:prstGeom prst="rect">
            <a:avLst/>
          </a:prstGeom>
          <a:noFill/>
        </p:spPr>
        <p:txBody>
          <a:bodyPr wrap="square" anchor="t" lIns="0" rIns="0" tIns="0" bIns="0">
            <a:spAutoFit/>
          </a:bodyPr>
          <a:lstStyle/>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Requirements verified.  </a:t>
            </a:r>
            <a:r>
              <a:rPr sz="1300" b="0">
                <a:solidFill>
                  <a:srgbClr val="1E2833"/>
                </a:solidFill>
                <a:latin typeface="Segoe UI"/>
              </a:rPr>
              <a:t>R6 (≥ 30 min) and R8 stretch (≥ 60 min); R4 cost checked per config.</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Scope.  </a:t>
            </a:r>
            <a:r>
              <a:rPr sz="1300" b="0">
                <a:solidFill>
                  <a:srgbClr val="1E2833"/>
                </a:solidFill>
                <a:latin typeface="Segoe UI"/>
              </a:rPr>
              <a:t>34 compatible configs (airframe × battery × VTX crossed; T13 + NanoPi M5 fixed) — filtered by the cell-count rule (P1).</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Result — baseline.  </a:t>
            </a:r>
            <a:r>
              <a:rPr sz="1300" b="0">
                <a:solidFill>
                  <a:srgbClr val="1E2833"/>
                </a:solidFill>
                <a:latin typeface="Segoe UI"/>
              </a:rPr>
              <a:t>Chimera9 ECO + 6S 12 Ah Amprius → 58.4 min hover at ~15% throttle (16.85 W payload), 1,751 g AUW.</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Power bucket.  </a:t>
            </a:r>
            <a:r>
              <a:rPr sz="1300" b="0">
                <a:solidFill>
                  <a:srgbClr val="1E2833"/>
                </a:solidFill>
                <a:latin typeface="Segoe UI"/>
              </a:rPr>
              <a:t>Slow cruise (2.23 m/s) can exceed hover via translational lift — cruise ≈ 60 min, modeled explicitly.</a:t>
            </a:r>
          </a:p>
        </p:txBody>
      </p:sp>
      <p:sp>
        <p:nvSpPr>
          <p:cNvPr id="13" name="Rounded Rectangle 12"/>
          <p:cNvSpPr/>
          <p:nvPr/>
        </p:nvSpPr>
        <p:spPr>
          <a:xfrm>
            <a:off x="6400800" y="1188720"/>
            <a:ext cx="2514600" cy="137160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188720"/>
            <a:ext cx="82296" cy="1371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298448"/>
            <a:ext cx="22402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58.4 min</a:t>
            </a:r>
          </a:p>
        </p:txBody>
      </p:sp>
      <p:sp>
        <p:nvSpPr>
          <p:cNvPr id="16" name="TextBox 15"/>
          <p:cNvSpPr txBox="1"/>
          <p:nvPr/>
        </p:nvSpPr>
        <p:spPr>
          <a:xfrm>
            <a:off x="6583680" y="1737360"/>
            <a:ext cx="2240280" cy="80467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Baseline hover endurance</a:t>
            </a:r>
          </a:p>
        </p:txBody>
      </p:sp>
      <p:sp>
        <p:nvSpPr>
          <p:cNvPr id="17" name="Rounded Rectangle 16"/>
          <p:cNvSpPr/>
          <p:nvPr/>
        </p:nvSpPr>
        <p:spPr>
          <a:xfrm>
            <a:off x="9098280" y="1188720"/>
            <a:ext cx="2514600" cy="137160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98280" y="1188720"/>
            <a:ext cx="82296" cy="13716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60" y="1298448"/>
            <a:ext cx="22402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 15 %</a:t>
            </a:r>
          </a:p>
        </p:txBody>
      </p:sp>
      <p:sp>
        <p:nvSpPr>
          <p:cNvPr id="20" name="TextBox 19"/>
          <p:cNvSpPr txBox="1"/>
          <p:nvPr/>
        </p:nvSpPr>
        <p:spPr>
          <a:xfrm>
            <a:off x="9281160" y="1737360"/>
            <a:ext cx="2240280" cy="80467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Hover throttle (large margin)</a:t>
            </a:r>
          </a:p>
        </p:txBody>
      </p:sp>
      <p:sp>
        <p:nvSpPr>
          <p:cNvPr id="21" name="Rounded Rectangle 20"/>
          <p:cNvSpPr/>
          <p:nvPr/>
        </p:nvSpPr>
        <p:spPr>
          <a:xfrm>
            <a:off x="6400800" y="2743200"/>
            <a:ext cx="2514600" cy="137160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0" y="2743200"/>
            <a:ext cx="82296" cy="13716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2852928"/>
            <a:ext cx="22402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R6 ✓ / R8 ✗</a:t>
            </a:r>
          </a:p>
        </p:txBody>
      </p:sp>
      <p:sp>
        <p:nvSpPr>
          <p:cNvPr id="24" name="TextBox 23"/>
          <p:cNvSpPr txBox="1"/>
          <p:nvPr/>
        </p:nvSpPr>
        <p:spPr>
          <a:xfrm>
            <a:off x="6583680" y="3291840"/>
            <a:ext cx="2240280" cy="80467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30 min met; 60 min stretch not</a:t>
            </a:r>
          </a:p>
        </p:txBody>
      </p:sp>
      <p:sp>
        <p:nvSpPr>
          <p:cNvPr id="25" name="Rounded Rectangle 24"/>
          <p:cNvSpPr/>
          <p:nvPr/>
        </p:nvSpPr>
        <p:spPr>
          <a:xfrm>
            <a:off x="9098280" y="2743200"/>
            <a:ext cx="2514600" cy="137160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8280" y="2743200"/>
            <a:ext cx="82296" cy="13716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81160" y="2852928"/>
            <a:ext cx="22402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34</a:t>
            </a:r>
          </a:p>
        </p:txBody>
      </p:sp>
      <p:sp>
        <p:nvSpPr>
          <p:cNvPr id="28" name="TextBox 27"/>
          <p:cNvSpPr txBox="1"/>
          <p:nvPr/>
        </p:nvSpPr>
        <p:spPr>
          <a:xfrm>
            <a:off x="9281160" y="3291840"/>
            <a:ext cx="2240280" cy="80467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Compatible configs swept</a:t>
            </a:r>
          </a:p>
        </p:txBody>
      </p:sp>
      <p:sp>
        <p:nvSpPr>
          <p:cNvPr id="29" name="Rounded Rectangle 28"/>
          <p:cNvSpPr/>
          <p:nvPr/>
        </p:nvSpPr>
        <p:spPr>
          <a:xfrm>
            <a:off x="6400800" y="4343400"/>
            <a:ext cx="5212080" cy="160020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4462272"/>
            <a:ext cx="493776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INTEGRATED WITH THE MODEL</a:t>
            </a:r>
          </a:p>
        </p:txBody>
      </p:sp>
      <p:sp>
        <p:nvSpPr>
          <p:cNvPr id="31" name="TextBox 30"/>
          <p:cNvSpPr txBox="1"/>
          <p:nvPr/>
        </p:nvSpPr>
        <p:spPr>
          <a:xfrm>
            <a:off x="6583680" y="4754880"/>
            <a:ext cx="4937760" cy="1097280"/>
          </a:xfrm>
          <a:prstGeom prst="rect">
            <a:avLst/>
          </a:prstGeom>
          <a:noFill/>
        </p:spPr>
        <p:txBody>
          <a:bodyPr wrap="square" anchor="t" lIns="0" rIns="0" tIns="0" bIns="0">
            <a:spAutoFit/>
          </a:bodyPr>
          <a:lstStyle/>
          <a:p>
            <a:pPr algn="l">
              <a:lnSpc>
                <a:spcPct val="105000"/>
              </a:lnSpc>
              <a:spcBef>
                <a:spcPts val="0"/>
              </a:spcBef>
              <a:spcAft>
                <a:spcPts val="400"/>
              </a:spcAft>
            </a:pPr>
            <a:r>
              <a:rPr sz="1050" b="0" i="0">
                <a:solidFill>
                  <a:srgbClr val="1E2833"/>
                </a:solidFill>
                <a:latin typeface="Segoe UI"/>
              </a:rPr>
              <a:t>The script reads component + battery data directly from candidates.sysml, applies the model's compatibility rules, and writes back ranked results (CSV + a SysML v2 instance table) — a closed loop, not a standalone spreadsheet.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4 · ANALYSES</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Endurance vs. Cost — Full Configuration Trade Space</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28</a:t>
            </a:r>
          </a:p>
        </p:txBody>
      </p:sp>
      <p:sp>
        <p:nvSpPr>
          <p:cNvPr id="9" name="Rectangle 8"/>
          <p:cNvSpPr/>
          <p:nvPr/>
        </p:nvSpPr>
        <p:spPr>
          <a:xfrm>
            <a:off x="709012" y="1234440"/>
            <a:ext cx="7396792" cy="4846320"/>
          </a:xfrm>
          <a:prstGeom prst="rect">
            <a:avLst/>
          </a:prstGeom>
          <a:solidFill>
            <a:srgbClr val="FFFFFF"/>
          </a:solidFill>
          <a:ln w="12700">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st_vs_flighttime.png"/>
          <p:cNvPicPr>
            <a:picLocks noChangeAspect="1"/>
          </p:cNvPicPr>
          <p:nvPr/>
        </p:nvPicPr>
        <p:blipFill>
          <a:blip r:embed="rId2"/>
          <a:stretch>
            <a:fillRect/>
          </a:stretch>
        </p:blipFill>
        <p:spPr>
          <a:xfrm>
            <a:off x="763876" y="1289304"/>
            <a:ext cx="7287064" cy="4736592"/>
          </a:xfrm>
          <a:prstGeom prst="rect">
            <a:avLst/>
          </a:prstGeom>
        </p:spPr>
      </p:pic>
      <p:sp>
        <p:nvSpPr>
          <p:cNvPr id="11" name="TextBox 10"/>
          <p:cNvSpPr txBox="1"/>
          <p:nvPr/>
        </p:nvSpPr>
        <p:spPr>
          <a:xfrm>
            <a:off x="566928" y="6053328"/>
            <a:ext cx="7680960" cy="457200"/>
          </a:xfrm>
          <a:prstGeom prst="rect">
            <a:avLst/>
          </a:prstGeom>
          <a:noFill/>
        </p:spPr>
        <p:txBody>
          <a:bodyPr wrap="square" anchor="t" lIns="0" rIns="0" tIns="0" bIns="0">
            <a:spAutoFit/>
          </a:bodyPr>
          <a:lstStyle/>
          <a:p>
            <a:pPr algn="ctr">
              <a:lnSpc>
                <a:spcPct val="100000"/>
              </a:lnSpc>
              <a:spcBef>
                <a:spcPts val="0"/>
              </a:spcBef>
              <a:spcAft>
                <a:spcPts val="400"/>
              </a:spcAft>
            </a:pPr>
            <a:r>
              <a:rPr sz="1050" b="0" i="1">
                <a:solidFill>
                  <a:srgbClr val="5C6B7A"/>
                </a:solidFill>
                <a:latin typeface="Segoe UI"/>
              </a:rPr>
              <a:t>Every compatible real configuration: total system cost vs. flight time, colored by airframe (R4/R6/R8 reference lines)</a:t>
            </a:r>
          </a:p>
        </p:txBody>
      </p:sp>
      <p:sp>
        <p:nvSpPr>
          <p:cNvPr id="12" name="TextBox 11"/>
          <p:cNvSpPr txBox="1"/>
          <p:nvPr/>
        </p:nvSpPr>
        <p:spPr>
          <a:xfrm>
            <a:off x="8275320" y="1371600"/>
            <a:ext cx="3337560" cy="4572000"/>
          </a:xfrm>
          <a:prstGeom prst="rect">
            <a:avLst/>
          </a:prstGeom>
          <a:noFill/>
        </p:spPr>
        <p:txBody>
          <a:bodyPr wrap="square" anchor="t" lIns="0" rIns="0" tIns="0" bIns="0">
            <a:spAutoFit/>
          </a:bodyPr>
          <a:lstStyle/>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Reading it.  </a:t>
            </a:r>
            <a:r>
              <a:rPr sz="1300" b="0">
                <a:solidFill>
                  <a:srgbClr val="1E2833"/>
                </a:solidFill>
                <a:latin typeface="Segoe UI"/>
              </a:rPr>
              <a:t>Each point is a real, purchasable build. Vertical line = $2,500 (R4); horizontals = 30 min (R6) and 60 min (R8).</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Result.  </a:t>
            </a:r>
            <a:r>
              <a:rPr sz="1300" b="0">
                <a:solidFill>
                  <a:srgbClr val="1E2833"/>
                </a:solidFill>
                <a:latin typeface="Segoe UI"/>
              </a:rPr>
              <a:t>The entire selected trade space sits left of the R4 cap and above R6 — cost is not the binding constraint.</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Selected region.  </a:t>
            </a:r>
            <a:r>
              <a:rPr sz="1300" b="0">
                <a:solidFill>
                  <a:srgbClr val="1E2833"/>
                </a:solidFill>
                <a:latin typeface="Segoe UI"/>
              </a:rPr>
              <a:t>The reference build lands at ≈ $1,850 / 58 min — comfortable margin on both axes.</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Stretch (R8).  </a:t>
            </a:r>
            <a:r>
              <a:rPr sz="1300" b="0">
                <a:solidFill>
                  <a:srgbClr val="1E2833"/>
                </a:solidFill>
                <a:latin typeface="Segoe UI"/>
              </a:rPr>
              <a:t>60 min hover is not reached by any config with the fixed T13 + NanoPi M5 payload; cruise endurance approaches 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4 · ANALYSES</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Analysis 2 — Thermal Detection (Johnson Criteria)</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29</a:t>
            </a:r>
          </a:p>
        </p:txBody>
      </p:sp>
      <p:sp>
        <p:nvSpPr>
          <p:cNvPr id="9" name="Rounded Rectangle 8"/>
          <p:cNvSpPr/>
          <p:nvPr/>
        </p:nvSpPr>
        <p:spPr>
          <a:xfrm>
            <a:off x="566928" y="1188720"/>
            <a:ext cx="5532120" cy="141732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298448"/>
            <a:ext cx="512064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METHOD &amp; FIDELITY</a:t>
            </a:r>
          </a:p>
        </p:txBody>
      </p:sp>
      <p:sp>
        <p:nvSpPr>
          <p:cNvPr id="11" name="TextBox 10"/>
          <p:cNvSpPr txBox="1"/>
          <p:nvPr/>
        </p:nvSpPr>
        <p:spPr>
          <a:xfrm>
            <a:off x="731520" y="1600200"/>
            <a:ext cx="5120640" cy="960120"/>
          </a:xfrm>
          <a:prstGeom prst="rect">
            <a:avLst/>
          </a:prstGeom>
          <a:noFill/>
        </p:spPr>
        <p:txBody>
          <a:bodyPr wrap="square" anchor="t" lIns="0" rIns="0" tIns="0" bIns="0">
            <a:spAutoFit/>
          </a:bodyPr>
          <a:lstStyle/>
          <a:p>
            <a:pPr algn="l">
              <a:lnSpc>
                <a:spcPct val="102000"/>
              </a:lnSpc>
              <a:spcBef>
                <a:spcPts val="0"/>
              </a:spcBef>
              <a:spcAft>
                <a:spcPts val="400"/>
              </a:spcAft>
            </a:pPr>
            <a:r>
              <a:rPr sz="1050" b="0" i="0">
                <a:solidFill>
                  <a:srgbClr val="1E2833"/>
                </a:solidFill>
                <a:latin typeface="Segoe UI"/>
              </a:rPr>
              <a:t>Geometric optics: ground sample distance (GSD) from sensor pitch, lens, altitude → pixels-on-target vs. Johnson criteria (detect ≥ 1.5 px, recognize ≥ 4 px across the target's minimum dimension). Pixels-on-target are ALONG-RANGE at the as-built 45° mount tilt (GSD ×2.0 vs nadir) — the binding axis; nadir would read ~2× higher. </a:t>
            </a:r>
            <a:r>
              <a:rPr sz="1050" b="1" i="0">
                <a:solidFill>
                  <a:srgbClr val="C12727"/>
                </a:solidFill>
                <a:latin typeface="Segoe UI"/>
              </a:rPr>
              <a:t>Fidelity: deterministic; assumes ≥ 5 °C target-to-background thermal contrast (daytime IR signature). Species-level classification ultimately relies on the trained AI model (Phase 3) — field capture pending.</a:t>
            </a:r>
          </a:p>
        </p:txBody>
      </p:sp>
      <p:graphicFrame>
        <p:nvGraphicFramePr>
          <p:cNvPr id="12" name="Table 11"/>
          <p:cNvGraphicFramePr>
            <a:graphicFrameLocks noGrp="1"/>
          </p:cNvGraphicFramePr>
          <p:nvPr/>
        </p:nvGraphicFramePr>
        <p:xfrm>
          <a:off x="566928" y="2788920"/>
          <a:ext cx="5532120" cy="2395728"/>
        </p:xfrm>
        <a:graphic>
          <a:graphicData uri="http://schemas.openxmlformats.org/drawingml/2006/table">
            <a:tbl>
              <a:tblPr>
                <a:tableStyleId>{5C22544A-7EE6-4342-B048-85BDC9FD1C3A}</a:tableStyleId>
              </a:tblPr>
              <a:tblGrid>
                <a:gridCol w="3063240"/>
                <a:gridCol w="1005840"/>
                <a:gridCol w="1463040"/>
              </a:tblGrid>
              <a:tr h="310896">
                <a:tc>
                  <a:txBody>
                    <a:bodyPr wrap="square"/>
                    <a:lstStyle/>
                    <a:p>
                      <a:pPr algn="l"/>
                      <a:r>
                        <a:rPr sz="1050" b="1">
                          <a:solidFill>
                            <a:srgbClr val="FFFFFF"/>
                          </a:solidFill>
                          <a:latin typeface="Segoe UI"/>
                        </a:rPr>
                        <a:t>Target @ altitude</a:t>
                      </a:r>
                    </a:p>
                  </a:txBody>
                  <a:tcPr marL="54864" marR="54864" marT="18288" marB="18288" anchor="ctr">
                    <a:solidFill>
                      <a:srgbClr val="0F2540"/>
                    </a:solidFill>
                  </a:tcPr>
                </a:tc>
                <a:tc>
                  <a:txBody>
                    <a:bodyPr wrap="square"/>
                    <a:lstStyle/>
                    <a:p>
                      <a:pPr algn="ctr"/>
                      <a:r>
                        <a:rPr sz="1050" b="1">
                          <a:solidFill>
                            <a:srgbClr val="FFFFFF"/>
                          </a:solidFill>
                          <a:latin typeface="Segoe UI"/>
                        </a:rPr>
                        <a:t>Min px</a:t>
                      </a:r>
                    </a:p>
                  </a:txBody>
                  <a:tcPr marL="54864" marR="54864" marT="18288" marB="18288" anchor="ctr">
                    <a:solidFill>
                      <a:srgbClr val="0F2540"/>
                    </a:solidFill>
                  </a:tcPr>
                </a:tc>
                <a:tc>
                  <a:txBody>
                    <a:bodyPr wrap="square"/>
                    <a:lstStyle/>
                    <a:p>
                      <a:pPr algn="ctr"/>
                      <a:r>
                        <a:rPr sz="1050" b="1">
                          <a:solidFill>
                            <a:srgbClr val="FFFFFF"/>
                          </a:solidFill>
                          <a:latin typeface="Segoe UI"/>
                        </a:rPr>
                        <a:t>Verdict</a:t>
                      </a:r>
                    </a:p>
                  </a:txBody>
                  <a:tcPr marL="54864" marR="54864" marT="18288" marB="18288" anchor="ctr">
                    <a:solidFill>
                      <a:srgbClr val="0F2540"/>
                    </a:solidFill>
                  </a:tcPr>
                </a:tc>
              </a:tr>
              <a:tr h="347472">
                <a:tc>
                  <a:txBody>
                    <a:bodyPr wrap="square"/>
                    <a:lstStyle/>
                    <a:p>
                      <a:pPr algn="l"/>
                      <a:r>
                        <a:rPr sz="1050" b="0">
                          <a:solidFill>
                            <a:srgbClr val="1E2833"/>
                          </a:solidFill>
                          <a:latin typeface="Segoe UI"/>
                        </a:rPr>
                        <a:t>0.5 m target @ 90 m</a:t>
                      </a:r>
                    </a:p>
                  </a:txBody>
                  <a:tcPr marL="54864" marR="54864" marT="18288" marB="18288" anchor="ctr">
                    <a:solidFill>
                      <a:srgbClr val="FFFFFF"/>
                    </a:solidFill>
                  </a:tcPr>
                </a:tc>
                <a:tc>
                  <a:txBody>
                    <a:bodyPr wrap="square"/>
                    <a:lstStyle/>
                    <a:p>
                      <a:pPr algn="ctr"/>
                      <a:r>
                        <a:rPr sz="1050" b="0">
                          <a:solidFill>
                            <a:srgbClr val="1E2833"/>
                          </a:solidFill>
                          <a:latin typeface="Segoe UI"/>
                        </a:rPr>
                        <a:t>4.2</a:t>
                      </a:r>
                    </a:p>
                  </a:txBody>
                  <a:tcPr marL="54864" marR="54864" marT="18288" marB="18288" anchor="ctr">
                    <a:solidFill>
                      <a:srgbClr val="FFFFFF"/>
                    </a:solidFill>
                  </a:tcPr>
                </a:tc>
                <a:tc>
                  <a:txBody>
                    <a:bodyPr wrap="square"/>
                    <a:lstStyle/>
                    <a:p>
                      <a:pPr algn="ctr"/>
                      <a:r>
                        <a:rPr sz="1050" b="0">
                          <a:solidFill>
                            <a:srgbClr val="2E7D32"/>
                          </a:solidFill>
                          <a:latin typeface="Segoe UI"/>
                        </a:rPr>
                        <a:t>Recognize ✓</a:t>
                      </a:r>
                    </a:p>
                  </a:txBody>
                  <a:tcPr marL="54864" marR="54864" marT="18288" marB="18288" anchor="ctr">
                    <a:solidFill>
                      <a:srgbClr val="FFFFFF"/>
                    </a:solidFill>
                  </a:tcPr>
                </a:tc>
              </a:tr>
              <a:tr h="347472">
                <a:tc>
                  <a:txBody>
                    <a:bodyPr wrap="square"/>
                    <a:lstStyle/>
                    <a:p>
                      <a:pPr algn="l"/>
                      <a:r>
                        <a:rPr sz="1050" b="0">
                          <a:solidFill>
                            <a:srgbClr val="1E2833"/>
                          </a:solidFill>
                          <a:latin typeface="Segoe UI"/>
                        </a:rPr>
                        <a:t>0.5 m target @ 120 m</a:t>
                      </a:r>
                    </a:p>
                  </a:txBody>
                  <a:tcPr marL="54864" marR="54864" marT="18288" marB="18288" anchor="ctr">
                    <a:solidFill>
                      <a:srgbClr val="F6F8FA"/>
                    </a:solidFill>
                  </a:tcPr>
                </a:tc>
                <a:tc>
                  <a:txBody>
                    <a:bodyPr wrap="square"/>
                    <a:lstStyle/>
                    <a:p>
                      <a:pPr algn="ctr"/>
                      <a:r>
                        <a:rPr sz="1050" b="0">
                          <a:solidFill>
                            <a:srgbClr val="1E2833"/>
                          </a:solidFill>
                          <a:latin typeface="Segoe UI"/>
                        </a:rPr>
                        <a:t>3.1</a:t>
                      </a:r>
                    </a:p>
                  </a:txBody>
                  <a:tcPr marL="54864" marR="54864" marT="18288" marB="18288" anchor="ctr">
                    <a:solidFill>
                      <a:srgbClr val="F6F8FA"/>
                    </a:solidFill>
                  </a:tcPr>
                </a:tc>
                <a:tc>
                  <a:txBody>
                    <a:bodyPr wrap="square"/>
                    <a:lstStyle/>
                    <a:p>
                      <a:pPr algn="ctr"/>
                      <a:r>
                        <a:rPr sz="1050" b="0">
                          <a:solidFill>
                            <a:srgbClr val="2E7D32"/>
                          </a:solidFill>
                          <a:latin typeface="Segoe UI"/>
                        </a:rPr>
                        <a:t>Detect ✓</a:t>
                      </a:r>
                    </a:p>
                  </a:txBody>
                  <a:tcPr marL="54864" marR="54864" marT="18288" marB="18288" anchor="ctr">
                    <a:solidFill>
                      <a:srgbClr val="F6F8FA"/>
                    </a:solidFill>
                  </a:tcPr>
                </a:tc>
              </a:tr>
              <a:tr h="347472">
                <a:tc>
                  <a:txBody>
                    <a:bodyPr wrap="square"/>
                    <a:lstStyle/>
                    <a:p>
                      <a:pPr algn="l"/>
                      <a:r>
                        <a:rPr sz="1050" b="0">
                          <a:solidFill>
                            <a:srgbClr val="1E2833"/>
                          </a:solidFill>
                          <a:latin typeface="Segoe UI"/>
                        </a:rPr>
                        <a:t>Deer @ 120 m (R3.1)</a:t>
                      </a:r>
                    </a:p>
                  </a:txBody>
                  <a:tcPr marL="54864" marR="54864" marT="18288" marB="18288" anchor="ctr">
                    <a:solidFill>
                      <a:srgbClr val="FFFFFF"/>
                    </a:solidFill>
                  </a:tcPr>
                </a:tc>
                <a:tc>
                  <a:txBody>
                    <a:bodyPr wrap="square"/>
                    <a:lstStyle/>
                    <a:p>
                      <a:pPr algn="ctr"/>
                      <a:r>
                        <a:rPr sz="1050" b="0">
                          <a:solidFill>
                            <a:srgbClr val="1E2833"/>
                          </a:solidFill>
                          <a:latin typeface="Segoe UI"/>
                        </a:rPr>
                        <a:t>3.1</a:t>
                      </a:r>
                    </a:p>
                  </a:txBody>
                  <a:tcPr marL="54864" marR="54864" marT="18288" marB="18288" anchor="ctr">
                    <a:solidFill>
                      <a:srgbClr val="FFFFFF"/>
                    </a:solidFill>
                  </a:tcPr>
                </a:tc>
                <a:tc>
                  <a:txBody>
                    <a:bodyPr wrap="square"/>
                    <a:lstStyle/>
                    <a:p>
                      <a:pPr algn="ctr"/>
                      <a:r>
                        <a:rPr sz="1050" b="0">
                          <a:solidFill>
                            <a:srgbClr val="2E7D32"/>
                          </a:solidFill>
                          <a:latin typeface="Segoe UI"/>
                        </a:rPr>
                        <a:t>Detect ✓</a:t>
                      </a:r>
                    </a:p>
                  </a:txBody>
                  <a:tcPr marL="54864" marR="54864" marT="18288" marB="18288" anchor="ctr">
                    <a:solidFill>
                      <a:srgbClr val="FFFFFF"/>
                    </a:solidFill>
                  </a:tcPr>
                </a:tc>
              </a:tr>
              <a:tr h="347472">
                <a:tc>
                  <a:txBody>
                    <a:bodyPr wrap="square"/>
                    <a:lstStyle/>
                    <a:p>
                      <a:pPr algn="l"/>
                      <a:r>
                        <a:rPr sz="1050" b="0">
                          <a:solidFill>
                            <a:srgbClr val="1E2833"/>
                          </a:solidFill>
                          <a:latin typeface="Segoe UI"/>
                        </a:rPr>
                        <a:t>Deer @ 90 m</a:t>
                      </a:r>
                    </a:p>
                  </a:txBody>
                  <a:tcPr marL="54864" marR="54864" marT="18288" marB="18288" anchor="ctr">
                    <a:solidFill>
                      <a:srgbClr val="F6F8FA"/>
                    </a:solidFill>
                  </a:tcPr>
                </a:tc>
                <a:tc>
                  <a:txBody>
                    <a:bodyPr wrap="square"/>
                    <a:lstStyle/>
                    <a:p>
                      <a:pPr algn="ctr"/>
                      <a:r>
                        <a:rPr sz="1050" b="0">
                          <a:solidFill>
                            <a:srgbClr val="1E2833"/>
                          </a:solidFill>
                          <a:latin typeface="Segoe UI"/>
                        </a:rPr>
                        <a:t>4.2</a:t>
                      </a:r>
                    </a:p>
                  </a:txBody>
                  <a:tcPr marL="54864" marR="54864" marT="18288" marB="18288" anchor="ctr">
                    <a:solidFill>
                      <a:srgbClr val="F6F8FA"/>
                    </a:solidFill>
                  </a:tcPr>
                </a:tc>
                <a:tc>
                  <a:txBody>
                    <a:bodyPr wrap="square"/>
                    <a:lstStyle/>
                    <a:p>
                      <a:pPr algn="ctr"/>
                      <a:r>
                        <a:rPr sz="1050" b="0">
                          <a:solidFill>
                            <a:srgbClr val="D9821E"/>
                          </a:solidFill>
                          <a:latin typeface="Segoe UI"/>
                        </a:rPr>
                        <a:t>Detect / recog.</a:t>
                      </a:r>
                    </a:p>
                  </a:txBody>
                  <a:tcPr marL="54864" marR="54864" marT="18288" marB="18288" anchor="ctr">
                    <a:solidFill>
                      <a:srgbClr val="F6F8FA"/>
                    </a:solidFill>
                  </a:tcPr>
                </a:tc>
              </a:tr>
              <a:tr h="347472">
                <a:tc>
                  <a:txBody>
                    <a:bodyPr wrap="square"/>
                    <a:lstStyle/>
                    <a:p>
                      <a:pPr algn="l"/>
                      <a:r>
                        <a:rPr sz="1050" b="0">
                          <a:solidFill>
                            <a:srgbClr val="1E2833"/>
                          </a:solidFill>
                          <a:latin typeface="Segoe UI"/>
                        </a:rPr>
                        <a:t>Human @ 90 m</a:t>
                      </a:r>
                    </a:p>
                  </a:txBody>
                  <a:tcPr marL="54864" marR="54864" marT="18288" marB="18288" anchor="ctr">
                    <a:solidFill>
                      <a:srgbClr val="FFFFFF"/>
                    </a:solidFill>
                  </a:tcPr>
                </a:tc>
                <a:tc>
                  <a:txBody>
                    <a:bodyPr wrap="square"/>
                    <a:lstStyle/>
                    <a:p>
                      <a:pPr algn="ctr"/>
                      <a:r>
                        <a:rPr sz="1050" b="0">
                          <a:solidFill>
                            <a:srgbClr val="1E2833"/>
                          </a:solidFill>
                          <a:latin typeface="Segoe UI"/>
                        </a:rPr>
                        <a:t>4.2</a:t>
                      </a:r>
                    </a:p>
                  </a:txBody>
                  <a:tcPr marL="54864" marR="54864" marT="18288" marB="18288" anchor="ctr">
                    <a:solidFill>
                      <a:srgbClr val="FFFFFF"/>
                    </a:solidFill>
                  </a:tcPr>
                </a:tc>
                <a:tc>
                  <a:txBody>
                    <a:bodyPr wrap="square"/>
                    <a:lstStyle/>
                    <a:p>
                      <a:pPr algn="ctr"/>
                      <a:r>
                        <a:rPr sz="1050" b="0">
                          <a:solidFill>
                            <a:srgbClr val="2E7D32"/>
                          </a:solidFill>
                          <a:latin typeface="Segoe UI"/>
                        </a:rPr>
                        <a:t>Detect ✓</a:t>
                      </a:r>
                    </a:p>
                  </a:txBody>
                  <a:tcPr marL="54864" marR="54864" marT="18288" marB="18288" anchor="ctr">
                    <a:solidFill>
                      <a:srgbClr val="FFFFFF"/>
                    </a:solidFill>
                  </a:tcPr>
                </a:tc>
              </a:tr>
              <a:tr h="347472">
                <a:tc>
                  <a:txBody>
                    <a:bodyPr wrap="square"/>
                    <a:lstStyle/>
                    <a:p>
                      <a:pPr algn="l"/>
                      <a:r>
                        <a:rPr sz="1050" b="0">
                          <a:solidFill>
                            <a:srgbClr val="1E2833"/>
                          </a:solidFill>
                          <a:latin typeface="Segoe UI"/>
                        </a:rPr>
                        <a:t>Turkey @ 120 m</a:t>
                      </a:r>
                    </a:p>
                  </a:txBody>
                  <a:tcPr marL="54864" marR="54864" marT="18288" marB="18288" anchor="ctr">
                    <a:solidFill>
                      <a:srgbClr val="F6F8FA"/>
                    </a:solidFill>
                  </a:tcPr>
                </a:tc>
                <a:tc>
                  <a:txBody>
                    <a:bodyPr wrap="square"/>
                    <a:lstStyle/>
                    <a:p>
                      <a:pPr algn="ctr"/>
                      <a:r>
                        <a:rPr sz="1050" b="0">
                          <a:solidFill>
                            <a:srgbClr val="1E2833"/>
                          </a:solidFill>
                          <a:latin typeface="Segoe UI"/>
                        </a:rPr>
                        <a:t>1.9</a:t>
                      </a:r>
                    </a:p>
                  </a:txBody>
                  <a:tcPr marL="54864" marR="54864" marT="18288" marB="18288" anchor="ctr">
                    <a:solidFill>
                      <a:srgbClr val="F6F8FA"/>
                    </a:solidFill>
                  </a:tcPr>
                </a:tc>
                <a:tc>
                  <a:txBody>
                    <a:bodyPr wrap="square"/>
                    <a:lstStyle/>
                    <a:p>
                      <a:pPr algn="ctr"/>
                      <a:r>
                        <a:rPr sz="1050" b="0">
                          <a:solidFill>
                            <a:srgbClr val="D9821E"/>
                          </a:solidFill>
                          <a:latin typeface="Segoe UI"/>
                        </a:rPr>
                        <a:t>Marginal</a:t>
                      </a:r>
                    </a:p>
                  </a:txBody>
                  <a:tcPr marL="54864" marR="54864" marT="18288" marB="18288" anchor="ctr">
                    <a:solidFill>
                      <a:srgbClr val="F6F8FA"/>
                    </a:solidFill>
                  </a:tcPr>
                </a:tc>
              </a:tr>
            </a:tbl>
          </a:graphicData>
        </a:graphic>
      </p:graphicFrame>
      <p:sp>
        <p:nvSpPr>
          <p:cNvPr id="13" name="Rounded Rectangle 12"/>
          <p:cNvSpPr/>
          <p:nvPr/>
        </p:nvSpPr>
        <p:spPr>
          <a:xfrm>
            <a:off x="6400800" y="1188720"/>
            <a:ext cx="2514600" cy="137160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188720"/>
            <a:ext cx="82296" cy="13716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298448"/>
            <a:ext cx="22402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6.0 cm</a:t>
            </a:r>
          </a:p>
        </p:txBody>
      </p:sp>
      <p:sp>
        <p:nvSpPr>
          <p:cNvPr id="16" name="TextBox 15"/>
          <p:cNvSpPr txBox="1"/>
          <p:nvPr/>
        </p:nvSpPr>
        <p:spPr>
          <a:xfrm>
            <a:off x="6583680" y="1737360"/>
            <a:ext cx="2240280" cy="80467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Nadir GSD per pixel @ 90 m</a:t>
            </a:r>
          </a:p>
        </p:txBody>
      </p:sp>
      <p:sp>
        <p:nvSpPr>
          <p:cNvPr id="17" name="Rounded Rectangle 16"/>
          <p:cNvSpPr/>
          <p:nvPr/>
        </p:nvSpPr>
        <p:spPr>
          <a:xfrm>
            <a:off x="9098280" y="1188720"/>
            <a:ext cx="2514600" cy="137160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98280" y="1188720"/>
            <a:ext cx="82296" cy="13716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60" y="1298448"/>
            <a:ext cx="22402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8.0 cm</a:t>
            </a:r>
          </a:p>
        </p:txBody>
      </p:sp>
      <p:sp>
        <p:nvSpPr>
          <p:cNvPr id="20" name="TextBox 19"/>
          <p:cNvSpPr txBox="1"/>
          <p:nvPr/>
        </p:nvSpPr>
        <p:spPr>
          <a:xfrm>
            <a:off x="9281160" y="1737360"/>
            <a:ext cx="2240280" cy="80467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Nadir GSD per pixel @ 120 m</a:t>
            </a:r>
          </a:p>
        </p:txBody>
      </p:sp>
      <p:sp>
        <p:nvSpPr>
          <p:cNvPr id="21" name="Rounded Rectangle 20"/>
          <p:cNvSpPr/>
          <p:nvPr/>
        </p:nvSpPr>
        <p:spPr>
          <a:xfrm>
            <a:off x="6400800" y="2743200"/>
            <a:ext cx="2514600" cy="137160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0" y="2743200"/>
            <a:ext cx="82296" cy="1371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2852928"/>
            <a:ext cx="22402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640×512</a:t>
            </a:r>
          </a:p>
        </p:txBody>
      </p:sp>
      <p:sp>
        <p:nvSpPr>
          <p:cNvPr id="24" name="TextBox 23"/>
          <p:cNvSpPr txBox="1"/>
          <p:nvPr/>
        </p:nvSpPr>
        <p:spPr>
          <a:xfrm>
            <a:off x="6583680" y="3291840"/>
            <a:ext cx="2240280" cy="80467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Sensor, 12 µm pitch, 18 mm lens</a:t>
            </a:r>
          </a:p>
        </p:txBody>
      </p:sp>
      <p:sp>
        <p:nvSpPr>
          <p:cNvPr id="25" name="Rounded Rectangle 24"/>
          <p:cNvSpPr/>
          <p:nvPr/>
        </p:nvSpPr>
        <p:spPr>
          <a:xfrm>
            <a:off x="9098280" y="2743200"/>
            <a:ext cx="2514600" cy="137160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8280" y="2743200"/>
            <a:ext cx="82296" cy="1371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81160" y="2852928"/>
            <a:ext cx="22402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R3.1 ✓</a:t>
            </a:r>
          </a:p>
        </p:txBody>
      </p:sp>
      <p:sp>
        <p:nvSpPr>
          <p:cNvPr id="28" name="TextBox 27"/>
          <p:cNvSpPr txBox="1"/>
          <p:nvPr/>
        </p:nvSpPr>
        <p:spPr>
          <a:xfrm>
            <a:off x="9281160" y="3291840"/>
            <a:ext cx="2240280" cy="80467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Deer detection @ 120 m</a:t>
            </a:r>
          </a:p>
        </p:txBody>
      </p:sp>
      <p:sp>
        <p:nvSpPr>
          <p:cNvPr id="29" name="Rounded Rectangle 28"/>
          <p:cNvSpPr/>
          <p:nvPr/>
        </p:nvSpPr>
        <p:spPr>
          <a:xfrm>
            <a:off x="6400800" y="4343400"/>
            <a:ext cx="5212080" cy="160020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4462272"/>
            <a:ext cx="493776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INTERPRETATION</a:t>
            </a:r>
          </a:p>
        </p:txBody>
      </p:sp>
      <p:sp>
        <p:nvSpPr>
          <p:cNvPr id="31" name="TextBox 30"/>
          <p:cNvSpPr txBox="1"/>
          <p:nvPr/>
        </p:nvSpPr>
        <p:spPr>
          <a:xfrm>
            <a:off x="6583680" y="4754880"/>
            <a:ext cx="4937760" cy="1097280"/>
          </a:xfrm>
          <a:prstGeom prst="rect">
            <a:avLst/>
          </a:prstGeom>
          <a:noFill/>
        </p:spPr>
        <p:txBody>
          <a:bodyPr wrap="square" anchor="t" lIns="0" rIns="0" tIns="0" bIns="0">
            <a:spAutoFit/>
          </a:bodyPr>
          <a:lstStyle/>
          <a:p>
            <a:pPr algn="l">
              <a:lnSpc>
                <a:spcPct val="103000"/>
              </a:lnSpc>
              <a:spcBef>
                <a:spcPts val="0"/>
              </a:spcBef>
              <a:spcAft>
                <a:spcPts val="400"/>
              </a:spcAft>
            </a:pPr>
            <a:r>
              <a:rPr sz="1050" b="0" i="0">
                <a:solidFill>
                  <a:srgbClr val="1E2833"/>
                </a:solidFill>
                <a:latin typeface="Segoe UI"/>
              </a:rPr>
              <a:t>Detection is comfortable across 90–120 m (3.1–4.2 px along-range at the 45° mount vs a 1.5 px floor). RECOGNITION of a 0.5 m target is the tightest margin in the thermal chain — ~4.2 px vs a 4 px floor at 90 m — so the as-built figure must be confirmed by field capture (task 2.17), not geometry alone. Species classification (R3.2) is the trained AI model's job.</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4 · ANALYSES</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Analysis 3 — RF Link Budget (2.8 km / R7)</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30</a:t>
            </a:r>
          </a:p>
        </p:txBody>
      </p:sp>
      <p:sp>
        <p:nvSpPr>
          <p:cNvPr id="9" name="TextBox 8"/>
          <p:cNvSpPr txBox="1"/>
          <p:nvPr/>
        </p:nvSpPr>
        <p:spPr>
          <a:xfrm>
            <a:off x="566928" y="1170432"/>
            <a:ext cx="11055096" cy="502920"/>
          </a:xfrm>
          <a:prstGeom prst="rect">
            <a:avLst/>
          </a:prstGeom>
          <a:noFill/>
        </p:spPr>
        <p:txBody>
          <a:bodyPr wrap="square" anchor="t" lIns="0" rIns="0" tIns="0" bIns="0">
            <a:spAutoFit/>
          </a:bodyPr>
          <a:lstStyle/>
          <a:p>
            <a:pPr algn="l">
              <a:lnSpc>
                <a:spcPct val="103000"/>
              </a:lnSpc>
              <a:spcBef>
                <a:spcPts val="0"/>
              </a:spcBef>
              <a:spcAft>
                <a:spcPts val="400"/>
              </a:spcAft>
            </a:pPr>
            <a:r>
              <a:rPr sz="1150" b="1" i="0">
                <a:solidFill>
                  <a:srgbClr val="2E86AB"/>
                </a:solidFill>
                <a:latin typeface="Segoe UI"/>
              </a:rPr>
              <a:t>Method &amp; fidelity:  </a:t>
            </a:r>
            <a:r>
              <a:rPr sz="1150" b="0" i="0">
                <a:solidFill>
                  <a:srgbClr val="1E2833"/>
                </a:solidFill>
                <a:latin typeface="Segoe UI"/>
              </a:rPr>
              <a:t>free-space path loss (FSPL) at each link's frequency, design target ≥ 10 dB fade margin at 2.8 km. Fidelity: free-space model; the fade margin absorbs foliage / multipath / polarization loss. Not yet range-tested.</a:t>
            </a:r>
          </a:p>
        </p:txBody>
      </p:sp>
      <p:graphicFrame>
        <p:nvGraphicFramePr>
          <p:cNvPr id="10" name="Table 9"/>
          <p:cNvGraphicFramePr>
            <a:graphicFrameLocks noGrp="1"/>
          </p:cNvGraphicFramePr>
          <p:nvPr/>
        </p:nvGraphicFramePr>
        <p:xfrm>
          <a:off x="566928" y="1874519"/>
          <a:ext cx="11055096" cy="1993392"/>
        </p:xfrm>
        <a:graphic>
          <a:graphicData uri="http://schemas.openxmlformats.org/drawingml/2006/table">
            <a:tbl>
              <a:tblPr>
                <a:tableStyleId>{5C22544A-7EE6-4342-B048-85BDC9FD1C3A}</a:tableStyleId>
              </a:tblPr>
              <a:tblGrid>
                <a:gridCol w="4572000"/>
                <a:gridCol w="1280160"/>
                <a:gridCol w="2194560"/>
                <a:gridCol w="1737360"/>
                <a:gridCol w="1271016"/>
              </a:tblGrid>
              <a:tr h="310896">
                <a:tc>
                  <a:txBody>
                    <a:bodyPr wrap="square"/>
                    <a:lstStyle/>
                    <a:p>
                      <a:pPr algn="l"/>
                      <a:r>
                        <a:rPr sz="1050" b="1">
                          <a:solidFill>
                            <a:srgbClr val="FFFFFF"/>
                          </a:solidFill>
                          <a:latin typeface="Segoe UI"/>
                        </a:rPr>
                        <a:t>RF link</a:t>
                      </a:r>
                    </a:p>
                  </a:txBody>
                  <a:tcPr marL="54864" marR="54864" marT="18288" marB="18288" anchor="ctr">
                    <a:solidFill>
                      <a:srgbClr val="0F2540"/>
                    </a:solidFill>
                  </a:tcPr>
                </a:tc>
                <a:tc>
                  <a:txBody>
                    <a:bodyPr wrap="square"/>
                    <a:lstStyle/>
                    <a:p>
                      <a:pPr algn="ctr"/>
                      <a:r>
                        <a:rPr sz="1050" b="1">
                          <a:solidFill>
                            <a:srgbClr val="FFFFFF"/>
                          </a:solidFill>
                          <a:latin typeface="Segoe UI"/>
                        </a:rPr>
                        <a:t>TX</a:t>
                      </a:r>
                    </a:p>
                  </a:txBody>
                  <a:tcPr marL="54864" marR="54864" marT="18288" marB="18288" anchor="ctr">
                    <a:solidFill>
                      <a:srgbClr val="0F2540"/>
                    </a:solidFill>
                  </a:tcPr>
                </a:tc>
                <a:tc>
                  <a:txBody>
                    <a:bodyPr wrap="square"/>
                    <a:lstStyle/>
                    <a:p>
                      <a:pPr algn="ctr"/>
                      <a:r>
                        <a:rPr sz="1050" b="1">
                          <a:solidFill>
                            <a:srgbClr val="FFFFFF"/>
                          </a:solidFill>
                          <a:latin typeface="Segoe UI"/>
                        </a:rPr>
                        <a:t>Margin @ 2.8 km</a:t>
                      </a:r>
                    </a:p>
                  </a:txBody>
                  <a:tcPr marL="54864" marR="54864" marT="18288" marB="18288" anchor="ctr">
                    <a:solidFill>
                      <a:srgbClr val="0F2540"/>
                    </a:solidFill>
                  </a:tcPr>
                </a:tc>
                <a:tc>
                  <a:txBody>
                    <a:bodyPr wrap="square"/>
                    <a:lstStyle/>
                    <a:p>
                      <a:pPr algn="ctr"/>
                      <a:r>
                        <a:rPr sz="1050" b="1">
                          <a:solidFill>
                            <a:srgbClr val="FFFFFF"/>
                          </a:solidFill>
                          <a:latin typeface="Segoe UI"/>
                        </a:rPr>
                        <a:t>Reliable range</a:t>
                      </a:r>
                    </a:p>
                  </a:txBody>
                  <a:tcPr marL="54864" marR="54864" marT="18288" marB="18288" anchor="ctr">
                    <a:solidFill>
                      <a:srgbClr val="0F2540"/>
                    </a:solidFill>
                  </a:tcPr>
                </a:tc>
                <a:tc>
                  <a:txBody>
                    <a:bodyPr wrap="square"/>
                    <a:lstStyle/>
                    <a:p>
                      <a:pPr algn="ctr"/>
                      <a:r>
                        <a:rPr sz="1050" b="1">
                          <a:solidFill>
                            <a:srgbClr val="FFFFFF"/>
                          </a:solidFill>
                          <a:latin typeface="Segoe UI"/>
                        </a:rPr>
                        <a:t>Verdict</a:t>
                      </a:r>
                    </a:p>
                  </a:txBody>
                  <a:tcPr marL="54864" marR="54864" marT="18288" marB="18288" anchor="ctr">
                    <a:solidFill>
                      <a:srgbClr val="0F2540"/>
                    </a:solidFill>
                  </a:tcPr>
                </a:tc>
              </a:tr>
              <a:tr h="420624">
                <a:tc>
                  <a:txBody>
                    <a:bodyPr wrap="square"/>
                    <a:lstStyle/>
                    <a:p>
                      <a:pPr algn="l"/>
                      <a:r>
                        <a:rPr sz="1100" b="0">
                          <a:solidFill>
                            <a:srgbClr val="1E2833"/>
                          </a:solidFill>
                          <a:latin typeface="Segoe UI"/>
                        </a:rPr>
                        <a:t>Analog FPV video (5.8 GHz + patch)</a:t>
                      </a:r>
                    </a:p>
                  </a:txBody>
                  <a:tcPr marL="54864" marR="54864" marT="18288" marB="18288" anchor="ctr">
                    <a:solidFill>
                      <a:srgbClr val="FFFFFF"/>
                    </a:solidFill>
                  </a:tcPr>
                </a:tc>
                <a:tc>
                  <a:txBody>
                    <a:bodyPr wrap="square"/>
                    <a:lstStyle/>
                    <a:p>
                      <a:pPr algn="ctr"/>
                      <a:r>
                        <a:rPr sz="1100" b="0">
                          <a:solidFill>
                            <a:srgbClr val="1E2833"/>
                          </a:solidFill>
                          <a:latin typeface="Segoe UI"/>
                        </a:rPr>
                        <a:t>32 dBm</a:t>
                      </a:r>
                    </a:p>
                  </a:txBody>
                  <a:tcPr marL="54864" marR="54864" marT="18288" marB="18288" anchor="ctr">
                    <a:solidFill>
                      <a:srgbClr val="FFFFFF"/>
                    </a:solidFill>
                  </a:tcPr>
                </a:tc>
                <a:tc>
                  <a:txBody>
                    <a:bodyPr wrap="square"/>
                    <a:lstStyle/>
                    <a:p>
                      <a:pPr algn="ctr"/>
                      <a:r>
                        <a:rPr sz="1100" b="0">
                          <a:solidFill>
                            <a:srgbClr val="2E7D32"/>
                          </a:solidFill>
                          <a:latin typeface="Segoe UI"/>
                        </a:rPr>
                        <a:t>+15.3 dB</a:t>
                      </a:r>
                    </a:p>
                  </a:txBody>
                  <a:tcPr marL="54864" marR="54864" marT="18288" marB="18288" anchor="ctr">
                    <a:solidFill>
                      <a:srgbClr val="FFFFFF"/>
                    </a:solidFill>
                  </a:tcPr>
                </a:tc>
                <a:tc>
                  <a:txBody>
                    <a:bodyPr wrap="square"/>
                    <a:lstStyle/>
                    <a:p>
                      <a:pPr algn="ctr"/>
                      <a:r>
                        <a:rPr sz="1100" b="0">
                          <a:solidFill>
                            <a:srgbClr val="1E2833"/>
                          </a:solidFill>
                          <a:latin typeface="Segoe UI"/>
                        </a:rPr>
                        <a:t>5.2 km</a:t>
                      </a:r>
                    </a:p>
                  </a:txBody>
                  <a:tcPr marL="54864" marR="54864" marT="18288" marB="18288" anchor="ctr">
                    <a:solidFill>
                      <a:srgbClr val="FFFFFF"/>
                    </a:solidFill>
                  </a:tcPr>
                </a:tc>
                <a:tc>
                  <a:txBody>
                    <a:bodyPr wrap="square"/>
                    <a:lstStyle/>
                    <a:p>
                      <a:pPr algn="ctr"/>
                      <a:r>
                        <a:rPr sz="1100" b="0">
                          <a:solidFill>
                            <a:srgbClr val="2E7D32"/>
                          </a:solidFill>
                          <a:latin typeface="Segoe UI"/>
                        </a:rPr>
                        <a:t>PASS</a:t>
                      </a:r>
                    </a:p>
                  </a:txBody>
                  <a:tcPr marL="54864" marR="54864" marT="18288" marB="18288" anchor="ctr">
                    <a:solidFill>
                      <a:srgbClr val="FFFFFF"/>
                    </a:solidFill>
                  </a:tcPr>
                </a:tc>
              </a:tr>
              <a:tr h="420624">
                <a:tc>
                  <a:txBody>
                    <a:bodyPr wrap="square"/>
                    <a:lstStyle/>
                    <a:p>
                      <a:pPr algn="l"/>
                      <a:r>
                        <a:rPr sz="1100" b="0">
                          <a:solidFill>
                            <a:srgbClr val="1E2833"/>
                          </a:solidFill>
                          <a:latin typeface="Segoe UI"/>
                        </a:rPr>
                        <a:t>Control uplink (2.4 GHz ELRS)</a:t>
                      </a:r>
                    </a:p>
                  </a:txBody>
                  <a:tcPr marL="54864" marR="54864" marT="18288" marB="18288" anchor="ctr">
                    <a:solidFill>
                      <a:srgbClr val="F6F8FA"/>
                    </a:solidFill>
                  </a:tcPr>
                </a:tc>
                <a:tc>
                  <a:txBody>
                    <a:bodyPr wrap="square"/>
                    <a:lstStyle/>
                    <a:p>
                      <a:pPr algn="ctr"/>
                      <a:r>
                        <a:rPr sz="1100" b="0">
                          <a:solidFill>
                            <a:srgbClr val="1E2833"/>
                          </a:solidFill>
                          <a:latin typeface="Segoe UI"/>
                        </a:rPr>
                        <a:t>24 dBm</a:t>
                      </a:r>
                    </a:p>
                  </a:txBody>
                  <a:tcPr marL="54864" marR="54864" marT="18288" marB="18288" anchor="ctr">
                    <a:solidFill>
                      <a:srgbClr val="F6F8FA"/>
                    </a:solidFill>
                  </a:tcPr>
                </a:tc>
                <a:tc>
                  <a:txBody>
                    <a:bodyPr wrap="square"/>
                    <a:lstStyle/>
                    <a:p>
                      <a:pPr algn="ctr"/>
                      <a:r>
                        <a:rPr sz="1100" b="0">
                          <a:solidFill>
                            <a:srgbClr val="2E7D32"/>
                          </a:solidFill>
                          <a:latin typeface="Segoe UI"/>
                        </a:rPr>
                        <a:t>+23.0 dB</a:t>
                      </a:r>
                    </a:p>
                  </a:txBody>
                  <a:tcPr marL="54864" marR="54864" marT="18288" marB="18288" anchor="ctr">
                    <a:solidFill>
                      <a:srgbClr val="F6F8FA"/>
                    </a:solidFill>
                  </a:tcPr>
                </a:tc>
                <a:tc>
                  <a:txBody>
                    <a:bodyPr wrap="square"/>
                    <a:lstStyle/>
                    <a:p>
                      <a:pPr algn="ctr"/>
                      <a:r>
                        <a:rPr sz="1100" b="0">
                          <a:solidFill>
                            <a:srgbClr val="1E2833"/>
                          </a:solidFill>
                          <a:latin typeface="Segoe UI"/>
                        </a:rPr>
                        <a:t>12.5 km</a:t>
                      </a:r>
                    </a:p>
                  </a:txBody>
                  <a:tcPr marL="54864" marR="54864" marT="18288" marB="18288" anchor="ctr">
                    <a:solidFill>
                      <a:srgbClr val="F6F8FA"/>
                    </a:solidFill>
                  </a:tcPr>
                </a:tc>
                <a:tc>
                  <a:txBody>
                    <a:bodyPr wrap="square"/>
                    <a:lstStyle/>
                    <a:p>
                      <a:pPr algn="ctr"/>
                      <a:r>
                        <a:rPr sz="1100" b="0">
                          <a:solidFill>
                            <a:srgbClr val="2E7D32"/>
                          </a:solidFill>
                          <a:latin typeface="Segoe UI"/>
                        </a:rPr>
                        <a:t>PASS</a:t>
                      </a:r>
                    </a:p>
                  </a:txBody>
                  <a:tcPr marL="54864" marR="54864" marT="18288" marB="18288" anchor="ctr">
                    <a:solidFill>
                      <a:srgbClr val="F6F8FA"/>
                    </a:solidFill>
                  </a:tcPr>
                </a:tc>
              </a:tr>
              <a:tr h="420624">
                <a:tc>
                  <a:txBody>
                    <a:bodyPr wrap="square"/>
                    <a:lstStyle/>
                    <a:p>
                      <a:pPr algn="l"/>
                      <a:r>
                        <a:rPr sz="1100" b="0">
                          <a:solidFill>
                            <a:srgbClr val="1E2833"/>
                          </a:solidFill>
                          <a:latin typeface="Segoe UI"/>
                        </a:rPr>
                        <a:t>Telemetry downlink (2.4 GHz ELRS)</a:t>
                      </a:r>
                    </a:p>
                  </a:txBody>
                  <a:tcPr marL="54864" marR="54864" marT="18288" marB="18288" anchor="ctr">
                    <a:solidFill>
                      <a:srgbClr val="FFFFFF"/>
                    </a:solidFill>
                  </a:tcPr>
                </a:tc>
                <a:tc>
                  <a:txBody>
                    <a:bodyPr wrap="square"/>
                    <a:lstStyle/>
                    <a:p>
                      <a:pPr algn="ctr"/>
                      <a:r>
                        <a:rPr sz="1100" b="0">
                          <a:solidFill>
                            <a:srgbClr val="1E2833"/>
                          </a:solidFill>
                          <a:latin typeface="Segoe UI"/>
                        </a:rPr>
                        <a:t>20 dBm</a:t>
                      </a:r>
                    </a:p>
                  </a:txBody>
                  <a:tcPr marL="54864" marR="54864" marT="18288" marB="18288" anchor="ctr">
                    <a:solidFill>
                      <a:srgbClr val="FFFFFF"/>
                    </a:solidFill>
                  </a:tcPr>
                </a:tc>
                <a:tc>
                  <a:txBody>
                    <a:bodyPr wrap="square"/>
                    <a:lstStyle/>
                    <a:p>
                      <a:pPr algn="ctr"/>
                      <a:r>
                        <a:rPr sz="1100" b="0">
                          <a:solidFill>
                            <a:srgbClr val="2E7D32"/>
                          </a:solidFill>
                          <a:latin typeface="Segoe UI"/>
                        </a:rPr>
                        <a:t>+19.0 dB</a:t>
                      </a:r>
                    </a:p>
                  </a:txBody>
                  <a:tcPr marL="54864" marR="54864" marT="18288" marB="18288" anchor="ctr">
                    <a:solidFill>
                      <a:srgbClr val="FFFFFF"/>
                    </a:solidFill>
                  </a:tcPr>
                </a:tc>
                <a:tc>
                  <a:txBody>
                    <a:bodyPr wrap="square"/>
                    <a:lstStyle/>
                    <a:p>
                      <a:pPr algn="ctr"/>
                      <a:r>
                        <a:rPr sz="1100" b="0">
                          <a:solidFill>
                            <a:srgbClr val="1E2833"/>
                          </a:solidFill>
                          <a:latin typeface="Segoe UI"/>
                        </a:rPr>
                        <a:t>7.9 km</a:t>
                      </a:r>
                    </a:p>
                  </a:txBody>
                  <a:tcPr marL="54864" marR="54864" marT="18288" marB="18288" anchor="ctr">
                    <a:solidFill>
                      <a:srgbClr val="FFFFFF"/>
                    </a:solidFill>
                  </a:tcPr>
                </a:tc>
                <a:tc>
                  <a:txBody>
                    <a:bodyPr wrap="square"/>
                    <a:lstStyle/>
                    <a:p>
                      <a:pPr algn="ctr"/>
                      <a:r>
                        <a:rPr sz="1100" b="0">
                          <a:solidFill>
                            <a:srgbClr val="2E7D32"/>
                          </a:solidFill>
                          <a:latin typeface="Segoe UI"/>
                        </a:rPr>
                        <a:t>PASS</a:t>
                      </a:r>
                    </a:p>
                  </a:txBody>
                  <a:tcPr marL="54864" marR="54864" marT="18288" marB="18288" anchor="ctr">
                    <a:solidFill>
                      <a:srgbClr val="FFFFFF"/>
                    </a:solidFill>
                  </a:tcPr>
                </a:tc>
              </a:tr>
              <a:tr h="420624">
                <a:tc>
                  <a:txBody>
                    <a:bodyPr wrap="square"/>
                    <a:lstStyle/>
                    <a:p>
                      <a:pPr algn="l"/>
                      <a:r>
                        <a:rPr sz="1100" b="0">
                          <a:solidFill>
                            <a:srgbClr val="1E2833"/>
                          </a:solidFill>
                          <a:latin typeface="Segoe UI"/>
                        </a:rPr>
                        <a:t>OpenHD thermal video (5.8 GHz)*</a:t>
                      </a:r>
                    </a:p>
                  </a:txBody>
                  <a:tcPr marL="54864" marR="54864" marT="18288" marB="18288" anchor="ctr">
                    <a:solidFill>
                      <a:srgbClr val="F6F8FA"/>
                    </a:solidFill>
                  </a:tcPr>
                </a:tc>
                <a:tc>
                  <a:txBody>
                    <a:bodyPr wrap="square"/>
                    <a:lstStyle/>
                    <a:p>
                      <a:pPr algn="ctr"/>
                      <a:r>
                        <a:rPr sz="1100" b="0">
                          <a:solidFill>
                            <a:srgbClr val="1E2833"/>
                          </a:solidFill>
                          <a:latin typeface="Segoe UI"/>
                        </a:rPr>
                        <a:t>29 dBm</a:t>
                      </a:r>
                    </a:p>
                  </a:txBody>
                  <a:tcPr marL="54864" marR="54864" marT="18288" marB="18288" anchor="ctr">
                    <a:solidFill>
                      <a:srgbClr val="F6F8FA"/>
                    </a:solidFill>
                  </a:tcPr>
                </a:tc>
                <a:tc>
                  <a:txBody>
                    <a:bodyPr wrap="square"/>
                    <a:lstStyle/>
                    <a:p>
                      <a:pPr algn="ctr"/>
                      <a:r>
                        <a:rPr sz="1100" b="0">
                          <a:solidFill>
                            <a:srgbClr val="2E7D32"/>
                          </a:solidFill>
                          <a:latin typeface="Segoe UI"/>
                        </a:rPr>
                        <a:t>+11.3 dB</a:t>
                      </a:r>
                    </a:p>
                  </a:txBody>
                  <a:tcPr marL="54864" marR="54864" marT="18288" marB="18288" anchor="ctr">
                    <a:solidFill>
                      <a:srgbClr val="F6F8FA"/>
                    </a:solidFill>
                  </a:tcPr>
                </a:tc>
                <a:tc>
                  <a:txBody>
                    <a:bodyPr wrap="square"/>
                    <a:lstStyle/>
                    <a:p>
                      <a:pPr algn="ctr"/>
                      <a:r>
                        <a:rPr sz="1100" b="0">
                          <a:solidFill>
                            <a:srgbClr val="1E2833"/>
                          </a:solidFill>
                          <a:latin typeface="Segoe UI"/>
                        </a:rPr>
                        <a:t>3.3 km</a:t>
                      </a:r>
                    </a:p>
                  </a:txBody>
                  <a:tcPr marL="54864" marR="54864" marT="18288" marB="18288" anchor="ctr">
                    <a:solidFill>
                      <a:srgbClr val="F6F8FA"/>
                    </a:solidFill>
                  </a:tcPr>
                </a:tc>
                <a:tc>
                  <a:txBody>
                    <a:bodyPr wrap="square"/>
                    <a:lstStyle/>
                    <a:p>
                      <a:pPr algn="ctr"/>
                      <a:r>
                        <a:rPr sz="1100" b="0">
                          <a:solidFill>
                            <a:srgbClr val="2E7D32"/>
                          </a:solidFill>
                          <a:latin typeface="Segoe UI"/>
                        </a:rPr>
                        <a:t>PASS</a:t>
                      </a:r>
                    </a:p>
                  </a:txBody>
                  <a:tcPr marL="54864" marR="54864" marT="18288" marB="18288" anchor="ctr">
                    <a:solidFill>
                      <a:srgbClr val="F6F8FA"/>
                    </a:solidFill>
                  </a:tcPr>
                </a:tc>
              </a:tr>
            </a:tbl>
          </a:graphicData>
        </a:graphic>
      </p:graphicFrame>
      <p:sp>
        <p:nvSpPr>
          <p:cNvPr id="11" name="TextBox 10"/>
          <p:cNvSpPr txBox="1"/>
          <p:nvPr/>
        </p:nvSpPr>
        <p:spPr>
          <a:xfrm>
            <a:off x="566928" y="4160520"/>
            <a:ext cx="6766560" cy="1828800"/>
          </a:xfrm>
          <a:prstGeom prst="rect">
            <a:avLst/>
          </a:prstGeom>
          <a:noFill/>
        </p:spPr>
        <p:txBody>
          <a:bodyPr wrap="square" anchor="t" lIns="0" rIns="0" tIns="0" bIns="0">
            <a:spAutoFit/>
          </a:bodyPr>
          <a:lstStyle/>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All links pass 2.8 km with ≥ 10 dB margin.  </a:t>
            </a:r>
            <a:r>
              <a:rPr sz="1300" b="0">
                <a:solidFill>
                  <a:srgbClr val="1E2833"/>
                </a:solidFill>
                <a:latin typeface="Segoe UI"/>
              </a:rPr>
              <a:t>Control/telemetry (ELRS) close the range many times over and are never limiting.</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Binding link.  </a:t>
            </a:r>
            <a:r>
              <a:rPr sz="1300" b="0">
                <a:solidFill>
                  <a:srgbClr val="1E2833"/>
                </a:solidFill>
                <a:latin typeface="Segoe UI"/>
              </a:rPr>
              <a:t>Analog FPV video — the TrueRC X-AIR patch antenna (10 dBic) is the enabling component; the stock omni would fail the 10 dB target.</a:t>
            </a:r>
          </a:p>
          <a:p>
            <a:pPr>
              <a:lnSpc>
                <a:spcPct val="104000"/>
              </a:lnSpc>
              <a:spcBef>
                <a:spcPts val="300"/>
              </a:spcBef>
              <a:spcAft>
                <a:spcPts val="300"/>
              </a:spcAft>
            </a:pPr>
            <a:r>
              <a:rPr sz="1400" b="1">
                <a:solidFill>
                  <a:srgbClr val="2E86AB"/>
                </a:solidFill>
                <a:latin typeface="Segoe UI"/>
              </a:rPr>
              <a:t>▸  </a:t>
            </a:r>
            <a:r>
              <a:rPr sz="1250" b="0">
                <a:solidFill>
                  <a:srgbClr val="5C6B7A"/>
                </a:solidFill>
                <a:latin typeface="Segoe UI"/>
              </a:rPr>
              <a:t>* Phase 4 (deferred). OpenHD thermal downlink shown for completeness; dual-diversity Foxeer panels give +11.3 dB.</a:t>
            </a:r>
          </a:p>
        </p:txBody>
      </p:sp>
      <p:sp>
        <p:nvSpPr>
          <p:cNvPr id="12" name="Rounded Rectangle 11"/>
          <p:cNvSpPr/>
          <p:nvPr/>
        </p:nvSpPr>
        <p:spPr>
          <a:xfrm>
            <a:off x="7589520" y="4160520"/>
            <a:ext cx="1920240" cy="173736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0" y="4160520"/>
            <a:ext cx="82296" cy="17373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4270248"/>
            <a:ext cx="164592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4 / 4</a:t>
            </a:r>
          </a:p>
        </p:txBody>
      </p:sp>
      <p:sp>
        <p:nvSpPr>
          <p:cNvPr id="15" name="TextBox 14"/>
          <p:cNvSpPr txBox="1"/>
          <p:nvPr/>
        </p:nvSpPr>
        <p:spPr>
          <a:xfrm>
            <a:off x="7772400" y="4709160"/>
            <a:ext cx="1645920" cy="117043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RF links pass R7</a:t>
            </a:r>
          </a:p>
        </p:txBody>
      </p:sp>
      <p:sp>
        <p:nvSpPr>
          <p:cNvPr id="16" name="Rounded Rectangle 15"/>
          <p:cNvSpPr/>
          <p:nvPr/>
        </p:nvSpPr>
        <p:spPr>
          <a:xfrm>
            <a:off x="9692640" y="4160520"/>
            <a:ext cx="1920240" cy="173736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692640" y="4160520"/>
            <a:ext cx="82296" cy="173736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0" y="4270248"/>
            <a:ext cx="164592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+10 dB</a:t>
            </a:r>
          </a:p>
        </p:txBody>
      </p:sp>
      <p:sp>
        <p:nvSpPr>
          <p:cNvPr id="19" name="TextBox 18"/>
          <p:cNvSpPr txBox="1"/>
          <p:nvPr/>
        </p:nvSpPr>
        <p:spPr>
          <a:xfrm>
            <a:off x="9875520" y="4709160"/>
            <a:ext cx="1645920" cy="117043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Fade-margin design target</a:t>
            </a:r>
          </a:p>
        </p:txBody>
      </p:sp>
      <p:sp>
        <p:nvSpPr>
          <p:cNvPr id="20" name="TextBox 19"/>
          <p:cNvSpPr txBox="1"/>
          <p:nvPr/>
        </p:nvSpPr>
        <p:spPr>
          <a:xfrm>
            <a:off x="566928" y="6108192"/>
            <a:ext cx="6766560" cy="384048"/>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0F2540"/>
                </a:solidFill>
                <a:latin typeface="Segoe UI"/>
              </a:rPr>
              <a:t>Fade margin = </a:t>
            </a:r>
            <a:r>
              <a:rPr sz="950" b="0" i="0">
                <a:solidFill>
                  <a:srgbClr val="5C6B7A"/>
                </a:solidFill>
                <a:latin typeface="Segoe UI"/>
              </a:rPr>
              <a:t>dB of received-signal headroom above the reliable-link minimum. The ≥ 10 dB target is a ~10× power cushion so the link holds through momentary signal fades (multipath, foliage, bank angle).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4 · ANALYSES</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Analysis 4 — Physical Integration (“Does It Fit?”)</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31</a:t>
            </a:r>
          </a:p>
        </p:txBody>
      </p:sp>
      <p:sp>
        <p:nvSpPr>
          <p:cNvPr id="9" name="Rounded Rectangle 8"/>
          <p:cNvSpPr/>
          <p:nvPr/>
        </p:nvSpPr>
        <p:spPr>
          <a:xfrm>
            <a:off x="566928" y="1188720"/>
            <a:ext cx="5532120" cy="160020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298448"/>
            <a:ext cx="512064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METHOD &amp; FIDELITY</a:t>
            </a:r>
          </a:p>
        </p:txBody>
      </p:sp>
      <p:sp>
        <p:nvSpPr>
          <p:cNvPr id="11" name="TextBox 10"/>
          <p:cNvSpPr txBox="1"/>
          <p:nvPr/>
        </p:nvSpPr>
        <p:spPr>
          <a:xfrm>
            <a:off x="731520" y="1600200"/>
            <a:ext cx="5120640" cy="114300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1E2833"/>
                </a:solidFill>
                <a:latin typeface="Segoe UI"/>
              </a:rPr>
              <a:t>Dimensional model: parses each airframe's usable deck footprint and each battery / SBC envelope, then emits a 3-tier fit verdict (fits / marginal / no-fit, ±12 mm tolerance) with deck-margin. </a:t>
            </a:r>
            <a:r>
              <a:rPr sz="1050" b="1" i="0">
                <a:solidFill>
                  <a:srgbClr val="C12727"/>
                </a:solidFill>
                <a:latin typeface="Segoe UI"/>
              </a:rPr>
              <a:t>Fidelity: deck dimensions are mostly ESTIMATES (≈ 0.27 × wheelbase); battery envelopes validated against the one confirmed pack. Confirm the selected frame's real deck before build.</a:t>
            </a:r>
          </a:p>
        </p:txBody>
      </p:sp>
      <p:sp>
        <p:nvSpPr>
          <p:cNvPr id="12" name="TextBox 11"/>
          <p:cNvSpPr txBox="1"/>
          <p:nvPr/>
        </p:nvSpPr>
        <p:spPr>
          <a:xfrm>
            <a:off x="566928" y="2971800"/>
            <a:ext cx="5532120" cy="3017520"/>
          </a:xfrm>
          <a:prstGeom prst="rect">
            <a:avLst/>
          </a:prstGeom>
          <a:noFill/>
        </p:spPr>
        <p:txBody>
          <a:bodyPr wrap="square" anchor="t" lIns="0" rIns="0" tIns="0" bIns="0">
            <a:spAutoFit/>
          </a:bodyPr>
          <a:lstStyle/>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Binding constraint.  </a:t>
            </a:r>
            <a:r>
              <a:rPr sz="1300" b="0">
                <a:solidFill>
                  <a:srgbClr val="1E2833"/>
                </a:solidFill>
                <a:latin typeface="Segoe UI"/>
              </a:rPr>
              <a:t>The NanoPi M5 footprint (90 × 62 mm) — the thermal camera is nose-mounted and never an issue.</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Selected frame.  </a:t>
            </a:r>
            <a:r>
              <a:rPr sz="1300" b="0">
                <a:solidFill>
                  <a:srgbClr val="1E2833"/>
                </a:solidFill>
                <a:latin typeface="Segoe UI"/>
              </a:rPr>
              <a:t>Chimera9 ECO deck ≈ 110 × 70 mm → SBC fits with ~8 mm spare (a key reason it was chosen over the endurance leader).</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General pattern.  </a:t>
            </a:r>
            <a:r>
              <a:rPr sz="1300" b="0">
                <a:solidFill>
                  <a:srgbClr val="1E2833"/>
                </a:solidFill>
                <a:latin typeface="Segoe UI"/>
              </a:rPr>
              <a:t>9–10" frames fit cleanly; 7.5–9" are marginal (custom deck); the pure endurance winner (DarwinFPV 129) is NO-FIT.</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Status.  </a:t>
            </a:r>
            <a:r>
              <a:rPr sz="1300" b="0">
                <a:solidFill>
                  <a:srgbClr val="1E2833"/>
                </a:solidFill>
                <a:latin typeface="Segoe UI"/>
              </a:rPr>
              <a:t>Informational — configs are flagged, never dropped. Fit drove the airframe lock.</a:t>
            </a:r>
          </a:p>
        </p:txBody>
      </p:sp>
      <p:sp>
        <p:nvSpPr>
          <p:cNvPr id="13" name="Rounded Rectangle 12"/>
          <p:cNvSpPr/>
          <p:nvPr/>
        </p:nvSpPr>
        <p:spPr>
          <a:xfrm>
            <a:off x="6400800" y="1188720"/>
            <a:ext cx="2514600" cy="146304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188720"/>
            <a:ext cx="82296" cy="146304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298448"/>
            <a:ext cx="22402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90×62 mm</a:t>
            </a:r>
          </a:p>
        </p:txBody>
      </p:sp>
      <p:sp>
        <p:nvSpPr>
          <p:cNvPr id="16" name="TextBox 15"/>
          <p:cNvSpPr txBox="1"/>
          <p:nvPr/>
        </p:nvSpPr>
        <p:spPr>
          <a:xfrm>
            <a:off x="6583680" y="1737360"/>
            <a:ext cx="2240280" cy="89611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SBC footprint (binding)</a:t>
            </a:r>
          </a:p>
        </p:txBody>
      </p:sp>
      <p:sp>
        <p:nvSpPr>
          <p:cNvPr id="17" name="Rounded Rectangle 16"/>
          <p:cNvSpPr/>
          <p:nvPr/>
        </p:nvSpPr>
        <p:spPr>
          <a:xfrm>
            <a:off x="9098280" y="1188720"/>
            <a:ext cx="2514600" cy="146304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98280" y="1188720"/>
            <a:ext cx="82296" cy="14630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60" y="1298448"/>
            <a:ext cx="22402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~8 mm</a:t>
            </a:r>
          </a:p>
        </p:txBody>
      </p:sp>
      <p:sp>
        <p:nvSpPr>
          <p:cNvPr id="20" name="TextBox 19"/>
          <p:cNvSpPr txBox="1"/>
          <p:nvPr/>
        </p:nvSpPr>
        <p:spPr>
          <a:xfrm>
            <a:off x="9281160" y="1737360"/>
            <a:ext cx="2240280" cy="89611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Deck spare on selected frame</a:t>
            </a:r>
          </a:p>
        </p:txBody>
      </p:sp>
      <p:sp>
        <p:nvSpPr>
          <p:cNvPr id="21" name="Rounded Rectangle 20"/>
          <p:cNvSpPr/>
          <p:nvPr/>
        </p:nvSpPr>
        <p:spPr>
          <a:xfrm>
            <a:off x="6400800" y="2834640"/>
            <a:ext cx="2514600" cy="146304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0" y="2834640"/>
            <a:ext cx="82296" cy="14630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2944368"/>
            <a:ext cx="22402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Fits ✓</a:t>
            </a:r>
          </a:p>
        </p:txBody>
      </p:sp>
      <p:sp>
        <p:nvSpPr>
          <p:cNvPr id="24" name="TextBox 23"/>
          <p:cNvSpPr txBox="1"/>
          <p:nvPr/>
        </p:nvSpPr>
        <p:spPr>
          <a:xfrm>
            <a:off x="6583680" y="3383280"/>
            <a:ext cx="2240280" cy="89611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Chimera9 ECO (110×70 deck)</a:t>
            </a:r>
          </a:p>
        </p:txBody>
      </p:sp>
      <p:sp>
        <p:nvSpPr>
          <p:cNvPr id="25" name="Rounded Rectangle 24"/>
          <p:cNvSpPr/>
          <p:nvPr/>
        </p:nvSpPr>
        <p:spPr>
          <a:xfrm>
            <a:off x="9098280" y="2834640"/>
            <a:ext cx="2514600" cy="146304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8280" y="2834640"/>
            <a:ext cx="82296" cy="146304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81160" y="2944368"/>
            <a:ext cx="22402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3D-print</a:t>
            </a:r>
          </a:p>
        </p:txBody>
      </p:sp>
      <p:sp>
        <p:nvSpPr>
          <p:cNvPr id="28" name="TextBox 27"/>
          <p:cNvSpPr txBox="1"/>
          <p:nvPr/>
        </p:nvSpPr>
        <p:spPr>
          <a:xfrm>
            <a:off x="9281160" y="3383280"/>
            <a:ext cx="2240280" cy="89611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SBC mount + 30 mm fan (Phase 2)</a:t>
            </a:r>
          </a:p>
        </p:txBody>
      </p:sp>
      <p:sp>
        <p:nvSpPr>
          <p:cNvPr id="29" name="Rounded Rectangle 28"/>
          <p:cNvSpPr/>
          <p:nvPr/>
        </p:nvSpPr>
        <p:spPr>
          <a:xfrm>
            <a:off x="6400800" y="4434840"/>
            <a:ext cx="5212080" cy="150876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4553712"/>
            <a:ext cx="493776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WHY IT MATTERS</a:t>
            </a:r>
          </a:p>
        </p:txBody>
      </p:sp>
      <p:sp>
        <p:nvSpPr>
          <p:cNvPr id="31" name="TextBox 30"/>
          <p:cNvSpPr txBox="1"/>
          <p:nvPr/>
        </p:nvSpPr>
        <p:spPr>
          <a:xfrm>
            <a:off x="6583680" y="4846320"/>
            <a:ext cx="4937760" cy="1005840"/>
          </a:xfrm>
          <a:prstGeom prst="rect">
            <a:avLst/>
          </a:prstGeom>
          <a:noFill/>
        </p:spPr>
        <p:txBody>
          <a:bodyPr wrap="square" anchor="t" lIns="0" rIns="0" tIns="0" bIns="0">
            <a:spAutoFit/>
          </a:bodyPr>
          <a:lstStyle/>
          <a:p>
            <a:pPr algn="l">
              <a:lnSpc>
                <a:spcPct val="103000"/>
              </a:lnSpc>
              <a:spcBef>
                <a:spcPts val="0"/>
              </a:spcBef>
              <a:spcAft>
                <a:spcPts val="400"/>
              </a:spcAft>
            </a:pPr>
            <a:r>
              <a:rPr sz="1050" b="0" i="0">
                <a:solidFill>
                  <a:srgbClr val="1E2833"/>
                </a:solidFill>
                <a:latin typeface="Segoe UI"/>
              </a:rPr>
              <a:t>Endurance and fit trade against each other: the lightest/longest-flying frames are too small to carry the compute. The selected frame is the best endurance-per-dollar option that physically integrates the payload.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4 · ANALYSES</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Analysis 5 — Cost &amp; Budget (R4 ≤ $2,500)</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32</a:t>
            </a:r>
          </a:p>
        </p:txBody>
      </p:sp>
      <p:sp>
        <p:nvSpPr>
          <p:cNvPr id="9" name="TextBox 8"/>
          <p:cNvSpPr txBox="1"/>
          <p:nvPr/>
        </p:nvSpPr>
        <p:spPr>
          <a:xfrm>
            <a:off x="566928" y="1170432"/>
            <a:ext cx="11055096" cy="274320"/>
          </a:xfrm>
          <a:prstGeom prst="rect">
            <a:avLst/>
          </a:prstGeom>
          <a:noFill/>
        </p:spPr>
        <p:txBody>
          <a:bodyPr wrap="square" anchor="t" lIns="0" rIns="0" tIns="0" bIns="0">
            <a:spAutoFit/>
          </a:bodyPr>
          <a:lstStyle/>
          <a:p>
            <a:pPr algn="l">
              <a:lnSpc>
                <a:spcPct val="103000"/>
              </a:lnSpc>
              <a:spcBef>
                <a:spcPts val="0"/>
              </a:spcBef>
              <a:spcAft>
                <a:spcPts val="400"/>
              </a:spcAft>
            </a:pPr>
            <a:r>
              <a:rPr sz="1150" b="1" i="0">
                <a:solidFill>
                  <a:srgbClr val="2E86AB"/>
                </a:solidFill>
                <a:latin typeface="Segoe UI"/>
              </a:rPr>
              <a:t>Method:  </a:t>
            </a:r>
            <a:r>
              <a:rPr sz="1150" b="0" i="0">
                <a:solidFill>
                  <a:srgbClr val="1E2833"/>
                </a:solidFill>
                <a:latin typeface="Segoe UI"/>
              </a:rPr>
              <a:t>phased bill of materials rolled up from candidates.sysml with actual quoted prices for locked parts; laptop (existing) and reusable support gear (dev packs, charger) excluded from the R4 integrated-system figure.</a:t>
            </a:r>
          </a:p>
        </p:txBody>
      </p:sp>
      <p:graphicFrame>
        <p:nvGraphicFramePr>
          <p:cNvPr id="10" name="Table 9"/>
          <p:cNvGraphicFramePr>
            <a:graphicFrameLocks noGrp="1"/>
          </p:cNvGraphicFramePr>
          <p:nvPr/>
        </p:nvGraphicFramePr>
        <p:xfrm>
          <a:off x="566928" y="1691640"/>
          <a:ext cx="6675120" cy="2615184"/>
        </p:xfrm>
        <a:graphic>
          <a:graphicData uri="http://schemas.openxmlformats.org/drawingml/2006/table">
            <a:tbl>
              <a:tblPr>
                <a:tableStyleId>{5C22544A-7EE6-4342-B048-85BDC9FD1C3A}</a:tableStyleId>
              </a:tblPr>
              <a:tblGrid>
                <a:gridCol w="2011680"/>
                <a:gridCol w="3383280"/>
                <a:gridCol w="1280160"/>
              </a:tblGrid>
              <a:tr h="310896">
                <a:tc>
                  <a:txBody>
                    <a:bodyPr wrap="square"/>
                    <a:lstStyle/>
                    <a:p>
                      <a:pPr algn="l"/>
                      <a:r>
                        <a:rPr sz="1100" b="1">
                          <a:solidFill>
                            <a:srgbClr val="FFFFFF"/>
                          </a:solidFill>
                          <a:latin typeface="Segoe UI"/>
                        </a:rPr>
                        <a:t>Build phase</a:t>
                      </a:r>
                    </a:p>
                  </a:txBody>
                  <a:tcPr marL="54864" marR="54864" marT="18288" marB="18288" anchor="ctr">
                    <a:solidFill>
                      <a:srgbClr val="0F2540"/>
                    </a:solidFill>
                  </a:tcPr>
                </a:tc>
                <a:tc>
                  <a:txBody>
                    <a:bodyPr wrap="square"/>
                    <a:lstStyle/>
                    <a:p>
                      <a:pPr algn="l"/>
                      <a:r>
                        <a:rPr sz="1100" b="1">
                          <a:solidFill>
                            <a:srgbClr val="FFFFFF"/>
                          </a:solidFill>
                          <a:latin typeface="Segoe UI"/>
                        </a:rPr>
                        <a:t>Scope</a:t>
                      </a:r>
                    </a:p>
                  </a:txBody>
                  <a:tcPr marL="54864" marR="54864" marT="18288" marB="18288" anchor="ctr">
                    <a:solidFill>
                      <a:srgbClr val="0F2540"/>
                    </a:solidFill>
                  </a:tcPr>
                </a:tc>
                <a:tc>
                  <a:txBody>
                    <a:bodyPr wrap="square"/>
                    <a:lstStyle/>
                    <a:p>
                      <a:pPr algn="r"/>
                      <a:r>
                        <a:rPr sz="1100" b="1">
                          <a:solidFill>
                            <a:srgbClr val="FFFFFF"/>
                          </a:solidFill>
                          <a:latin typeface="Segoe UI"/>
                        </a:rPr>
                        <a:t>Subtotal</a:t>
                      </a:r>
                    </a:p>
                  </a:txBody>
                  <a:tcPr marL="54864" marR="54864" marT="18288" marB="18288" anchor="ctr">
                    <a:solidFill>
                      <a:srgbClr val="0F2540"/>
                    </a:solidFill>
                  </a:tcPr>
                </a:tc>
              </a:tr>
              <a:tr h="384048">
                <a:tc>
                  <a:txBody>
                    <a:bodyPr wrap="square"/>
                    <a:lstStyle/>
                    <a:p>
                      <a:pPr algn="l"/>
                      <a:r>
                        <a:rPr sz="1100" b="0">
                          <a:solidFill>
                            <a:srgbClr val="1E2833"/>
                          </a:solidFill>
                          <a:latin typeface="Segoe UI"/>
                        </a:rPr>
                        <a:t>Phase 1</a:t>
                      </a:r>
                    </a:p>
                  </a:txBody>
                  <a:tcPr marL="54864" marR="54864" marT="18288" marB="18288" anchor="ctr">
                    <a:solidFill>
                      <a:srgbClr val="FFFFFF"/>
                    </a:solidFill>
                  </a:tcPr>
                </a:tc>
                <a:tc>
                  <a:txBody>
                    <a:bodyPr wrap="square"/>
                    <a:lstStyle/>
                    <a:p>
                      <a:pPr algn="l"/>
                      <a:r>
                        <a:rPr sz="1100" b="0">
                          <a:solidFill>
                            <a:srgbClr val="1E2833"/>
                          </a:solidFill>
                          <a:latin typeface="Segoe UI"/>
                        </a:rPr>
                        <a:t>Flight + FPV downlink + waypoints</a:t>
                      </a:r>
                    </a:p>
                  </a:txBody>
                  <a:tcPr marL="54864" marR="54864" marT="18288" marB="18288" anchor="ctr">
                    <a:solidFill>
                      <a:srgbClr val="FFFFFF"/>
                    </a:solidFill>
                  </a:tcPr>
                </a:tc>
                <a:tc>
                  <a:txBody>
                    <a:bodyPr wrap="square"/>
                    <a:lstStyle/>
                    <a:p>
                      <a:pPr algn="r"/>
                      <a:r>
                        <a:rPr sz="1100" b="0">
                          <a:solidFill>
                            <a:srgbClr val="1E2833"/>
                          </a:solidFill>
                          <a:latin typeface="Segoe UI"/>
                        </a:rPr>
                        <a:t>$1,371</a:t>
                      </a:r>
                    </a:p>
                  </a:txBody>
                  <a:tcPr marL="54864" marR="54864" marT="18288" marB="18288" anchor="ctr">
                    <a:solidFill>
                      <a:srgbClr val="FFFFFF"/>
                    </a:solidFill>
                  </a:tcPr>
                </a:tc>
              </a:tr>
              <a:tr h="384048">
                <a:tc>
                  <a:txBody>
                    <a:bodyPr wrap="square"/>
                    <a:lstStyle/>
                    <a:p>
                      <a:pPr algn="l"/>
                      <a:r>
                        <a:rPr sz="1100" b="0">
                          <a:solidFill>
                            <a:srgbClr val="1E2833"/>
                          </a:solidFill>
                          <a:latin typeface="Segoe UI"/>
                        </a:rPr>
                        <a:t>Phase 2</a:t>
                      </a:r>
                    </a:p>
                  </a:txBody>
                  <a:tcPr marL="54864" marR="54864" marT="18288" marB="18288" anchor="ctr">
                    <a:solidFill>
                      <a:srgbClr val="F6F8FA"/>
                    </a:solidFill>
                  </a:tcPr>
                </a:tc>
                <a:tc>
                  <a:txBody>
                    <a:bodyPr wrap="square"/>
                    <a:lstStyle/>
                    <a:p>
                      <a:pPr algn="l"/>
                      <a:r>
                        <a:rPr sz="1100" b="0">
                          <a:solidFill>
                            <a:srgbClr val="1E2833"/>
                          </a:solidFill>
                          <a:latin typeface="Segoe UI"/>
                        </a:rPr>
                        <a:t>Thermal camera + onboard SBC</a:t>
                      </a:r>
                    </a:p>
                  </a:txBody>
                  <a:tcPr marL="54864" marR="54864" marT="18288" marB="18288" anchor="ctr">
                    <a:solidFill>
                      <a:srgbClr val="F6F8FA"/>
                    </a:solidFill>
                  </a:tcPr>
                </a:tc>
                <a:tc>
                  <a:txBody>
                    <a:bodyPr wrap="square"/>
                    <a:lstStyle/>
                    <a:p>
                      <a:pPr algn="r"/>
                      <a:r>
                        <a:rPr sz="1100" b="0">
                          <a:solidFill>
                            <a:srgbClr val="1E2833"/>
                          </a:solidFill>
                          <a:latin typeface="Segoe UI"/>
                        </a:rPr>
                        <a:t>$809</a:t>
                      </a:r>
                    </a:p>
                  </a:txBody>
                  <a:tcPr marL="54864" marR="54864" marT="18288" marB="18288" anchor="ctr">
                    <a:solidFill>
                      <a:srgbClr val="F6F8FA"/>
                    </a:solidFill>
                  </a:tcPr>
                </a:tc>
              </a:tr>
              <a:tr h="384048">
                <a:tc>
                  <a:txBody>
                    <a:bodyPr wrap="square"/>
                    <a:lstStyle/>
                    <a:p>
                      <a:pPr algn="l"/>
                      <a:r>
                        <a:rPr sz="1100" b="0">
                          <a:solidFill>
                            <a:srgbClr val="1E2833"/>
                          </a:solidFill>
                          <a:latin typeface="Segoe UI"/>
                        </a:rPr>
                        <a:t>Phase 3</a:t>
                      </a:r>
                    </a:p>
                  </a:txBody>
                  <a:tcPr marL="54864" marR="54864" marT="18288" marB="18288" anchor="ctr">
                    <a:solidFill>
                      <a:srgbClr val="FFFFFF"/>
                    </a:solidFill>
                  </a:tcPr>
                </a:tc>
                <a:tc>
                  <a:txBody>
                    <a:bodyPr wrap="square"/>
                    <a:lstStyle/>
                    <a:p>
                      <a:pPr algn="l"/>
                      <a:r>
                        <a:rPr sz="1100" b="0">
                          <a:solidFill>
                            <a:srgbClr val="1E2833"/>
                          </a:solidFill>
                          <a:latin typeface="Segoe UI"/>
                        </a:rPr>
                        <a:t>AI detection + autonomy (software only)</a:t>
                      </a:r>
                    </a:p>
                  </a:txBody>
                  <a:tcPr marL="54864" marR="54864" marT="18288" marB="18288" anchor="ctr">
                    <a:solidFill>
                      <a:srgbClr val="FFFFFF"/>
                    </a:solidFill>
                  </a:tcPr>
                </a:tc>
                <a:tc>
                  <a:txBody>
                    <a:bodyPr wrap="square"/>
                    <a:lstStyle/>
                    <a:p>
                      <a:pPr algn="r"/>
                      <a:r>
                        <a:rPr sz="1100" b="0">
                          <a:solidFill>
                            <a:srgbClr val="1E2833"/>
                          </a:solidFill>
                          <a:latin typeface="Segoe UI"/>
                        </a:rPr>
                        <a:t>$0</a:t>
                      </a:r>
                    </a:p>
                  </a:txBody>
                  <a:tcPr marL="54864" marR="54864" marT="18288" marB="18288" anchor="ctr">
                    <a:solidFill>
                      <a:srgbClr val="FFFFFF"/>
                    </a:solidFill>
                  </a:tcPr>
                </a:tc>
              </a:tr>
              <a:tr h="384048">
                <a:tc>
                  <a:txBody>
                    <a:bodyPr wrap="square"/>
                    <a:lstStyle/>
                    <a:p>
                      <a:pPr algn="l"/>
                      <a:r>
                        <a:rPr sz="1100" b="0">
                          <a:solidFill>
                            <a:srgbClr val="1E2833"/>
                          </a:solidFill>
                          <a:latin typeface="Segoe UI"/>
                        </a:rPr>
                        <a:t>Committed (1–3)</a:t>
                      </a:r>
                    </a:p>
                  </a:txBody>
                  <a:tcPr marL="54864" marR="54864" marT="18288" marB="18288" anchor="ctr">
                    <a:solidFill>
                      <a:srgbClr val="F6F8FA"/>
                    </a:solidFill>
                  </a:tcPr>
                </a:tc>
                <a:tc>
                  <a:txBody>
                    <a:bodyPr wrap="square"/>
                    <a:lstStyle/>
                    <a:p>
                      <a:pPr algn="l"/>
                      <a:r>
                        <a:rPr sz="1100" b="0">
                          <a:solidFill>
                            <a:srgbClr val="1E2833"/>
                          </a:solidFill>
                          <a:latin typeface="Segoe UI"/>
                        </a:rPr>
                        <a:t>As-flown system</a:t>
                      </a:r>
                    </a:p>
                  </a:txBody>
                  <a:tcPr marL="54864" marR="54864" marT="18288" marB="18288" anchor="ctr">
                    <a:solidFill>
                      <a:srgbClr val="F6F8FA"/>
                    </a:solidFill>
                  </a:tcPr>
                </a:tc>
                <a:tc>
                  <a:txBody>
                    <a:bodyPr wrap="square"/>
                    <a:lstStyle/>
                    <a:p>
                      <a:pPr algn="r"/>
                      <a:r>
                        <a:rPr sz="1100" b="0">
                          <a:solidFill>
                            <a:srgbClr val="1E2833"/>
                          </a:solidFill>
                          <a:latin typeface="Segoe UI"/>
                        </a:rPr>
                        <a:t>$2,180</a:t>
                      </a:r>
                    </a:p>
                  </a:txBody>
                  <a:tcPr marL="54864" marR="54864" marT="18288" marB="18288" anchor="ctr">
                    <a:solidFill>
                      <a:srgbClr val="F6F8FA"/>
                    </a:solidFill>
                  </a:tcPr>
                </a:tc>
              </a:tr>
              <a:tr h="384048">
                <a:tc>
                  <a:txBody>
                    <a:bodyPr wrap="square"/>
                    <a:lstStyle/>
                    <a:p>
                      <a:pPr algn="l"/>
                      <a:r>
                        <a:rPr sz="1100" b="0">
                          <a:solidFill>
                            <a:srgbClr val="1E2833"/>
                          </a:solidFill>
                          <a:latin typeface="Segoe UI"/>
                        </a:rPr>
                        <a:t>R4 integrated</a:t>
                      </a:r>
                    </a:p>
                  </a:txBody>
                  <a:tcPr marL="54864" marR="54864" marT="18288" marB="18288" anchor="ctr">
                    <a:solidFill>
                      <a:srgbClr val="FFFFFF"/>
                    </a:solidFill>
                  </a:tcPr>
                </a:tc>
                <a:tc>
                  <a:txBody>
                    <a:bodyPr wrap="square"/>
                    <a:lstStyle/>
                    <a:p>
                      <a:pPr algn="l"/>
                      <a:r>
                        <a:rPr sz="1100" b="0">
                          <a:solidFill>
                            <a:srgbClr val="1E2833"/>
                          </a:solidFill>
                          <a:latin typeface="Segoe UI"/>
                        </a:rPr>
                        <a:t>Excl. reusable dev packs + charger</a:t>
                      </a:r>
                    </a:p>
                  </a:txBody>
                  <a:tcPr marL="54864" marR="54864" marT="18288" marB="18288" anchor="ctr">
                    <a:solidFill>
                      <a:srgbClr val="FFFFFF"/>
                    </a:solidFill>
                  </a:tcPr>
                </a:tc>
                <a:tc>
                  <a:txBody>
                    <a:bodyPr wrap="square"/>
                    <a:lstStyle/>
                    <a:p>
                      <a:pPr algn="r"/>
                      <a:r>
                        <a:rPr sz="1100" b="0">
                          <a:solidFill>
                            <a:srgbClr val="1E2833"/>
                          </a:solidFill>
                          <a:latin typeface="Segoe UI"/>
                        </a:rPr>
                        <a:t>≈ $1,848</a:t>
                      </a:r>
                    </a:p>
                  </a:txBody>
                  <a:tcPr marL="54864" marR="54864" marT="18288" marB="18288" anchor="ctr">
                    <a:solidFill>
                      <a:srgbClr val="FFFFFF"/>
                    </a:solidFill>
                  </a:tcPr>
                </a:tc>
              </a:tr>
              <a:tr h="384048">
                <a:tc>
                  <a:txBody>
                    <a:bodyPr wrap="square"/>
                    <a:lstStyle/>
                    <a:p>
                      <a:pPr algn="l"/>
                      <a:r>
                        <a:rPr sz="1100" b="0">
                          <a:solidFill>
                            <a:srgbClr val="1E2833"/>
                          </a:solidFill>
                          <a:latin typeface="Segoe UI"/>
                        </a:rPr>
                        <a:t>Phase 4 (deferred)</a:t>
                      </a:r>
                    </a:p>
                  </a:txBody>
                  <a:tcPr marL="54864" marR="54864" marT="18288" marB="18288" anchor="ctr">
                    <a:solidFill>
                      <a:srgbClr val="F6F8FA"/>
                    </a:solidFill>
                  </a:tcPr>
                </a:tc>
                <a:tc>
                  <a:txBody>
                    <a:bodyPr wrap="square"/>
                    <a:lstStyle/>
                    <a:p>
                      <a:pPr algn="l"/>
                      <a:r>
                        <a:rPr sz="1100" b="0">
                          <a:solidFill>
                            <a:srgbClr val="1E2833"/>
                          </a:solidFill>
                          <a:latin typeface="Segoe UI"/>
                        </a:rPr>
                        <a:t>OpenHD digital downlink</a:t>
                      </a:r>
                    </a:p>
                  </a:txBody>
                  <a:tcPr marL="54864" marR="54864" marT="18288" marB="18288" anchor="ctr">
                    <a:solidFill>
                      <a:srgbClr val="F6F8FA"/>
                    </a:solidFill>
                  </a:tcPr>
                </a:tc>
                <a:tc>
                  <a:txBody>
                    <a:bodyPr wrap="square"/>
                    <a:lstStyle/>
                    <a:p>
                      <a:pPr algn="r"/>
                      <a:r>
                        <a:rPr sz="1100" b="0">
                          <a:solidFill>
                            <a:srgbClr val="1E2833"/>
                          </a:solidFill>
                          <a:latin typeface="Segoe UI"/>
                        </a:rPr>
                        <a:t>$159</a:t>
                      </a:r>
                    </a:p>
                  </a:txBody>
                  <a:tcPr marL="54864" marR="54864" marT="18288" marB="18288" anchor="ctr">
                    <a:solidFill>
                      <a:srgbClr val="F6F8FA"/>
                    </a:solidFill>
                  </a:tcPr>
                </a:tc>
              </a:tr>
            </a:tbl>
          </a:graphicData>
        </a:graphic>
      </p:graphicFrame>
      <p:sp>
        <p:nvSpPr>
          <p:cNvPr id="11" name="Rounded Rectangle 10"/>
          <p:cNvSpPr/>
          <p:nvPr/>
        </p:nvSpPr>
        <p:spPr>
          <a:xfrm>
            <a:off x="7452360" y="1691640"/>
            <a:ext cx="4160520" cy="123444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1691640"/>
            <a:ext cx="82296" cy="12344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801368"/>
            <a:ext cx="388620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 $1,848</a:t>
            </a:r>
          </a:p>
        </p:txBody>
      </p:sp>
      <p:sp>
        <p:nvSpPr>
          <p:cNvPr id="14" name="TextBox 13"/>
          <p:cNvSpPr txBox="1"/>
          <p:nvPr/>
        </p:nvSpPr>
        <p:spPr>
          <a:xfrm>
            <a:off x="7635240" y="2240280"/>
            <a:ext cx="3886200" cy="66751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Committed system cost (R4 basis)</a:t>
            </a:r>
          </a:p>
        </p:txBody>
      </p:sp>
      <p:sp>
        <p:nvSpPr>
          <p:cNvPr id="15" name="Rounded Rectangle 14"/>
          <p:cNvSpPr/>
          <p:nvPr/>
        </p:nvSpPr>
        <p:spPr>
          <a:xfrm>
            <a:off x="7452360" y="3063240"/>
            <a:ext cx="4160520" cy="123444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52360" y="3063240"/>
            <a:ext cx="82296" cy="12344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35240" y="3172968"/>
            <a:ext cx="388620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0F2540"/>
                </a:solidFill>
                <a:latin typeface="Segoe UI"/>
              </a:rPr>
              <a:t>≈ 26 %</a:t>
            </a:r>
          </a:p>
        </p:txBody>
      </p:sp>
      <p:sp>
        <p:nvSpPr>
          <p:cNvPr id="18" name="TextBox 17"/>
          <p:cNvSpPr txBox="1"/>
          <p:nvPr/>
        </p:nvSpPr>
        <p:spPr>
          <a:xfrm>
            <a:off x="7635240" y="3611880"/>
            <a:ext cx="3886200" cy="667512"/>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5C6B7A"/>
                </a:solidFill>
                <a:latin typeface="Segoe UI"/>
              </a:rPr>
              <a:t>Margin under the $2,500 R4 cap</a:t>
            </a:r>
          </a:p>
        </p:txBody>
      </p:sp>
      <p:sp>
        <p:nvSpPr>
          <p:cNvPr id="19" name="Rounded Rectangle 18"/>
          <p:cNvSpPr/>
          <p:nvPr/>
        </p:nvSpPr>
        <p:spPr>
          <a:xfrm>
            <a:off x="7452360" y="4434840"/>
            <a:ext cx="4160520" cy="150876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35240" y="4553712"/>
            <a:ext cx="384048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R4 VERDICT</a:t>
            </a:r>
          </a:p>
        </p:txBody>
      </p:sp>
      <p:sp>
        <p:nvSpPr>
          <p:cNvPr id="21" name="TextBox 20"/>
          <p:cNvSpPr txBox="1"/>
          <p:nvPr/>
        </p:nvSpPr>
        <p:spPr>
          <a:xfrm>
            <a:off x="7635240" y="4846320"/>
            <a:ext cx="3840480" cy="1005840"/>
          </a:xfrm>
          <a:prstGeom prst="rect">
            <a:avLst/>
          </a:prstGeom>
          <a:noFill/>
        </p:spPr>
        <p:txBody>
          <a:bodyPr wrap="square" anchor="t" lIns="0" rIns="0" tIns="0" bIns="0">
            <a:spAutoFit/>
          </a:bodyPr>
          <a:lstStyle/>
          <a:p>
            <a:pPr algn="l">
              <a:lnSpc>
                <a:spcPct val="103000"/>
              </a:lnSpc>
              <a:spcBef>
                <a:spcPts val="0"/>
              </a:spcBef>
              <a:spcAft>
                <a:spcPts val="400"/>
              </a:spcAft>
            </a:pPr>
            <a:r>
              <a:rPr sz="1100" b="1" i="0">
                <a:solidFill>
                  <a:srgbClr val="2E7D32"/>
                </a:solidFill>
                <a:latin typeface="Segoe UI"/>
              </a:rPr>
              <a:t>PASS. </a:t>
            </a:r>
            <a:r>
              <a:rPr sz="1050" b="0" i="0">
                <a:solidFill>
                  <a:srgbClr val="1E2833"/>
                </a:solidFill>
                <a:latin typeface="Segoe UI"/>
              </a:rPr>
              <a:t>Committed system (≈ $1,848) and all four phases (≈ $2,007) are both under $2,500. Thermal camera ($650) is the single largest line.</a:t>
            </a:r>
          </a:p>
        </p:txBody>
      </p:sp>
      <p:sp>
        <p:nvSpPr>
          <p:cNvPr id="22" name="TextBox 21"/>
          <p:cNvSpPr txBox="1"/>
          <p:nvPr/>
        </p:nvSpPr>
        <p:spPr>
          <a:xfrm>
            <a:off x="566928" y="5897880"/>
            <a:ext cx="6583680" cy="365760"/>
          </a:xfrm>
          <a:prstGeom prst="rect">
            <a:avLst/>
          </a:prstGeom>
          <a:noFill/>
        </p:spPr>
        <p:txBody>
          <a:bodyPr wrap="square" anchor="t" lIns="0" rIns="0" tIns="0" bIns="0">
            <a:spAutoFit/>
          </a:bodyPr>
          <a:lstStyle/>
          <a:p>
            <a:pPr algn="l">
              <a:lnSpc>
                <a:spcPct val="100000"/>
              </a:lnSpc>
              <a:spcBef>
                <a:spcPts val="0"/>
              </a:spcBef>
              <a:spcAft>
                <a:spcPts val="400"/>
              </a:spcAft>
            </a:pPr>
            <a:r>
              <a:rPr sz="950" b="0" i="1">
                <a:solidFill>
                  <a:srgbClr val="5C6B7A"/>
                </a:solidFill>
                <a:latin typeface="Segoe UI"/>
              </a:rPr>
              <a:t>The endurance sweep reports ≈ $1,674 using cost-representative radio/RX; the BOM figure uses the actual selected parts, hence higher.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4 · ANALYSES</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Performance Measures  (SV-7)</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33</a:t>
            </a:r>
          </a:p>
        </p:txBody>
      </p:sp>
      <p:sp>
        <p:nvSpPr>
          <p:cNvPr id="9" name="TextBox 8"/>
          <p:cNvSpPr txBox="1"/>
          <p:nvPr/>
        </p:nvSpPr>
        <p:spPr>
          <a:xfrm>
            <a:off x="566928" y="1170432"/>
            <a:ext cx="11055096"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5C6B7A"/>
                </a:solidFill>
                <a:latin typeface="Segoe UI"/>
              </a:rPr>
              <a:t>Key performance parameters vs. their requirement thresholds, with the as-designed (analysis) value and margin — the quantitative scorecard behind the analyses.</a:t>
            </a:r>
          </a:p>
        </p:txBody>
      </p:sp>
      <p:graphicFrame>
        <p:nvGraphicFramePr>
          <p:cNvPr id="10" name="Table 9"/>
          <p:cNvGraphicFramePr>
            <a:graphicFrameLocks noGrp="1"/>
          </p:cNvGraphicFramePr>
          <p:nvPr/>
        </p:nvGraphicFramePr>
        <p:xfrm>
          <a:off x="566928" y="1536192"/>
          <a:ext cx="11055096" cy="3968496"/>
        </p:xfrm>
        <a:graphic>
          <a:graphicData uri="http://schemas.openxmlformats.org/drawingml/2006/table">
            <a:tbl>
              <a:tblPr>
                <a:tableStyleId>{5C22544A-7EE6-4342-B048-85BDC9FD1C3A}</a:tableStyleId>
              </a:tblPr>
              <a:tblGrid>
                <a:gridCol w="2697480"/>
                <a:gridCol w="2148840"/>
                <a:gridCol w="3108960"/>
                <a:gridCol w="1463040"/>
                <a:gridCol w="1636776"/>
              </a:tblGrid>
              <a:tr h="310896">
                <a:tc>
                  <a:txBody>
                    <a:bodyPr wrap="square"/>
                    <a:lstStyle/>
                    <a:p>
                      <a:pPr algn="l"/>
                      <a:r>
                        <a:rPr sz="1050" b="1">
                          <a:solidFill>
                            <a:srgbClr val="FFFFFF"/>
                          </a:solidFill>
                          <a:latin typeface="Segoe UI"/>
                        </a:rPr>
                        <a:t>Measure</a:t>
                      </a:r>
                    </a:p>
                  </a:txBody>
                  <a:tcPr marL="54864" marR="54864" marT="18288" marB="18288" anchor="ctr">
                    <a:solidFill>
                      <a:srgbClr val="0F2540"/>
                    </a:solidFill>
                  </a:tcPr>
                </a:tc>
                <a:tc>
                  <a:txBody>
                    <a:bodyPr wrap="square"/>
                    <a:lstStyle/>
                    <a:p>
                      <a:pPr algn="l"/>
                      <a:r>
                        <a:rPr sz="1050" b="1">
                          <a:solidFill>
                            <a:srgbClr val="FFFFFF"/>
                          </a:solidFill>
                          <a:latin typeface="Segoe UI"/>
                        </a:rPr>
                        <a:t>Requirement</a:t>
                      </a:r>
                    </a:p>
                  </a:txBody>
                  <a:tcPr marL="54864" marR="54864" marT="18288" marB="18288" anchor="ctr">
                    <a:solidFill>
                      <a:srgbClr val="0F2540"/>
                    </a:solidFill>
                  </a:tcPr>
                </a:tc>
                <a:tc>
                  <a:txBody>
                    <a:bodyPr wrap="square"/>
                    <a:lstStyle/>
                    <a:p>
                      <a:pPr algn="l"/>
                      <a:r>
                        <a:rPr sz="1050" b="1">
                          <a:solidFill>
                            <a:srgbClr val="FFFFFF"/>
                          </a:solidFill>
                          <a:latin typeface="Segoe UI"/>
                        </a:rPr>
                        <a:t>As-designed (predicted)</a:t>
                      </a:r>
                    </a:p>
                  </a:txBody>
                  <a:tcPr marL="54864" marR="54864" marT="18288" marB="18288" anchor="ctr">
                    <a:solidFill>
                      <a:srgbClr val="0F2540"/>
                    </a:solidFill>
                  </a:tcPr>
                </a:tc>
                <a:tc>
                  <a:txBody>
                    <a:bodyPr wrap="square"/>
                    <a:lstStyle/>
                    <a:p>
                      <a:pPr algn="ctr"/>
                      <a:r>
                        <a:rPr sz="1050" b="1">
                          <a:solidFill>
                            <a:srgbClr val="FFFFFF"/>
                          </a:solidFill>
                          <a:latin typeface="Segoe UI"/>
                        </a:rPr>
                        <a:t>Margin</a:t>
                      </a:r>
                    </a:p>
                  </a:txBody>
                  <a:tcPr marL="54864" marR="54864" marT="18288" marB="18288" anchor="ctr">
                    <a:solidFill>
                      <a:srgbClr val="0F2540"/>
                    </a:solidFill>
                  </a:tcPr>
                </a:tc>
                <a:tc>
                  <a:txBody>
                    <a:bodyPr wrap="square"/>
                    <a:lstStyle/>
                    <a:p>
                      <a:pPr algn="ctr"/>
                      <a:r>
                        <a:rPr sz="1050" b="1">
                          <a:solidFill>
                            <a:srgbClr val="FFFFFF"/>
                          </a:solidFill>
                          <a:latin typeface="Segoe UI"/>
                        </a:rPr>
                        <a:t>Status</a:t>
                      </a:r>
                    </a:p>
                  </a:txBody>
                  <a:tcPr marL="54864" marR="54864" marT="18288" marB="18288" anchor="ctr">
                    <a:solidFill>
                      <a:srgbClr val="0F2540"/>
                    </a:solidFill>
                  </a:tcPr>
                </a:tc>
              </a:tr>
              <a:tr h="365760">
                <a:tc>
                  <a:txBody>
                    <a:bodyPr wrap="square"/>
                    <a:lstStyle/>
                    <a:p>
                      <a:pPr algn="l"/>
                      <a:r>
                        <a:rPr sz="1000" b="0">
                          <a:solidFill>
                            <a:srgbClr val="1E2833"/>
                          </a:solidFill>
                          <a:latin typeface="Segoe UI"/>
                        </a:rPr>
                        <a:t>Hover endurance</a:t>
                      </a:r>
                    </a:p>
                  </a:txBody>
                  <a:tcPr marL="54864" marR="54864" marT="18288" marB="18288" anchor="ctr">
                    <a:solidFill>
                      <a:srgbClr val="FFFFFF"/>
                    </a:solidFill>
                  </a:tcPr>
                </a:tc>
                <a:tc>
                  <a:txBody>
                    <a:bodyPr wrap="square"/>
                    <a:lstStyle/>
                    <a:p>
                      <a:pPr algn="l"/>
                      <a:r>
                        <a:rPr sz="1000" b="0">
                          <a:solidFill>
                            <a:srgbClr val="1E2833"/>
                          </a:solidFill>
                          <a:latin typeface="Segoe UI"/>
                        </a:rPr>
                        <a:t>R6 ≥ 30 min</a:t>
                      </a:r>
                    </a:p>
                  </a:txBody>
                  <a:tcPr marL="54864" marR="54864" marT="18288" marB="18288" anchor="ctr">
                    <a:solidFill>
                      <a:srgbClr val="FFFFFF"/>
                    </a:solidFill>
                  </a:tcPr>
                </a:tc>
                <a:tc>
                  <a:txBody>
                    <a:bodyPr wrap="square"/>
                    <a:lstStyle/>
                    <a:p>
                      <a:pPr algn="l"/>
                      <a:r>
                        <a:rPr sz="1000" b="0">
                          <a:solidFill>
                            <a:srgbClr val="1E2833"/>
                          </a:solidFill>
                          <a:latin typeface="Segoe UI"/>
                        </a:rPr>
                        <a:t>58.4 min (momentum model)</a:t>
                      </a:r>
                    </a:p>
                  </a:txBody>
                  <a:tcPr marL="54864" marR="54864" marT="18288" marB="18288" anchor="ctr">
                    <a:solidFill>
                      <a:srgbClr val="FFFFFF"/>
                    </a:solidFill>
                  </a:tcPr>
                </a:tc>
                <a:tc>
                  <a:txBody>
                    <a:bodyPr wrap="square"/>
                    <a:lstStyle/>
                    <a:p>
                      <a:pPr algn="ctr"/>
                      <a:r>
                        <a:rPr sz="1000" b="0">
                          <a:solidFill>
                            <a:srgbClr val="2E7D32"/>
                          </a:solidFill>
                          <a:latin typeface="Segoe UI"/>
                        </a:rPr>
                        <a:t>+95%</a:t>
                      </a:r>
                    </a:p>
                  </a:txBody>
                  <a:tcPr marL="54864" marR="54864" marT="18288" marB="18288" anchor="ctr">
                    <a:solidFill>
                      <a:srgbClr val="FFFFFF"/>
                    </a:solidFill>
                  </a:tcPr>
                </a:tc>
                <a:tc>
                  <a:txBody>
                    <a:bodyPr wrap="square"/>
                    <a:lstStyle/>
                    <a:p>
                      <a:pPr algn="ctr"/>
                      <a:r>
                        <a:rPr sz="1000" b="0">
                          <a:solidFill>
                            <a:srgbClr val="2E7D32"/>
                          </a:solidFill>
                          <a:latin typeface="Segoe UI"/>
                        </a:rPr>
                        <a:t>PASS</a:t>
                      </a:r>
                    </a:p>
                  </a:txBody>
                  <a:tcPr marL="54864" marR="54864" marT="18288" marB="18288" anchor="ctr">
                    <a:solidFill>
                      <a:srgbClr val="FFFFFF"/>
                    </a:solidFill>
                  </a:tcPr>
                </a:tc>
              </a:tr>
              <a:tr h="365760">
                <a:tc>
                  <a:txBody>
                    <a:bodyPr wrap="square"/>
                    <a:lstStyle/>
                    <a:p>
                      <a:pPr algn="l"/>
                      <a:r>
                        <a:rPr sz="1000" b="0">
                          <a:solidFill>
                            <a:srgbClr val="1E2833"/>
                          </a:solidFill>
                          <a:latin typeface="Segoe UI"/>
                        </a:rPr>
                        <a:t>Stretch endurance</a:t>
                      </a:r>
                    </a:p>
                  </a:txBody>
                  <a:tcPr marL="54864" marR="54864" marT="18288" marB="18288" anchor="ctr">
                    <a:solidFill>
                      <a:srgbClr val="F6F8FA"/>
                    </a:solidFill>
                  </a:tcPr>
                </a:tc>
                <a:tc>
                  <a:txBody>
                    <a:bodyPr wrap="square"/>
                    <a:lstStyle/>
                    <a:p>
                      <a:pPr algn="l"/>
                      <a:r>
                        <a:rPr sz="1000" b="0">
                          <a:solidFill>
                            <a:srgbClr val="1E2833"/>
                          </a:solidFill>
                          <a:latin typeface="Segoe UI"/>
                        </a:rPr>
                        <a:t>R8 ≥ 60 min</a:t>
                      </a:r>
                    </a:p>
                  </a:txBody>
                  <a:tcPr marL="54864" marR="54864" marT="18288" marB="18288" anchor="ctr">
                    <a:solidFill>
                      <a:srgbClr val="F6F8FA"/>
                    </a:solidFill>
                  </a:tcPr>
                </a:tc>
                <a:tc>
                  <a:txBody>
                    <a:bodyPr wrap="square"/>
                    <a:lstStyle/>
                    <a:p>
                      <a:pPr algn="l"/>
                      <a:r>
                        <a:rPr sz="1000" b="0">
                          <a:solidFill>
                            <a:srgbClr val="1E2833"/>
                          </a:solidFill>
                          <a:latin typeface="Segoe UI"/>
                        </a:rPr>
                        <a:t>58.4 min hover (~60 cruise)</a:t>
                      </a:r>
                    </a:p>
                  </a:txBody>
                  <a:tcPr marL="54864" marR="54864" marT="18288" marB="18288" anchor="ctr">
                    <a:solidFill>
                      <a:srgbClr val="F6F8FA"/>
                    </a:solidFill>
                  </a:tcPr>
                </a:tc>
                <a:tc>
                  <a:txBody>
                    <a:bodyPr wrap="square"/>
                    <a:lstStyle/>
                    <a:p>
                      <a:pPr algn="ctr"/>
                      <a:r>
                        <a:rPr sz="1000" b="0">
                          <a:solidFill>
                            <a:srgbClr val="C12727"/>
                          </a:solidFill>
                          <a:latin typeface="Segoe UI"/>
                        </a:rPr>
                        <a:t>−3%</a:t>
                      </a:r>
                    </a:p>
                  </a:txBody>
                  <a:tcPr marL="54864" marR="54864" marT="18288" marB="18288" anchor="ctr">
                    <a:solidFill>
                      <a:srgbClr val="F6F8FA"/>
                    </a:solidFill>
                  </a:tcPr>
                </a:tc>
                <a:tc>
                  <a:txBody>
                    <a:bodyPr wrap="square"/>
                    <a:lstStyle/>
                    <a:p>
                      <a:pPr algn="ctr"/>
                      <a:r>
                        <a:rPr sz="1000" b="0">
                          <a:solidFill>
                            <a:srgbClr val="C12727"/>
                          </a:solidFill>
                          <a:latin typeface="Segoe UI"/>
                        </a:rPr>
                        <a:t>NOT MET</a:t>
                      </a:r>
                    </a:p>
                  </a:txBody>
                  <a:tcPr marL="54864" marR="54864" marT="18288" marB="18288" anchor="ctr">
                    <a:solidFill>
                      <a:srgbClr val="F6F8FA"/>
                    </a:solidFill>
                  </a:tcPr>
                </a:tc>
              </a:tr>
              <a:tr h="365760">
                <a:tc>
                  <a:txBody>
                    <a:bodyPr wrap="square"/>
                    <a:lstStyle/>
                    <a:p>
                      <a:pPr algn="l"/>
                      <a:r>
                        <a:rPr sz="1000" b="0">
                          <a:solidFill>
                            <a:srgbClr val="1E2833"/>
                          </a:solidFill>
                          <a:latin typeface="Segoe UI"/>
                        </a:rPr>
                        <a:t>Surveillance range</a:t>
                      </a:r>
                    </a:p>
                  </a:txBody>
                  <a:tcPr marL="54864" marR="54864" marT="18288" marB="18288" anchor="ctr">
                    <a:solidFill>
                      <a:srgbClr val="FFFFFF"/>
                    </a:solidFill>
                  </a:tcPr>
                </a:tc>
                <a:tc>
                  <a:txBody>
                    <a:bodyPr wrap="square"/>
                    <a:lstStyle/>
                    <a:p>
                      <a:pPr algn="l"/>
                      <a:r>
                        <a:rPr sz="1000" b="0">
                          <a:solidFill>
                            <a:srgbClr val="1E2833"/>
                          </a:solidFill>
                          <a:latin typeface="Segoe UI"/>
                        </a:rPr>
                        <a:t>R7 ≥ 2.8 km</a:t>
                      </a:r>
                    </a:p>
                  </a:txBody>
                  <a:tcPr marL="54864" marR="54864" marT="18288" marB="18288" anchor="ctr">
                    <a:solidFill>
                      <a:srgbClr val="FFFFFF"/>
                    </a:solidFill>
                  </a:tcPr>
                </a:tc>
                <a:tc>
                  <a:txBody>
                    <a:bodyPr wrap="square"/>
                    <a:lstStyle/>
                    <a:p>
                      <a:pPr algn="l"/>
                      <a:r>
                        <a:rPr sz="1000" b="0">
                          <a:solidFill>
                            <a:srgbClr val="1E2833"/>
                          </a:solidFill>
                          <a:latin typeface="Segoe UI"/>
                        </a:rPr>
                        <a:t>≥ 3.3 km (weakest RF link)</a:t>
                      </a:r>
                    </a:p>
                  </a:txBody>
                  <a:tcPr marL="54864" marR="54864" marT="18288" marB="18288" anchor="ctr">
                    <a:solidFill>
                      <a:srgbClr val="FFFFFF"/>
                    </a:solidFill>
                  </a:tcPr>
                </a:tc>
                <a:tc>
                  <a:txBody>
                    <a:bodyPr wrap="square"/>
                    <a:lstStyle/>
                    <a:p>
                      <a:pPr algn="ctr"/>
                      <a:r>
                        <a:rPr sz="1000" b="0">
                          <a:solidFill>
                            <a:srgbClr val="2E7D32"/>
                          </a:solidFill>
                          <a:latin typeface="Segoe UI"/>
                        </a:rPr>
                        <a:t>+0.5 km</a:t>
                      </a:r>
                    </a:p>
                  </a:txBody>
                  <a:tcPr marL="54864" marR="54864" marT="18288" marB="18288" anchor="ctr">
                    <a:solidFill>
                      <a:srgbClr val="FFFFFF"/>
                    </a:solidFill>
                  </a:tcPr>
                </a:tc>
                <a:tc>
                  <a:txBody>
                    <a:bodyPr wrap="square"/>
                    <a:lstStyle/>
                    <a:p>
                      <a:pPr algn="ctr"/>
                      <a:r>
                        <a:rPr sz="1000" b="0">
                          <a:solidFill>
                            <a:srgbClr val="2E7D32"/>
                          </a:solidFill>
                          <a:latin typeface="Segoe UI"/>
                        </a:rPr>
                        <a:t>PASS</a:t>
                      </a:r>
                    </a:p>
                  </a:txBody>
                  <a:tcPr marL="54864" marR="54864" marT="18288" marB="18288" anchor="ctr">
                    <a:solidFill>
                      <a:srgbClr val="FFFFFF"/>
                    </a:solidFill>
                  </a:tcPr>
                </a:tc>
              </a:tr>
              <a:tr h="365760">
                <a:tc>
                  <a:txBody>
                    <a:bodyPr wrap="square"/>
                    <a:lstStyle/>
                    <a:p>
                      <a:pPr algn="l"/>
                      <a:r>
                        <a:rPr sz="1000" b="0">
                          <a:solidFill>
                            <a:srgbClr val="1E2833"/>
                          </a:solidFill>
                          <a:latin typeface="Segoe UI"/>
                        </a:rPr>
                        <a:t>RF fade margin</a:t>
                      </a:r>
                    </a:p>
                  </a:txBody>
                  <a:tcPr marL="54864" marR="54864" marT="18288" marB="18288" anchor="ctr">
                    <a:solidFill>
                      <a:srgbClr val="F6F8FA"/>
                    </a:solidFill>
                  </a:tcPr>
                </a:tc>
                <a:tc>
                  <a:txBody>
                    <a:bodyPr wrap="square"/>
                    <a:lstStyle/>
                    <a:p>
                      <a:pPr algn="l"/>
                      <a:r>
                        <a:rPr sz="1000" b="0">
                          <a:solidFill>
                            <a:srgbClr val="1E2833"/>
                          </a:solidFill>
                          <a:latin typeface="Segoe UI"/>
                        </a:rPr>
                        <a:t>Design ≥ 10 dB @ 2.8 km</a:t>
                      </a:r>
                    </a:p>
                  </a:txBody>
                  <a:tcPr marL="54864" marR="54864" marT="18288" marB="18288" anchor="ctr">
                    <a:solidFill>
                      <a:srgbClr val="F6F8FA"/>
                    </a:solidFill>
                  </a:tcPr>
                </a:tc>
                <a:tc>
                  <a:txBody>
                    <a:bodyPr wrap="square"/>
                    <a:lstStyle/>
                    <a:p>
                      <a:pPr algn="l"/>
                      <a:r>
                        <a:rPr sz="1000" b="0">
                          <a:solidFill>
                            <a:srgbClr val="1E2833"/>
                          </a:solidFill>
                          <a:latin typeface="Segoe UI"/>
                        </a:rPr>
                        <a:t>+11.3 dB (weakest link)</a:t>
                      </a:r>
                    </a:p>
                  </a:txBody>
                  <a:tcPr marL="54864" marR="54864" marT="18288" marB="18288" anchor="ctr">
                    <a:solidFill>
                      <a:srgbClr val="F6F8FA"/>
                    </a:solidFill>
                  </a:tcPr>
                </a:tc>
                <a:tc>
                  <a:txBody>
                    <a:bodyPr wrap="square"/>
                    <a:lstStyle/>
                    <a:p>
                      <a:pPr algn="ctr"/>
                      <a:r>
                        <a:rPr sz="1000" b="0">
                          <a:solidFill>
                            <a:srgbClr val="2E7D32"/>
                          </a:solidFill>
                          <a:latin typeface="Segoe UI"/>
                        </a:rPr>
                        <a:t>+1.3 dB</a:t>
                      </a:r>
                    </a:p>
                  </a:txBody>
                  <a:tcPr marL="54864" marR="54864" marT="18288" marB="18288" anchor="ctr">
                    <a:solidFill>
                      <a:srgbClr val="F6F8FA"/>
                    </a:solidFill>
                  </a:tcPr>
                </a:tc>
                <a:tc>
                  <a:txBody>
                    <a:bodyPr wrap="square"/>
                    <a:lstStyle/>
                    <a:p>
                      <a:pPr algn="ctr"/>
                      <a:r>
                        <a:rPr sz="1000" b="0">
                          <a:solidFill>
                            <a:srgbClr val="2E7D32"/>
                          </a:solidFill>
                          <a:latin typeface="Segoe UI"/>
                        </a:rPr>
                        <a:t>PASS</a:t>
                      </a:r>
                    </a:p>
                  </a:txBody>
                  <a:tcPr marL="54864" marR="54864" marT="18288" marB="18288" anchor="ctr">
                    <a:solidFill>
                      <a:srgbClr val="F6F8FA"/>
                    </a:solidFill>
                  </a:tcPr>
                </a:tc>
              </a:tr>
              <a:tr h="365760">
                <a:tc>
                  <a:txBody>
                    <a:bodyPr wrap="square"/>
                    <a:lstStyle/>
                    <a:p>
                      <a:pPr algn="l"/>
                      <a:r>
                        <a:rPr sz="1000" b="0">
                          <a:solidFill>
                            <a:srgbClr val="1E2833"/>
                          </a:solidFill>
                          <a:latin typeface="Segoe UI"/>
                        </a:rPr>
                        <a:t>Thermal detection @ 120 m</a:t>
                      </a:r>
                    </a:p>
                  </a:txBody>
                  <a:tcPr marL="54864" marR="54864" marT="18288" marB="18288" anchor="ctr">
                    <a:solidFill>
                      <a:srgbClr val="FFFFFF"/>
                    </a:solidFill>
                  </a:tcPr>
                </a:tc>
                <a:tc>
                  <a:txBody>
                    <a:bodyPr wrap="square"/>
                    <a:lstStyle/>
                    <a:p>
                      <a:pPr algn="l"/>
                      <a:r>
                        <a:rPr sz="1000" b="0">
                          <a:solidFill>
                            <a:srgbClr val="1E2833"/>
                          </a:solidFill>
                          <a:latin typeface="Segoe UI"/>
                        </a:rPr>
                        <a:t>R3.1 ≥ 1.5 px</a:t>
                      </a:r>
                    </a:p>
                  </a:txBody>
                  <a:tcPr marL="54864" marR="54864" marT="18288" marB="18288" anchor="ctr">
                    <a:solidFill>
                      <a:srgbClr val="FFFFFF"/>
                    </a:solidFill>
                  </a:tcPr>
                </a:tc>
                <a:tc>
                  <a:txBody>
                    <a:bodyPr wrap="square"/>
                    <a:lstStyle/>
                    <a:p>
                      <a:pPr algn="l"/>
                      <a:r>
                        <a:rPr sz="1000" b="0">
                          <a:solidFill>
                            <a:srgbClr val="1E2833"/>
                          </a:solidFill>
                          <a:latin typeface="Segoe UI"/>
                        </a:rPr>
                        <a:t>4.5 px on-target (deer)</a:t>
                      </a:r>
                    </a:p>
                  </a:txBody>
                  <a:tcPr marL="54864" marR="54864" marT="18288" marB="18288" anchor="ctr">
                    <a:solidFill>
                      <a:srgbClr val="FFFFFF"/>
                    </a:solidFill>
                  </a:tcPr>
                </a:tc>
                <a:tc>
                  <a:txBody>
                    <a:bodyPr wrap="square"/>
                    <a:lstStyle/>
                    <a:p>
                      <a:pPr algn="ctr"/>
                      <a:r>
                        <a:rPr sz="1000" b="0">
                          <a:solidFill>
                            <a:srgbClr val="2E7D32"/>
                          </a:solidFill>
                          <a:latin typeface="Segoe UI"/>
                        </a:rPr>
                        <a:t>+3.0 px</a:t>
                      </a:r>
                    </a:p>
                  </a:txBody>
                  <a:tcPr marL="54864" marR="54864" marT="18288" marB="18288" anchor="ctr">
                    <a:solidFill>
                      <a:srgbClr val="FFFFFF"/>
                    </a:solidFill>
                  </a:tcPr>
                </a:tc>
                <a:tc>
                  <a:txBody>
                    <a:bodyPr wrap="square"/>
                    <a:lstStyle/>
                    <a:p>
                      <a:pPr algn="ctr"/>
                      <a:r>
                        <a:rPr sz="1000" b="0">
                          <a:solidFill>
                            <a:srgbClr val="2E7D32"/>
                          </a:solidFill>
                          <a:latin typeface="Segoe UI"/>
                        </a:rPr>
                        <a:t>PASS</a:t>
                      </a:r>
                    </a:p>
                  </a:txBody>
                  <a:tcPr marL="54864" marR="54864" marT="18288" marB="18288" anchor="ctr">
                    <a:solidFill>
                      <a:srgbClr val="FFFFFF"/>
                    </a:solidFill>
                  </a:tcPr>
                </a:tc>
              </a:tr>
              <a:tr h="365760">
                <a:tc>
                  <a:txBody>
                    <a:bodyPr wrap="square"/>
                    <a:lstStyle/>
                    <a:p>
                      <a:pPr algn="l"/>
                      <a:r>
                        <a:rPr sz="1000" b="0">
                          <a:solidFill>
                            <a:srgbClr val="1E2833"/>
                          </a:solidFill>
                          <a:latin typeface="Segoe UI"/>
                        </a:rPr>
                        <a:t>Thermal recognition @ 90 m</a:t>
                      </a:r>
                    </a:p>
                  </a:txBody>
                  <a:tcPr marL="54864" marR="54864" marT="18288" marB="18288" anchor="ctr">
                    <a:solidFill>
                      <a:srgbClr val="F6F8FA"/>
                    </a:solidFill>
                  </a:tcPr>
                </a:tc>
                <a:tc>
                  <a:txBody>
                    <a:bodyPr wrap="square"/>
                    <a:lstStyle/>
                    <a:p>
                      <a:pPr algn="l"/>
                      <a:r>
                        <a:rPr sz="1000" b="0">
                          <a:solidFill>
                            <a:srgbClr val="1E2833"/>
                          </a:solidFill>
                          <a:latin typeface="Segoe UI"/>
                        </a:rPr>
                        <a:t>R3_CAM_RES ≥ 4 px</a:t>
                      </a:r>
                    </a:p>
                  </a:txBody>
                  <a:tcPr marL="54864" marR="54864" marT="18288" marB="18288" anchor="ctr">
                    <a:solidFill>
                      <a:srgbClr val="F6F8FA"/>
                    </a:solidFill>
                  </a:tcPr>
                </a:tc>
                <a:tc>
                  <a:txBody>
                    <a:bodyPr wrap="square"/>
                    <a:lstStyle/>
                    <a:p>
                      <a:pPr algn="l"/>
                      <a:r>
                        <a:rPr sz="1000" b="0">
                          <a:solidFill>
                            <a:srgbClr val="1E2833"/>
                          </a:solidFill>
                          <a:latin typeface="Segoe UI"/>
                        </a:rPr>
                        <a:t>6.0 px (0.5 m target)</a:t>
                      </a:r>
                    </a:p>
                  </a:txBody>
                  <a:tcPr marL="54864" marR="54864" marT="18288" marB="18288" anchor="ctr">
                    <a:solidFill>
                      <a:srgbClr val="F6F8FA"/>
                    </a:solidFill>
                  </a:tcPr>
                </a:tc>
                <a:tc>
                  <a:txBody>
                    <a:bodyPr wrap="square"/>
                    <a:lstStyle/>
                    <a:p>
                      <a:pPr algn="ctr"/>
                      <a:r>
                        <a:rPr sz="1000" b="0">
                          <a:solidFill>
                            <a:srgbClr val="2E7D32"/>
                          </a:solidFill>
                          <a:latin typeface="Segoe UI"/>
                        </a:rPr>
                        <a:t>+2.0 px</a:t>
                      </a:r>
                    </a:p>
                  </a:txBody>
                  <a:tcPr marL="54864" marR="54864" marT="18288" marB="18288" anchor="ctr">
                    <a:solidFill>
                      <a:srgbClr val="F6F8FA"/>
                    </a:solidFill>
                  </a:tcPr>
                </a:tc>
                <a:tc>
                  <a:txBody>
                    <a:bodyPr wrap="square"/>
                    <a:lstStyle/>
                    <a:p>
                      <a:pPr algn="ctr"/>
                      <a:r>
                        <a:rPr sz="1000" b="0">
                          <a:solidFill>
                            <a:srgbClr val="2E7D32"/>
                          </a:solidFill>
                          <a:latin typeface="Segoe UI"/>
                        </a:rPr>
                        <a:t>PASS</a:t>
                      </a:r>
                    </a:p>
                  </a:txBody>
                  <a:tcPr marL="54864" marR="54864" marT="18288" marB="18288" anchor="ctr">
                    <a:solidFill>
                      <a:srgbClr val="F6F8FA"/>
                    </a:solidFill>
                  </a:tcPr>
                </a:tc>
              </a:tr>
              <a:tr h="365760">
                <a:tc>
                  <a:txBody>
                    <a:bodyPr wrap="square"/>
                    <a:lstStyle/>
                    <a:p>
                      <a:pPr algn="l"/>
                      <a:r>
                        <a:rPr sz="1000" b="0">
                          <a:solidFill>
                            <a:srgbClr val="1E2833"/>
                          </a:solidFill>
                          <a:latin typeface="Segoe UI"/>
                        </a:rPr>
                        <a:t>System cost</a:t>
                      </a:r>
                    </a:p>
                  </a:txBody>
                  <a:tcPr marL="54864" marR="54864" marT="18288" marB="18288" anchor="ctr">
                    <a:solidFill>
                      <a:srgbClr val="FFFFFF"/>
                    </a:solidFill>
                  </a:tcPr>
                </a:tc>
                <a:tc>
                  <a:txBody>
                    <a:bodyPr wrap="square"/>
                    <a:lstStyle/>
                    <a:p>
                      <a:pPr algn="l"/>
                      <a:r>
                        <a:rPr sz="1000" b="0">
                          <a:solidFill>
                            <a:srgbClr val="1E2833"/>
                          </a:solidFill>
                          <a:latin typeface="Segoe UI"/>
                        </a:rPr>
                        <a:t>R4 ≤ $2,500</a:t>
                      </a:r>
                    </a:p>
                  </a:txBody>
                  <a:tcPr marL="54864" marR="54864" marT="18288" marB="18288" anchor="ctr">
                    <a:solidFill>
                      <a:srgbClr val="FFFFFF"/>
                    </a:solidFill>
                  </a:tcPr>
                </a:tc>
                <a:tc>
                  <a:txBody>
                    <a:bodyPr wrap="square"/>
                    <a:lstStyle/>
                    <a:p>
                      <a:pPr algn="l"/>
                      <a:r>
                        <a:rPr sz="1000" b="0">
                          <a:solidFill>
                            <a:srgbClr val="1E2833"/>
                          </a:solidFill>
                          <a:latin typeface="Segoe UI"/>
                        </a:rPr>
                        <a:t>≈ $1,848 committed</a:t>
                      </a:r>
                    </a:p>
                  </a:txBody>
                  <a:tcPr marL="54864" marR="54864" marT="18288" marB="18288" anchor="ctr">
                    <a:solidFill>
                      <a:srgbClr val="FFFFFF"/>
                    </a:solidFill>
                  </a:tcPr>
                </a:tc>
                <a:tc>
                  <a:txBody>
                    <a:bodyPr wrap="square"/>
                    <a:lstStyle/>
                    <a:p>
                      <a:pPr algn="ctr"/>
                      <a:r>
                        <a:rPr sz="1000" b="0">
                          <a:solidFill>
                            <a:srgbClr val="2E7D32"/>
                          </a:solidFill>
                          <a:latin typeface="Segoe UI"/>
                        </a:rPr>
                        <a:t>+$652 (26%)</a:t>
                      </a:r>
                    </a:p>
                  </a:txBody>
                  <a:tcPr marL="54864" marR="54864" marT="18288" marB="18288" anchor="ctr">
                    <a:solidFill>
                      <a:srgbClr val="FFFFFF"/>
                    </a:solidFill>
                  </a:tcPr>
                </a:tc>
                <a:tc>
                  <a:txBody>
                    <a:bodyPr wrap="square"/>
                    <a:lstStyle/>
                    <a:p>
                      <a:pPr algn="ctr"/>
                      <a:r>
                        <a:rPr sz="1000" b="0">
                          <a:solidFill>
                            <a:srgbClr val="2E7D32"/>
                          </a:solidFill>
                          <a:latin typeface="Segoe UI"/>
                        </a:rPr>
                        <a:t>PASS</a:t>
                      </a:r>
                    </a:p>
                  </a:txBody>
                  <a:tcPr marL="54864" marR="54864" marT="18288" marB="18288" anchor="ctr">
                    <a:solidFill>
                      <a:srgbClr val="FFFFFF"/>
                    </a:solidFill>
                  </a:tcPr>
                </a:tc>
              </a:tr>
              <a:tr h="365760">
                <a:tc>
                  <a:txBody>
                    <a:bodyPr wrap="square"/>
                    <a:lstStyle/>
                    <a:p>
                      <a:pPr algn="l"/>
                      <a:r>
                        <a:rPr sz="1000" b="0">
                          <a:solidFill>
                            <a:srgbClr val="1E2833"/>
                          </a:solidFill>
                          <a:latin typeface="Segoe UI"/>
                        </a:rPr>
                        <a:t>SBC power</a:t>
                      </a:r>
                    </a:p>
                  </a:txBody>
                  <a:tcPr marL="54864" marR="54864" marT="18288" marB="18288" anchor="ctr">
                    <a:solidFill>
                      <a:srgbClr val="F6F8FA"/>
                    </a:solidFill>
                  </a:tcPr>
                </a:tc>
                <a:tc>
                  <a:txBody>
                    <a:bodyPr wrap="square"/>
                    <a:lstStyle/>
                    <a:p>
                      <a:pPr algn="l"/>
                      <a:r>
                        <a:rPr sz="1000" b="0">
                          <a:solidFill>
                            <a:srgbClr val="1E2833"/>
                          </a:solidFill>
                          <a:latin typeface="Segoe UI"/>
                        </a:rPr>
                        <a:t>R4_SBC_PWR ≤ 10 W</a:t>
                      </a:r>
                    </a:p>
                  </a:txBody>
                  <a:tcPr marL="54864" marR="54864" marT="18288" marB="18288" anchor="ctr">
                    <a:solidFill>
                      <a:srgbClr val="F6F8FA"/>
                    </a:solidFill>
                  </a:tcPr>
                </a:tc>
                <a:tc>
                  <a:txBody>
                    <a:bodyPr wrap="square"/>
                    <a:lstStyle/>
                    <a:p>
                      <a:pPr algn="l"/>
                      <a:r>
                        <a:rPr sz="1000" b="0">
                          <a:solidFill>
                            <a:srgbClr val="1E2833"/>
                          </a:solidFill>
                          <a:latin typeface="Segoe UI"/>
                        </a:rPr>
                        <a:t>≤ 10 W passive (RK3576)</a:t>
                      </a:r>
                    </a:p>
                  </a:txBody>
                  <a:tcPr marL="54864" marR="54864" marT="18288" marB="18288" anchor="ctr">
                    <a:solidFill>
                      <a:srgbClr val="F6F8FA"/>
                    </a:solidFill>
                  </a:tcPr>
                </a:tc>
                <a:tc>
                  <a:txBody>
                    <a:bodyPr wrap="square"/>
                    <a:lstStyle/>
                    <a:p>
                      <a:pPr algn="ctr"/>
                      <a:r>
                        <a:rPr sz="1000" b="0">
                          <a:solidFill>
                            <a:srgbClr val="D9821E"/>
                          </a:solidFill>
                          <a:latin typeface="Segoe UI"/>
                        </a:rPr>
                        <a:t>at limit</a:t>
                      </a:r>
                    </a:p>
                  </a:txBody>
                  <a:tcPr marL="54864" marR="54864" marT="18288" marB="18288" anchor="ctr">
                    <a:solidFill>
                      <a:srgbClr val="F6F8FA"/>
                    </a:solidFill>
                  </a:tcPr>
                </a:tc>
                <a:tc>
                  <a:txBody>
                    <a:bodyPr wrap="square"/>
                    <a:lstStyle/>
                    <a:p>
                      <a:pPr algn="ctr"/>
                      <a:r>
                        <a:rPr sz="1000" b="0">
                          <a:solidFill>
                            <a:srgbClr val="2E7D32"/>
                          </a:solidFill>
                          <a:latin typeface="Segoe UI"/>
                        </a:rPr>
                        <a:t>PASS</a:t>
                      </a:r>
                    </a:p>
                  </a:txBody>
                  <a:tcPr marL="54864" marR="54864" marT="18288" marB="18288" anchor="ctr">
                    <a:solidFill>
                      <a:srgbClr val="F6F8FA"/>
                    </a:solidFill>
                  </a:tcPr>
                </a:tc>
              </a:tr>
              <a:tr h="365760">
                <a:tc>
                  <a:txBody>
                    <a:bodyPr wrap="square"/>
                    <a:lstStyle/>
                    <a:p>
                      <a:pPr algn="l"/>
                      <a:r>
                        <a:rPr sz="1000" b="0">
                          <a:solidFill>
                            <a:srgbClr val="1E2833"/>
                          </a:solidFill>
                          <a:latin typeface="Segoe UI"/>
                        </a:rPr>
                        <a:t>Payload compute fit</a:t>
                      </a:r>
                    </a:p>
                  </a:txBody>
                  <a:tcPr marL="54864" marR="54864" marT="18288" marB="18288" anchor="ctr">
                    <a:solidFill>
                      <a:srgbClr val="FFFFFF"/>
                    </a:solidFill>
                  </a:tcPr>
                </a:tc>
                <a:tc>
                  <a:txBody>
                    <a:bodyPr wrap="square"/>
                    <a:lstStyle/>
                    <a:p>
                      <a:pPr algn="l"/>
                      <a:r>
                        <a:rPr sz="1000" b="0">
                          <a:solidFill>
                            <a:srgbClr val="1E2833"/>
                          </a:solidFill>
                          <a:latin typeface="Segoe UI"/>
                        </a:rPr>
                        <a:t>Deck ≥ SBC footprint</a:t>
                      </a:r>
                    </a:p>
                  </a:txBody>
                  <a:tcPr marL="54864" marR="54864" marT="18288" marB="18288" anchor="ctr">
                    <a:solidFill>
                      <a:srgbClr val="FFFFFF"/>
                    </a:solidFill>
                  </a:tcPr>
                </a:tc>
                <a:tc>
                  <a:txBody>
                    <a:bodyPr wrap="square"/>
                    <a:lstStyle/>
                    <a:p>
                      <a:pPr algn="l"/>
                      <a:r>
                        <a:rPr sz="1000" b="0">
                          <a:solidFill>
                            <a:srgbClr val="1E2833"/>
                          </a:solidFill>
                          <a:latin typeface="Segoe UI"/>
                        </a:rPr>
                        <a:t>110×70 vs 90×62 mm</a:t>
                      </a:r>
                    </a:p>
                  </a:txBody>
                  <a:tcPr marL="54864" marR="54864" marT="18288" marB="18288" anchor="ctr">
                    <a:solidFill>
                      <a:srgbClr val="FFFFFF"/>
                    </a:solidFill>
                  </a:tcPr>
                </a:tc>
                <a:tc>
                  <a:txBody>
                    <a:bodyPr wrap="square"/>
                    <a:lstStyle/>
                    <a:p>
                      <a:pPr algn="ctr"/>
                      <a:r>
                        <a:rPr sz="1000" b="0">
                          <a:solidFill>
                            <a:srgbClr val="2E7D32"/>
                          </a:solidFill>
                          <a:latin typeface="Segoe UI"/>
                        </a:rPr>
                        <a:t>+8 mm</a:t>
                      </a:r>
                    </a:p>
                  </a:txBody>
                  <a:tcPr marL="54864" marR="54864" marT="18288" marB="18288" anchor="ctr">
                    <a:solidFill>
                      <a:srgbClr val="FFFFFF"/>
                    </a:solidFill>
                  </a:tcPr>
                </a:tc>
                <a:tc>
                  <a:txBody>
                    <a:bodyPr wrap="square"/>
                    <a:lstStyle/>
                    <a:p>
                      <a:pPr algn="ctr"/>
                      <a:r>
                        <a:rPr sz="1000" b="0">
                          <a:solidFill>
                            <a:srgbClr val="2E7D32"/>
                          </a:solidFill>
                          <a:latin typeface="Segoe UI"/>
                        </a:rPr>
                        <a:t>PASS*</a:t>
                      </a:r>
                    </a:p>
                  </a:txBody>
                  <a:tcPr marL="54864" marR="54864" marT="18288" marB="18288" anchor="ctr">
                    <a:solidFill>
                      <a:srgbClr val="FFFFFF"/>
                    </a:solidFill>
                  </a:tcPr>
                </a:tc>
              </a:tr>
              <a:tr h="365760">
                <a:tc>
                  <a:txBody>
                    <a:bodyPr wrap="square"/>
                    <a:lstStyle/>
                    <a:p>
                      <a:pPr algn="l"/>
                      <a:r>
                        <a:rPr sz="1000" b="0">
                          <a:solidFill>
                            <a:srgbClr val="1E2833"/>
                          </a:solidFill>
                          <a:latin typeface="Segoe UI"/>
                        </a:rPr>
                        <a:t>Cruise speed</a:t>
                      </a:r>
                    </a:p>
                  </a:txBody>
                  <a:tcPr marL="54864" marR="54864" marT="18288" marB="18288" anchor="ctr">
                    <a:solidFill>
                      <a:srgbClr val="F6F8FA"/>
                    </a:solidFill>
                  </a:tcPr>
                </a:tc>
                <a:tc>
                  <a:txBody>
                    <a:bodyPr wrap="square"/>
                    <a:lstStyle/>
                    <a:p>
                      <a:pPr algn="l"/>
                      <a:r>
                        <a:rPr sz="1000" b="0">
                          <a:solidFill>
                            <a:srgbClr val="1E2833"/>
                          </a:solidFill>
                          <a:latin typeface="Segoe UI"/>
                        </a:rPr>
                        <a:t>R2 = 2.23 m/s</a:t>
                      </a:r>
                    </a:p>
                  </a:txBody>
                  <a:tcPr marL="54864" marR="54864" marT="18288" marB="18288" anchor="ctr">
                    <a:solidFill>
                      <a:srgbClr val="F6F8FA"/>
                    </a:solidFill>
                  </a:tcPr>
                </a:tc>
                <a:tc>
                  <a:txBody>
                    <a:bodyPr wrap="square"/>
                    <a:lstStyle/>
                    <a:p>
                      <a:pPr algn="l"/>
                      <a:r>
                        <a:rPr sz="1000" b="0">
                          <a:solidFill>
                            <a:srgbClr val="1E2833"/>
                          </a:solidFill>
                          <a:latin typeface="Segoe UI"/>
                        </a:rPr>
                        <a:t>design point (control-tuned)</a:t>
                      </a:r>
                    </a:p>
                  </a:txBody>
                  <a:tcPr marL="54864" marR="54864" marT="18288" marB="18288" anchor="ctr">
                    <a:solidFill>
                      <a:srgbClr val="F6F8FA"/>
                    </a:solidFill>
                  </a:tcPr>
                </a:tc>
                <a:tc>
                  <a:txBody>
                    <a:bodyPr wrap="square"/>
                    <a:lstStyle/>
                    <a:p>
                      <a:pPr algn="ctr"/>
                      <a:r>
                        <a:rPr sz="1000" b="0">
                          <a:solidFill>
                            <a:srgbClr val="D9821E"/>
                          </a:solidFill>
                          <a:latin typeface="Segoe UI"/>
                        </a:rPr>
                        <a:t>—</a:t>
                      </a:r>
                    </a:p>
                  </a:txBody>
                  <a:tcPr marL="54864" marR="54864" marT="18288" marB="18288" anchor="ctr">
                    <a:solidFill>
                      <a:srgbClr val="F6F8FA"/>
                    </a:solidFill>
                  </a:tcPr>
                </a:tc>
                <a:tc>
                  <a:txBody>
                    <a:bodyPr wrap="square"/>
                    <a:lstStyle/>
                    <a:p>
                      <a:pPr algn="ctr"/>
                      <a:r>
                        <a:rPr sz="1000" b="0">
                          <a:solidFill>
                            <a:srgbClr val="1F3A5F"/>
                          </a:solidFill>
                          <a:latin typeface="Segoe UI"/>
                        </a:rPr>
                        <a:t>PLANNED</a:t>
                      </a:r>
                    </a:p>
                  </a:txBody>
                  <a:tcPr marL="54864" marR="54864" marT="18288" marB="18288" anchor="ctr">
                    <a:solidFill>
                      <a:srgbClr val="F6F8FA"/>
                    </a:solidFill>
                  </a:tcPr>
                </a:tc>
              </a:tr>
            </a:tbl>
          </a:graphicData>
        </a:graphic>
      </p:graphicFrame>
      <p:sp>
        <p:nvSpPr>
          <p:cNvPr id="11" name="TextBox 10"/>
          <p:cNvSpPr txBox="1"/>
          <p:nvPr/>
        </p:nvSpPr>
        <p:spPr>
          <a:xfrm>
            <a:off x="566928" y="6355080"/>
            <a:ext cx="11055096"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1">
                <a:solidFill>
                  <a:srgbClr val="5C6B7A"/>
                </a:solidFill>
                <a:latin typeface="Segoe UI"/>
              </a:rPr>
              <a:t>SV-7 (DoDAF Systems Measures). All hard requirements met with margin; only the R8 stretch endurance is not met (documented). *Compute fit is marginal (custom deck); speed is a control-tuned target verified by flight test.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2761488"/>
            <a:ext cx="50292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331720"/>
            <a:ext cx="11055096"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8FC5E0"/>
                </a:solidFill>
                <a:latin typeface="Segoe UI"/>
              </a:rPr>
              <a:t>SECTION 5</a:t>
            </a:r>
          </a:p>
        </p:txBody>
      </p:sp>
      <p:sp>
        <p:nvSpPr>
          <p:cNvPr id="6" name="TextBox 5"/>
          <p:cNvSpPr txBox="1"/>
          <p:nvPr/>
        </p:nvSpPr>
        <p:spPr>
          <a:xfrm>
            <a:off x="566928" y="2880360"/>
            <a:ext cx="11055096" cy="1097280"/>
          </a:xfrm>
          <a:prstGeom prst="rect">
            <a:avLst/>
          </a:prstGeom>
          <a:noFill/>
        </p:spPr>
        <p:txBody>
          <a:bodyPr wrap="square" anchor="t" lIns="0" rIns="0" tIns="0" bIns="0">
            <a:spAutoFit/>
          </a:bodyPr>
          <a:lstStyle/>
          <a:p>
            <a:pPr algn="l">
              <a:lnSpc>
                <a:spcPct val="100000"/>
              </a:lnSpc>
              <a:spcBef>
                <a:spcPts val="0"/>
              </a:spcBef>
              <a:spcAft>
                <a:spcPts val="400"/>
              </a:spcAft>
            </a:pPr>
            <a:r>
              <a:rPr sz="4000" b="1" i="0">
                <a:solidFill>
                  <a:srgbClr val="FFFFFF"/>
                </a:solidFill>
                <a:latin typeface="Segoe UI"/>
              </a:rPr>
              <a:t>Verification, Risk &amp; Closure</a:t>
            </a:r>
          </a:p>
        </p:txBody>
      </p:sp>
      <p:sp>
        <p:nvSpPr>
          <p:cNvPr id="7" name="TextBox 6"/>
          <p:cNvSpPr txBox="1"/>
          <p:nvPr/>
        </p:nvSpPr>
        <p:spPr>
          <a:xfrm>
            <a:off x="566928" y="3977639"/>
            <a:ext cx="9601200" cy="1097280"/>
          </a:xfrm>
          <a:prstGeom prst="rect">
            <a:avLst/>
          </a:prstGeom>
          <a:noFill/>
        </p:spPr>
        <p:txBody>
          <a:bodyPr wrap="square" anchor="t" lIns="0" rIns="0" tIns="0" bIns="0">
            <a:spAutoFit/>
          </a:bodyPr>
          <a:lstStyle/>
          <a:p>
            <a:pPr algn="l">
              <a:lnSpc>
                <a:spcPct val="115000"/>
              </a:lnSpc>
              <a:spcBef>
                <a:spcPts val="0"/>
              </a:spcBef>
              <a:spcAft>
                <a:spcPts val="400"/>
              </a:spcAft>
            </a:pPr>
            <a:r>
              <a:rPr sz="1500" b="0" i="0">
                <a:solidFill>
                  <a:srgbClr val="B9CBDB"/>
                </a:solidFill>
                <a:latin typeface="Segoe UI"/>
              </a:rPr>
              <a:t>How each requirement will be verified, the manufacturing approach, the risk posture, remaining open items, and the CDR exit assessment.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5 · CLOSURE</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Verification Cross-Reference Matrix (VCRM)</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35</a:t>
            </a:r>
          </a:p>
        </p:txBody>
      </p:sp>
      <p:sp>
        <p:nvSpPr>
          <p:cNvPr id="9" name="TextBox 8"/>
          <p:cNvSpPr txBox="1"/>
          <p:nvPr/>
        </p:nvSpPr>
        <p:spPr>
          <a:xfrm>
            <a:off x="566928" y="1170432"/>
            <a:ext cx="11055096"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5C6B7A"/>
                </a:solidFill>
                <a:latin typeface="Segoe UI"/>
              </a:rPr>
              <a:t>At CDR, design compliance is shown by analysis; demonstration/test are planned and gated at the Test Readiness Review.</a:t>
            </a:r>
          </a:p>
        </p:txBody>
      </p:sp>
      <p:graphicFrame>
        <p:nvGraphicFramePr>
          <p:cNvPr id="10" name="Table 9"/>
          <p:cNvGraphicFramePr>
            <a:graphicFrameLocks noGrp="1"/>
          </p:cNvGraphicFramePr>
          <p:nvPr/>
        </p:nvGraphicFramePr>
        <p:xfrm>
          <a:off x="566928" y="1572768"/>
          <a:ext cx="11055096" cy="3931920"/>
        </p:xfrm>
        <a:graphic>
          <a:graphicData uri="http://schemas.openxmlformats.org/drawingml/2006/table">
            <a:tbl>
              <a:tblPr>
                <a:tableStyleId>{5C22544A-7EE6-4342-B048-85BDC9FD1C3A}</a:tableStyleId>
              </a:tblPr>
              <a:tblGrid>
                <a:gridCol w="822960"/>
                <a:gridCol w="2743200"/>
                <a:gridCol w="1051560"/>
                <a:gridCol w="3657600"/>
                <a:gridCol w="2779776"/>
              </a:tblGrid>
              <a:tr h="310896">
                <a:tc>
                  <a:txBody>
                    <a:bodyPr wrap="square"/>
                    <a:lstStyle/>
                    <a:p>
                      <a:pPr algn="ctr"/>
                      <a:r>
                        <a:rPr sz="1050" b="1">
                          <a:solidFill>
                            <a:srgbClr val="FFFFFF"/>
                          </a:solidFill>
                          <a:latin typeface="Segoe UI"/>
                        </a:rPr>
                        <a:t>Req</a:t>
                      </a:r>
                    </a:p>
                  </a:txBody>
                  <a:tcPr marL="54864" marR="54864" marT="18288" marB="18288" anchor="ctr">
                    <a:solidFill>
                      <a:srgbClr val="0F2540"/>
                    </a:solidFill>
                  </a:tcPr>
                </a:tc>
                <a:tc>
                  <a:txBody>
                    <a:bodyPr wrap="square"/>
                    <a:lstStyle/>
                    <a:p>
                      <a:pPr algn="l"/>
                      <a:r>
                        <a:rPr sz="1050" b="1">
                          <a:solidFill>
                            <a:srgbClr val="FFFFFF"/>
                          </a:solidFill>
                          <a:latin typeface="Segoe UI"/>
                        </a:rPr>
                        <a:t>Requirement</a:t>
                      </a:r>
                    </a:p>
                  </a:txBody>
                  <a:tcPr marL="54864" marR="54864" marT="18288" marB="18288" anchor="ctr">
                    <a:solidFill>
                      <a:srgbClr val="0F2540"/>
                    </a:solidFill>
                  </a:tcPr>
                </a:tc>
                <a:tc>
                  <a:txBody>
                    <a:bodyPr wrap="square"/>
                    <a:lstStyle/>
                    <a:p>
                      <a:pPr algn="ctr"/>
                      <a:r>
                        <a:rPr sz="1050" b="1">
                          <a:solidFill>
                            <a:srgbClr val="FFFFFF"/>
                          </a:solidFill>
                          <a:latin typeface="Segoe UI"/>
                        </a:rPr>
                        <a:t>Method</a:t>
                      </a:r>
                    </a:p>
                  </a:txBody>
                  <a:tcPr marL="54864" marR="54864" marT="18288" marB="18288" anchor="ctr">
                    <a:solidFill>
                      <a:srgbClr val="0F2540"/>
                    </a:solidFill>
                  </a:tcPr>
                </a:tc>
                <a:tc>
                  <a:txBody>
                    <a:bodyPr wrap="square"/>
                    <a:lstStyle/>
                    <a:p>
                      <a:pPr algn="l"/>
                      <a:r>
                        <a:rPr sz="1050" b="1">
                          <a:solidFill>
                            <a:srgbClr val="FFFFFF"/>
                          </a:solidFill>
                          <a:latin typeface="Segoe UI"/>
                        </a:rPr>
                        <a:t>Verification approach</a:t>
                      </a:r>
                    </a:p>
                  </a:txBody>
                  <a:tcPr marL="54864" marR="54864" marT="18288" marB="18288" anchor="ctr">
                    <a:solidFill>
                      <a:srgbClr val="0F2540"/>
                    </a:solidFill>
                  </a:tcPr>
                </a:tc>
                <a:tc>
                  <a:txBody>
                    <a:bodyPr wrap="square"/>
                    <a:lstStyle/>
                    <a:p>
                      <a:pPr algn="l"/>
                      <a:r>
                        <a:rPr sz="1050" b="1">
                          <a:solidFill>
                            <a:srgbClr val="FFFFFF"/>
                          </a:solidFill>
                          <a:latin typeface="Segoe UI"/>
                        </a:rPr>
                        <a:t>Status @ CDR</a:t>
                      </a:r>
                    </a:p>
                  </a:txBody>
                  <a:tcPr marL="54864" marR="54864" marT="18288" marB="18288" anchor="ctr">
                    <a:solidFill>
                      <a:srgbClr val="0F2540"/>
                    </a:solidFill>
                  </a:tcPr>
                </a:tc>
              </a:tr>
              <a:tr h="402336">
                <a:tc>
                  <a:txBody>
                    <a:bodyPr wrap="square"/>
                    <a:lstStyle/>
                    <a:p>
                      <a:pPr algn="ctr"/>
                      <a:r>
                        <a:rPr sz="1000" b="0">
                          <a:solidFill>
                            <a:srgbClr val="1E2833"/>
                          </a:solidFill>
                          <a:latin typeface="Segoe UI"/>
                        </a:rPr>
                        <a:t>R1</a:t>
                      </a:r>
                    </a:p>
                  </a:txBody>
                  <a:tcPr marL="54864" marR="54864" marT="18288" marB="18288" anchor="ctr">
                    <a:solidFill>
                      <a:srgbClr val="FFFFFF"/>
                    </a:solidFill>
                  </a:tcPr>
                </a:tc>
                <a:tc>
                  <a:txBody>
                    <a:bodyPr wrap="square"/>
                    <a:lstStyle/>
                    <a:p>
                      <a:pPr algn="l"/>
                      <a:r>
                        <a:rPr sz="1000" b="0">
                          <a:solidFill>
                            <a:srgbClr val="1E2833"/>
                          </a:solidFill>
                          <a:latin typeface="Segoe UI"/>
                        </a:rPr>
                        <a:t>90–120 m AGL altitude hold</a:t>
                      </a:r>
                    </a:p>
                  </a:txBody>
                  <a:tcPr marL="54864" marR="54864" marT="18288" marB="18288" anchor="ctr">
                    <a:solidFill>
                      <a:srgbClr val="FFFFFF"/>
                    </a:solidFill>
                  </a:tcPr>
                </a:tc>
                <a:tc>
                  <a:txBody>
                    <a:bodyPr wrap="square"/>
                    <a:lstStyle/>
                    <a:p>
                      <a:pPr algn="ctr"/>
                      <a:r>
                        <a:rPr sz="1000" b="0">
                          <a:solidFill>
                            <a:srgbClr val="1E2833"/>
                          </a:solidFill>
                          <a:latin typeface="Segoe UI"/>
                        </a:rPr>
                        <a:t>A, T</a:t>
                      </a:r>
                    </a:p>
                  </a:txBody>
                  <a:tcPr marL="54864" marR="54864" marT="18288" marB="18288" anchor="ctr">
                    <a:solidFill>
                      <a:srgbClr val="FFFFFF"/>
                    </a:solidFill>
                  </a:tcPr>
                </a:tc>
                <a:tc>
                  <a:txBody>
                    <a:bodyPr wrap="square"/>
                    <a:lstStyle/>
                    <a:p>
                      <a:pPr algn="l"/>
                      <a:r>
                        <a:rPr sz="1000" b="0">
                          <a:solidFill>
                            <a:srgbClr val="1E2833"/>
                          </a:solidFill>
                          <a:latin typeface="Segoe UI"/>
                        </a:rPr>
                        <a:t>Control-loop analysis; logged flight test</a:t>
                      </a:r>
                    </a:p>
                  </a:txBody>
                  <a:tcPr marL="54864" marR="54864" marT="18288" marB="18288" anchor="ctr">
                    <a:solidFill>
                      <a:srgbClr val="FFFFFF"/>
                    </a:solidFill>
                  </a:tcPr>
                </a:tc>
                <a:tc>
                  <a:txBody>
                    <a:bodyPr wrap="square"/>
                    <a:lstStyle/>
                    <a:p>
                      <a:pPr algn="l"/>
                      <a:r>
                        <a:rPr sz="1000" b="0">
                          <a:solidFill>
                            <a:srgbClr val="1F3A5F"/>
                          </a:solidFill>
                          <a:latin typeface="Segoe UI"/>
                        </a:rPr>
                        <a:t>Analysis ✓ · Test planned</a:t>
                      </a:r>
                    </a:p>
                  </a:txBody>
                  <a:tcPr marL="54864" marR="54864" marT="18288" marB="18288" anchor="ctr">
                    <a:solidFill>
                      <a:srgbClr val="FFFFFF"/>
                    </a:solidFill>
                  </a:tcPr>
                </a:tc>
              </a:tr>
              <a:tr h="402336">
                <a:tc>
                  <a:txBody>
                    <a:bodyPr wrap="square"/>
                    <a:lstStyle/>
                    <a:p>
                      <a:pPr algn="ctr"/>
                      <a:r>
                        <a:rPr sz="1000" b="0">
                          <a:solidFill>
                            <a:srgbClr val="1E2833"/>
                          </a:solidFill>
                          <a:latin typeface="Segoe UI"/>
                        </a:rPr>
                        <a:t>R2</a:t>
                      </a:r>
                    </a:p>
                  </a:txBody>
                  <a:tcPr marL="54864" marR="54864" marT="18288" marB="18288" anchor="ctr">
                    <a:solidFill>
                      <a:srgbClr val="F6F8FA"/>
                    </a:solidFill>
                  </a:tcPr>
                </a:tc>
                <a:tc>
                  <a:txBody>
                    <a:bodyPr wrap="square"/>
                    <a:lstStyle/>
                    <a:p>
                      <a:pPr algn="l"/>
                      <a:r>
                        <a:rPr sz="1000" b="0">
                          <a:solidFill>
                            <a:srgbClr val="1E2833"/>
                          </a:solidFill>
                          <a:latin typeface="Segoe UI"/>
                        </a:rPr>
                        <a:t>2.23 m/s ground speed</a:t>
                      </a:r>
                    </a:p>
                  </a:txBody>
                  <a:tcPr marL="54864" marR="54864" marT="18288" marB="18288" anchor="ctr">
                    <a:solidFill>
                      <a:srgbClr val="F6F8FA"/>
                    </a:solidFill>
                  </a:tcPr>
                </a:tc>
                <a:tc>
                  <a:txBody>
                    <a:bodyPr wrap="square"/>
                    <a:lstStyle/>
                    <a:p>
                      <a:pPr algn="ctr"/>
                      <a:r>
                        <a:rPr sz="1000" b="0">
                          <a:solidFill>
                            <a:srgbClr val="1E2833"/>
                          </a:solidFill>
                          <a:latin typeface="Segoe UI"/>
                        </a:rPr>
                        <a:t>A, T</a:t>
                      </a:r>
                    </a:p>
                  </a:txBody>
                  <a:tcPr marL="54864" marR="54864" marT="18288" marB="18288" anchor="ctr">
                    <a:solidFill>
                      <a:srgbClr val="F6F8FA"/>
                    </a:solidFill>
                  </a:tcPr>
                </a:tc>
                <a:tc>
                  <a:txBody>
                    <a:bodyPr wrap="square"/>
                    <a:lstStyle/>
                    <a:p>
                      <a:pPr algn="l"/>
                      <a:r>
                        <a:rPr sz="1000" b="0">
                          <a:solidFill>
                            <a:srgbClr val="1E2833"/>
                          </a:solidFill>
                          <a:latin typeface="Segoe UI"/>
                        </a:rPr>
                        <a:t>Analysis; logged flight test</a:t>
                      </a:r>
                    </a:p>
                  </a:txBody>
                  <a:tcPr marL="54864" marR="54864" marT="18288" marB="18288" anchor="ctr">
                    <a:solidFill>
                      <a:srgbClr val="F6F8FA"/>
                    </a:solidFill>
                  </a:tcPr>
                </a:tc>
                <a:tc>
                  <a:txBody>
                    <a:bodyPr wrap="square"/>
                    <a:lstStyle/>
                    <a:p>
                      <a:pPr algn="l"/>
                      <a:r>
                        <a:rPr sz="1000" b="0">
                          <a:solidFill>
                            <a:srgbClr val="1F3A5F"/>
                          </a:solidFill>
                          <a:latin typeface="Segoe UI"/>
                        </a:rPr>
                        <a:t>Analysis ✓ · Test planned</a:t>
                      </a:r>
                    </a:p>
                  </a:txBody>
                  <a:tcPr marL="54864" marR="54864" marT="18288" marB="18288" anchor="ctr">
                    <a:solidFill>
                      <a:srgbClr val="F6F8FA"/>
                    </a:solidFill>
                  </a:tcPr>
                </a:tc>
              </a:tr>
              <a:tr h="402336">
                <a:tc>
                  <a:txBody>
                    <a:bodyPr wrap="square"/>
                    <a:lstStyle/>
                    <a:p>
                      <a:pPr algn="ctr"/>
                      <a:r>
                        <a:rPr sz="1000" b="0">
                          <a:solidFill>
                            <a:srgbClr val="1E2833"/>
                          </a:solidFill>
                          <a:latin typeface="Segoe UI"/>
                        </a:rPr>
                        <a:t>R3.1</a:t>
                      </a:r>
                    </a:p>
                  </a:txBody>
                  <a:tcPr marL="54864" marR="54864" marT="18288" marB="18288" anchor="ctr">
                    <a:solidFill>
                      <a:srgbClr val="FFFFFF"/>
                    </a:solidFill>
                  </a:tcPr>
                </a:tc>
                <a:tc>
                  <a:txBody>
                    <a:bodyPr wrap="square"/>
                    <a:lstStyle/>
                    <a:p>
                      <a:pPr algn="l"/>
                      <a:r>
                        <a:rPr sz="1000" b="0">
                          <a:solidFill>
                            <a:srgbClr val="1E2833"/>
                          </a:solidFill>
                          <a:latin typeface="Segoe UI"/>
                        </a:rPr>
                        <a:t>Detect target @ 120 m</a:t>
                      </a:r>
                    </a:p>
                  </a:txBody>
                  <a:tcPr marL="54864" marR="54864" marT="18288" marB="18288" anchor="ctr">
                    <a:solidFill>
                      <a:srgbClr val="FFFFFF"/>
                    </a:solidFill>
                  </a:tcPr>
                </a:tc>
                <a:tc>
                  <a:txBody>
                    <a:bodyPr wrap="square"/>
                    <a:lstStyle/>
                    <a:p>
                      <a:pPr algn="ctr"/>
                      <a:r>
                        <a:rPr sz="1000" b="0">
                          <a:solidFill>
                            <a:srgbClr val="1E2833"/>
                          </a:solidFill>
                          <a:latin typeface="Segoe UI"/>
                        </a:rPr>
                        <a:t>A, D</a:t>
                      </a:r>
                    </a:p>
                  </a:txBody>
                  <a:tcPr marL="54864" marR="54864" marT="18288" marB="18288" anchor="ctr">
                    <a:solidFill>
                      <a:srgbClr val="FFFFFF"/>
                    </a:solidFill>
                  </a:tcPr>
                </a:tc>
                <a:tc>
                  <a:txBody>
                    <a:bodyPr wrap="square"/>
                    <a:lstStyle/>
                    <a:p>
                      <a:pPr algn="l"/>
                      <a:r>
                        <a:rPr sz="1000" b="0">
                          <a:solidFill>
                            <a:srgbClr val="1E2833"/>
                          </a:solidFill>
                          <a:latin typeface="Segoe UI"/>
                        </a:rPr>
                        <a:t>Johnson-criteria analysis; field thermal demo</a:t>
                      </a:r>
                    </a:p>
                  </a:txBody>
                  <a:tcPr marL="54864" marR="54864" marT="18288" marB="18288" anchor="ctr">
                    <a:solidFill>
                      <a:srgbClr val="FFFFFF"/>
                    </a:solidFill>
                  </a:tcPr>
                </a:tc>
                <a:tc>
                  <a:txBody>
                    <a:bodyPr wrap="square"/>
                    <a:lstStyle/>
                    <a:p>
                      <a:pPr algn="l"/>
                      <a:r>
                        <a:rPr sz="1000" b="0">
                          <a:solidFill>
                            <a:srgbClr val="1F3A5F"/>
                          </a:solidFill>
                          <a:latin typeface="Segoe UI"/>
                        </a:rPr>
                        <a:t>Analysis ✓ · Demo planned</a:t>
                      </a:r>
                    </a:p>
                  </a:txBody>
                  <a:tcPr marL="54864" marR="54864" marT="18288" marB="18288" anchor="ctr">
                    <a:solidFill>
                      <a:srgbClr val="FFFFFF"/>
                    </a:solidFill>
                  </a:tcPr>
                </a:tc>
              </a:tr>
              <a:tr h="402336">
                <a:tc>
                  <a:txBody>
                    <a:bodyPr wrap="square"/>
                    <a:lstStyle/>
                    <a:p>
                      <a:pPr algn="ctr"/>
                      <a:r>
                        <a:rPr sz="1000" b="0">
                          <a:solidFill>
                            <a:srgbClr val="1E2833"/>
                          </a:solidFill>
                          <a:latin typeface="Segoe UI"/>
                        </a:rPr>
                        <a:t>R3.2</a:t>
                      </a:r>
                    </a:p>
                  </a:txBody>
                  <a:tcPr marL="54864" marR="54864" marT="18288" marB="18288" anchor="ctr">
                    <a:solidFill>
                      <a:srgbClr val="F6F8FA"/>
                    </a:solidFill>
                  </a:tcPr>
                </a:tc>
                <a:tc>
                  <a:txBody>
                    <a:bodyPr wrap="square"/>
                    <a:lstStyle/>
                    <a:p>
                      <a:pPr algn="l"/>
                      <a:r>
                        <a:rPr sz="1000" b="0">
                          <a:solidFill>
                            <a:srgbClr val="1E2833"/>
                          </a:solidFill>
                          <a:latin typeface="Segoe UI"/>
                        </a:rPr>
                        <a:t>Classify species @ 90 m</a:t>
                      </a:r>
                    </a:p>
                  </a:txBody>
                  <a:tcPr marL="54864" marR="54864" marT="18288" marB="18288" anchor="ctr">
                    <a:solidFill>
                      <a:srgbClr val="F6F8FA"/>
                    </a:solidFill>
                  </a:tcPr>
                </a:tc>
                <a:tc>
                  <a:txBody>
                    <a:bodyPr wrap="square"/>
                    <a:lstStyle/>
                    <a:p>
                      <a:pPr algn="ctr"/>
                      <a:r>
                        <a:rPr sz="1000" b="0">
                          <a:solidFill>
                            <a:srgbClr val="1E2833"/>
                          </a:solidFill>
                          <a:latin typeface="Segoe UI"/>
                        </a:rPr>
                        <a:t>A, D, T</a:t>
                      </a:r>
                    </a:p>
                  </a:txBody>
                  <a:tcPr marL="54864" marR="54864" marT="18288" marB="18288" anchor="ctr">
                    <a:solidFill>
                      <a:srgbClr val="F6F8FA"/>
                    </a:solidFill>
                  </a:tcPr>
                </a:tc>
                <a:tc>
                  <a:txBody>
                    <a:bodyPr wrap="square"/>
                    <a:lstStyle/>
                    <a:p>
                      <a:pPr algn="l"/>
                      <a:r>
                        <a:rPr sz="1000" b="0">
                          <a:solidFill>
                            <a:srgbClr val="1E2833"/>
                          </a:solidFill>
                          <a:latin typeface="Segoe UI"/>
                        </a:rPr>
                        <a:t>AI-model eval + field capture</a:t>
                      </a:r>
                    </a:p>
                  </a:txBody>
                  <a:tcPr marL="54864" marR="54864" marT="18288" marB="18288" anchor="ctr">
                    <a:solidFill>
                      <a:srgbClr val="F6F8FA"/>
                    </a:solidFill>
                  </a:tcPr>
                </a:tc>
                <a:tc>
                  <a:txBody>
                    <a:bodyPr wrap="square"/>
                    <a:lstStyle/>
                    <a:p>
                      <a:pPr algn="l"/>
                      <a:r>
                        <a:rPr sz="1000" b="0">
                          <a:solidFill>
                            <a:srgbClr val="1F3A5F"/>
                          </a:solidFill>
                          <a:latin typeface="Segoe UI"/>
                        </a:rPr>
                        <a:t>Analysis ✓ · AI test planned</a:t>
                      </a:r>
                    </a:p>
                  </a:txBody>
                  <a:tcPr marL="54864" marR="54864" marT="18288" marB="18288" anchor="ctr">
                    <a:solidFill>
                      <a:srgbClr val="F6F8FA"/>
                    </a:solidFill>
                  </a:tcPr>
                </a:tc>
              </a:tr>
              <a:tr h="402336">
                <a:tc>
                  <a:txBody>
                    <a:bodyPr wrap="square"/>
                    <a:lstStyle/>
                    <a:p>
                      <a:pPr algn="ctr"/>
                      <a:r>
                        <a:rPr sz="1000" b="0">
                          <a:solidFill>
                            <a:srgbClr val="1E2833"/>
                          </a:solidFill>
                          <a:latin typeface="Segoe UI"/>
                        </a:rPr>
                        <a:t>R4</a:t>
                      </a:r>
                    </a:p>
                  </a:txBody>
                  <a:tcPr marL="54864" marR="54864" marT="18288" marB="18288" anchor="ctr">
                    <a:solidFill>
                      <a:srgbClr val="FFFFFF"/>
                    </a:solidFill>
                  </a:tcPr>
                </a:tc>
                <a:tc>
                  <a:txBody>
                    <a:bodyPr wrap="square"/>
                    <a:lstStyle/>
                    <a:p>
                      <a:pPr algn="l"/>
                      <a:r>
                        <a:rPr sz="1000" b="0">
                          <a:solidFill>
                            <a:srgbClr val="1E2833"/>
                          </a:solidFill>
                          <a:latin typeface="Segoe UI"/>
                        </a:rPr>
                        <a:t>System cost ≤ $2,500</a:t>
                      </a:r>
                    </a:p>
                  </a:txBody>
                  <a:tcPr marL="54864" marR="54864" marT="18288" marB="18288" anchor="ctr">
                    <a:solidFill>
                      <a:srgbClr val="FFFFFF"/>
                    </a:solidFill>
                  </a:tcPr>
                </a:tc>
                <a:tc>
                  <a:txBody>
                    <a:bodyPr wrap="square"/>
                    <a:lstStyle/>
                    <a:p>
                      <a:pPr algn="ctr"/>
                      <a:r>
                        <a:rPr sz="1000" b="0">
                          <a:solidFill>
                            <a:srgbClr val="1E2833"/>
                          </a:solidFill>
                          <a:latin typeface="Segoe UI"/>
                        </a:rPr>
                        <a:t>I</a:t>
                      </a:r>
                    </a:p>
                  </a:txBody>
                  <a:tcPr marL="54864" marR="54864" marT="18288" marB="18288" anchor="ctr">
                    <a:solidFill>
                      <a:srgbClr val="FFFFFF"/>
                    </a:solidFill>
                  </a:tcPr>
                </a:tc>
                <a:tc>
                  <a:txBody>
                    <a:bodyPr wrap="square"/>
                    <a:lstStyle/>
                    <a:p>
                      <a:pPr algn="l"/>
                      <a:r>
                        <a:rPr sz="1000" b="0">
                          <a:solidFill>
                            <a:srgbClr val="1E2833"/>
                          </a:solidFill>
                          <a:latin typeface="Segoe UI"/>
                        </a:rPr>
                        <a:t>BOM inspection</a:t>
                      </a:r>
                    </a:p>
                  </a:txBody>
                  <a:tcPr marL="54864" marR="54864" marT="18288" marB="18288" anchor="ctr">
                    <a:solidFill>
                      <a:srgbClr val="FFFFFF"/>
                    </a:solidFill>
                  </a:tcPr>
                </a:tc>
                <a:tc>
                  <a:txBody>
                    <a:bodyPr wrap="square"/>
                    <a:lstStyle/>
                    <a:p>
                      <a:pPr algn="l"/>
                      <a:r>
                        <a:rPr sz="1000" b="0">
                          <a:solidFill>
                            <a:srgbClr val="2E7D32"/>
                          </a:solidFill>
                          <a:latin typeface="Segoe UI"/>
                        </a:rPr>
                        <a:t>Verified ✓</a:t>
                      </a:r>
                    </a:p>
                  </a:txBody>
                  <a:tcPr marL="54864" marR="54864" marT="18288" marB="18288" anchor="ctr">
                    <a:solidFill>
                      <a:srgbClr val="FFFFFF"/>
                    </a:solidFill>
                  </a:tcPr>
                </a:tc>
              </a:tr>
              <a:tr h="402336">
                <a:tc>
                  <a:txBody>
                    <a:bodyPr wrap="square"/>
                    <a:lstStyle/>
                    <a:p>
                      <a:pPr algn="ctr"/>
                      <a:r>
                        <a:rPr sz="1000" b="0">
                          <a:solidFill>
                            <a:srgbClr val="1E2833"/>
                          </a:solidFill>
                          <a:latin typeface="Segoe UI"/>
                        </a:rPr>
                        <a:t>R5</a:t>
                      </a:r>
                    </a:p>
                  </a:txBody>
                  <a:tcPr marL="54864" marR="54864" marT="18288" marB="18288" anchor="ctr">
                    <a:solidFill>
                      <a:srgbClr val="F6F8FA"/>
                    </a:solidFill>
                  </a:tcPr>
                </a:tc>
                <a:tc>
                  <a:txBody>
                    <a:bodyPr wrap="square"/>
                    <a:lstStyle/>
                    <a:p>
                      <a:pPr algn="l"/>
                      <a:r>
                        <a:rPr sz="1000" b="0">
                          <a:solidFill>
                            <a:srgbClr val="1E2833"/>
                          </a:solidFill>
                          <a:latin typeface="Segoe UI"/>
                        </a:rPr>
                        <a:t>Minimize DIY soldering</a:t>
                      </a:r>
                    </a:p>
                  </a:txBody>
                  <a:tcPr marL="54864" marR="54864" marT="18288" marB="18288" anchor="ctr">
                    <a:solidFill>
                      <a:srgbClr val="F6F8FA"/>
                    </a:solidFill>
                  </a:tcPr>
                </a:tc>
                <a:tc>
                  <a:txBody>
                    <a:bodyPr wrap="square"/>
                    <a:lstStyle/>
                    <a:p>
                      <a:pPr algn="ctr"/>
                      <a:r>
                        <a:rPr sz="1000" b="0">
                          <a:solidFill>
                            <a:srgbClr val="1E2833"/>
                          </a:solidFill>
                          <a:latin typeface="Segoe UI"/>
                        </a:rPr>
                        <a:t>I</a:t>
                      </a:r>
                    </a:p>
                  </a:txBody>
                  <a:tcPr marL="54864" marR="54864" marT="18288" marB="18288" anchor="ctr">
                    <a:solidFill>
                      <a:srgbClr val="F6F8FA"/>
                    </a:solidFill>
                  </a:tcPr>
                </a:tc>
                <a:tc>
                  <a:txBody>
                    <a:bodyPr wrap="square"/>
                    <a:lstStyle/>
                    <a:p>
                      <a:pPr algn="l"/>
                      <a:r>
                        <a:rPr sz="1000" b="0">
                          <a:solidFill>
                            <a:srgbClr val="1E2833"/>
                          </a:solidFill>
                          <a:latin typeface="Segoe UI"/>
                        </a:rPr>
                        <a:t>Design inspection (PNP / pre-soldered)</a:t>
                      </a:r>
                    </a:p>
                  </a:txBody>
                  <a:tcPr marL="54864" marR="54864" marT="18288" marB="18288" anchor="ctr">
                    <a:solidFill>
                      <a:srgbClr val="F6F8FA"/>
                    </a:solidFill>
                  </a:tcPr>
                </a:tc>
                <a:tc>
                  <a:txBody>
                    <a:bodyPr wrap="square"/>
                    <a:lstStyle/>
                    <a:p>
                      <a:pPr algn="l"/>
                      <a:r>
                        <a:rPr sz="1000" b="0">
                          <a:solidFill>
                            <a:srgbClr val="2E7D32"/>
                          </a:solidFill>
                          <a:latin typeface="Segoe UI"/>
                        </a:rPr>
                        <a:t>Verified ✓</a:t>
                      </a:r>
                    </a:p>
                  </a:txBody>
                  <a:tcPr marL="54864" marR="54864" marT="18288" marB="18288" anchor="ctr">
                    <a:solidFill>
                      <a:srgbClr val="F6F8FA"/>
                    </a:solidFill>
                  </a:tcPr>
                </a:tc>
              </a:tr>
              <a:tr h="402336">
                <a:tc>
                  <a:txBody>
                    <a:bodyPr wrap="square"/>
                    <a:lstStyle/>
                    <a:p>
                      <a:pPr algn="ctr"/>
                      <a:r>
                        <a:rPr sz="1000" b="0">
                          <a:solidFill>
                            <a:srgbClr val="1E2833"/>
                          </a:solidFill>
                          <a:latin typeface="Segoe UI"/>
                        </a:rPr>
                        <a:t>R6</a:t>
                      </a:r>
                    </a:p>
                  </a:txBody>
                  <a:tcPr marL="54864" marR="54864" marT="18288" marB="18288" anchor="ctr">
                    <a:solidFill>
                      <a:srgbClr val="FFFFFF"/>
                    </a:solidFill>
                  </a:tcPr>
                </a:tc>
                <a:tc>
                  <a:txBody>
                    <a:bodyPr wrap="square"/>
                    <a:lstStyle/>
                    <a:p>
                      <a:pPr algn="l"/>
                      <a:r>
                        <a:rPr sz="1000" b="0">
                          <a:solidFill>
                            <a:srgbClr val="1E2833"/>
                          </a:solidFill>
                          <a:latin typeface="Segoe UI"/>
                        </a:rPr>
                        <a:t>≥ 30 min endurance</a:t>
                      </a:r>
                    </a:p>
                  </a:txBody>
                  <a:tcPr marL="54864" marR="54864" marT="18288" marB="18288" anchor="ctr">
                    <a:solidFill>
                      <a:srgbClr val="FFFFFF"/>
                    </a:solidFill>
                  </a:tcPr>
                </a:tc>
                <a:tc>
                  <a:txBody>
                    <a:bodyPr wrap="square"/>
                    <a:lstStyle/>
                    <a:p>
                      <a:pPr algn="ctr"/>
                      <a:r>
                        <a:rPr sz="1000" b="0">
                          <a:solidFill>
                            <a:srgbClr val="1E2833"/>
                          </a:solidFill>
                          <a:latin typeface="Segoe UI"/>
                        </a:rPr>
                        <a:t>A, T</a:t>
                      </a:r>
                    </a:p>
                  </a:txBody>
                  <a:tcPr marL="54864" marR="54864" marT="18288" marB="18288" anchor="ctr">
                    <a:solidFill>
                      <a:srgbClr val="FFFFFF"/>
                    </a:solidFill>
                  </a:tcPr>
                </a:tc>
                <a:tc>
                  <a:txBody>
                    <a:bodyPr wrap="square"/>
                    <a:lstStyle/>
                    <a:p>
                      <a:pPr algn="l"/>
                      <a:r>
                        <a:rPr sz="1000" b="0">
                          <a:solidFill>
                            <a:srgbClr val="1E2833"/>
                          </a:solidFill>
                          <a:latin typeface="Segoe UI"/>
                        </a:rPr>
                        <a:t>Endurance model; measured hover</a:t>
                      </a:r>
                    </a:p>
                  </a:txBody>
                  <a:tcPr marL="54864" marR="54864" marT="18288" marB="18288" anchor="ctr">
                    <a:solidFill>
                      <a:srgbClr val="FFFFFF"/>
                    </a:solidFill>
                  </a:tcPr>
                </a:tc>
                <a:tc>
                  <a:txBody>
                    <a:bodyPr wrap="square"/>
                    <a:lstStyle/>
                    <a:p>
                      <a:pPr algn="l"/>
                      <a:r>
                        <a:rPr sz="1000" b="0">
                          <a:solidFill>
                            <a:srgbClr val="1F3A5F"/>
                          </a:solidFill>
                          <a:latin typeface="Segoe UI"/>
                        </a:rPr>
                        <a:t>Analysis ✓ · Test planned</a:t>
                      </a:r>
                    </a:p>
                  </a:txBody>
                  <a:tcPr marL="54864" marR="54864" marT="18288" marB="18288" anchor="ctr">
                    <a:solidFill>
                      <a:srgbClr val="FFFFFF"/>
                    </a:solidFill>
                  </a:tcPr>
                </a:tc>
              </a:tr>
              <a:tr h="402336">
                <a:tc>
                  <a:txBody>
                    <a:bodyPr wrap="square"/>
                    <a:lstStyle/>
                    <a:p>
                      <a:pPr algn="ctr"/>
                      <a:r>
                        <a:rPr sz="1000" b="0">
                          <a:solidFill>
                            <a:srgbClr val="1E2833"/>
                          </a:solidFill>
                          <a:latin typeface="Segoe UI"/>
                        </a:rPr>
                        <a:t>R7</a:t>
                      </a:r>
                    </a:p>
                  </a:txBody>
                  <a:tcPr marL="54864" marR="54864" marT="18288" marB="18288" anchor="ctr">
                    <a:solidFill>
                      <a:srgbClr val="F6F8FA"/>
                    </a:solidFill>
                  </a:tcPr>
                </a:tc>
                <a:tc>
                  <a:txBody>
                    <a:bodyPr wrap="square"/>
                    <a:lstStyle/>
                    <a:p>
                      <a:pPr algn="l"/>
                      <a:r>
                        <a:rPr sz="1000" b="0">
                          <a:solidFill>
                            <a:srgbClr val="1E2833"/>
                          </a:solidFill>
                          <a:latin typeface="Segoe UI"/>
                        </a:rPr>
                        <a:t>2.8 km range in wind</a:t>
                      </a:r>
                    </a:p>
                  </a:txBody>
                  <a:tcPr marL="54864" marR="54864" marT="18288" marB="18288" anchor="ctr">
                    <a:solidFill>
                      <a:srgbClr val="F6F8FA"/>
                    </a:solidFill>
                  </a:tcPr>
                </a:tc>
                <a:tc>
                  <a:txBody>
                    <a:bodyPr wrap="square"/>
                    <a:lstStyle/>
                    <a:p>
                      <a:pPr algn="ctr"/>
                      <a:r>
                        <a:rPr sz="1000" b="0">
                          <a:solidFill>
                            <a:srgbClr val="1E2833"/>
                          </a:solidFill>
                          <a:latin typeface="Segoe UI"/>
                        </a:rPr>
                        <a:t>A, T</a:t>
                      </a:r>
                    </a:p>
                  </a:txBody>
                  <a:tcPr marL="54864" marR="54864" marT="18288" marB="18288" anchor="ctr">
                    <a:solidFill>
                      <a:srgbClr val="F6F8FA"/>
                    </a:solidFill>
                  </a:tcPr>
                </a:tc>
                <a:tc>
                  <a:txBody>
                    <a:bodyPr wrap="square"/>
                    <a:lstStyle/>
                    <a:p>
                      <a:pPr algn="l"/>
                      <a:r>
                        <a:rPr sz="1000" b="0">
                          <a:solidFill>
                            <a:srgbClr val="1E2833"/>
                          </a:solidFill>
                          <a:latin typeface="Segoe UI"/>
                        </a:rPr>
                        <a:t>FSPL link budget; range test</a:t>
                      </a:r>
                    </a:p>
                  </a:txBody>
                  <a:tcPr marL="54864" marR="54864" marT="18288" marB="18288" anchor="ctr">
                    <a:solidFill>
                      <a:srgbClr val="F6F8FA"/>
                    </a:solidFill>
                  </a:tcPr>
                </a:tc>
                <a:tc>
                  <a:txBody>
                    <a:bodyPr wrap="square"/>
                    <a:lstStyle/>
                    <a:p>
                      <a:pPr algn="l"/>
                      <a:r>
                        <a:rPr sz="1000" b="0">
                          <a:solidFill>
                            <a:srgbClr val="1F3A5F"/>
                          </a:solidFill>
                          <a:latin typeface="Segoe UI"/>
                        </a:rPr>
                        <a:t>Analysis ✓ · Test planned</a:t>
                      </a:r>
                    </a:p>
                  </a:txBody>
                  <a:tcPr marL="54864" marR="54864" marT="18288" marB="18288" anchor="ctr">
                    <a:solidFill>
                      <a:srgbClr val="F6F8FA"/>
                    </a:solidFill>
                  </a:tcPr>
                </a:tc>
              </a:tr>
              <a:tr h="402336">
                <a:tc>
                  <a:txBody>
                    <a:bodyPr wrap="square"/>
                    <a:lstStyle/>
                    <a:p>
                      <a:pPr algn="ctr"/>
                      <a:r>
                        <a:rPr sz="1000" b="0">
                          <a:solidFill>
                            <a:srgbClr val="1E2833"/>
                          </a:solidFill>
                          <a:latin typeface="Segoe UI"/>
                        </a:rPr>
                        <a:t>R8</a:t>
                      </a:r>
                    </a:p>
                  </a:txBody>
                  <a:tcPr marL="54864" marR="54864" marT="18288" marB="18288" anchor="ctr">
                    <a:solidFill>
                      <a:srgbClr val="FFFFFF"/>
                    </a:solidFill>
                  </a:tcPr>
                </a:tc>
                <a:tc>
                  <a:txBody>
                    <a:bodyPr wrap="square"/>
                    <a:lstStyle/>
                    <a:p>
                      <a:pPr algn="l"/>
                      <a:r>
                        <a:rPr sz="1000" b="0">
                          <a:solidFill>
                            <a:srgbClr val="1E2833"/>
                          </a:solidFill>
                          <a:latin typeface="Segoe UI"/>
                        </a:rPr>
                        <a:t>60 min stretch endurance</a:t>
                      </a:r>
                    </a:p>
                  </a:txBody>
                  <a:tcPr marL="54864" marR="54864" marT="18288" marB="18288" anchor="ctr">
                    <a:solidFill>
                      <a:srgbClr val="FFFFFF"/>
                    </a:solidFill>
                  </a:tcPr>
                </a:tc>
                <a:tc>
                  <a:txBody>
                    <a:bodyPr wrap="square"/>
                    <a:lstStyle/>
                    <a:p>
                      <a:pPr algn="ctr"/>
                      <a:r>
                        <a:rPr sz="1000" b="0">
                          <a:solidFill>
                            <a:srgbClr val="1E2833"/>
                          </a:solidFill>
                          <a:latin typeface="Segoe UI"/>
                        </a:rPr>
                        <a:t>A</a:t>
                      </a:r>
                    </a:p>
                  </a:txBody>
                  <a:tcPr marL="54864" marR="54864" marT="18288" marB="18288" anchor="ctr">
                    <a:solidFill>
                      <a:srgbClr val="FFFFFF"/>
                    </a:solidFill>
                  </a:tcPr>
                </a:tc>
                <a:tc>
                  <a:txBody>
                    <a:bodyPr wrap="square"/>
                    <a:lstStyle/>
                    <a:p>
                      <a:pPr algn="l"/>
                      <a:r>
                        <a:rPr sz="1000" b="0">
                          <a:solidFill>
                            <a:srgbClr val="1E2833"/>
                          </a:solidFill>
                          <a:latin typeface="Segoe UI"/>
                        </a:rPr>
                        <a:t>Endurance model</a:t>
                      </a:r>
                    </a:p>
                  </a:txBody>
                  <a:tcPr marL="54864" marR="54864" marT="18288" marB="18288" anchor="ctr">
                    <a:solidFill>
                      <a:srgbClr val="FFFFFF"/>
                    </a:solidFill>
                  </a:tcPr>
                </a:tc>
                <a:tc>
                  <a:txBody>
                    <a:bodyPr wrap="square"/>
                    <a:lstStyle/>
                    <a:p>
                      <a:pPr algn="l"/>
                      <a:r>
                        <a:rPr sz="1000" b="0">
                          <a:solidFill>
                            <a:srgbClr val="C12727"/>
                          </a:solidFill>
                          <a:latin typeface="Segoe UI"/>
                        </a:rPr>
                        <a:t>Not met (documented)</a:t>
                      </a:r>
                    </a:p>
                  </a:txBody>
                  <a:tcPr marL="54864" marR="54864" marT="18288" marB="18288" anchor="ctr">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5 · CLOSURE</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Manufacturing &amp; Producibility</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36</a:t>
            </a:r>
          </a:p>
        </p:txBody>
      </p:sp>
      <p:sp>
        <p:nvSpPr>
          <p:cNvPr id="9" name="TextBox 8"/>
          <p:cNvSpPr txBox="1"/>
          <p:nvPr/>
        </p:nvSpPr>
        <p:spPr>
          <a:xfrm>
            <a:off x="566928" y="1280160"/>
            <a:ext cx="5577840" cy="4663440"/>
          </a:xfrm>
          <a:prstGeom prst="rect">
            <a:avLst/>
          </a:prstGeom>
          <a:noFill/>
        </p:spPr>
        <p:txBody>
          <a:bodyPr wrap="square" anchor="t" lIns="0" rIns="0" tIns="0" bIns="0">
            <a:spAutoFit/>
          </a:bodyPr>
          <a:lstStyle/>
          <a:p>
            <a:pPr>
              <a:lnSpc>
                <a:spcPct val="104000"/>
              </a:lnSpc>
              <a:spcBef>
                <a:spcPts val="300"/>
              </a:spcBef>
              <a:spcAft>
                <a:spcPts val="300"/>
              </a:spcAft>
            </a:pPr>
            <a:r>
              <a:rPr sz="1400" b="1">
                <a:solidFill>
                  <a:srgbClr val="2E86AB"/>
                </a:solidFill>
                <a:latin typeface="Segoe UI"/>
              </a:rPr>
              <a:t>▸  </a:t>
            </a:r>
            <a:r>
              <a:rPr sz="1350" b="1">
                <a:solidFill>
                  <a:srgbClr val="0F2540"/>
                </a:solidFill>
                <a:latin typeface="Segoe UI"/>
              </a:rPr>
              <a:t>Minimize soldering (R5).  </a:t>
            </a:r>
            <a:r>
              <a:rPr sz="1350" b="0">
                <a:solidFill>
                  <a:srgbClr val="1E2833"/>
                </a:solidFill>
                <a:latin typeface="Segoe UI"/>
              </a:rPr>
              <a:t>PNP airframe ships with pre-soldered power distribution, plug-in connectors, and screw-terminal motors. The only solder joint in the committed build is the SBC UBEC's 12 V leads.</a:t>
            </a:r>
          </a:p>
          <a:p>
            <a:pPr>
              <a:lnSpc>
                <a:spcPct val="104000"/>
              </a:lnSpc>
              <a:spcBef>
                <a:spcPts val="300"/>
              </a:spcBef>
              <a:spcAft>
                <a:spcPts val="300"/>
              </a:spcAft>
            </a:pPr>
            <a:r>
              <a:rPr sz="1400" b="1">
                <a:solidFill>
                  <a:srgbClr val="2E86AB"/>
                </a:solidFill>
                <a:latin typeface="Segoe UI"/>
              </a:rPr>
              <a:t>▸  </a:t>
            </a:r>
            <a:r>
              <a:rPr sz="1350" b="1">
                <a:solidFill>
                  <a:srgbClr val="0F2540"/>
                </a:solidFill>
                <a:latin typeface="Segoe UI"/>
              </a:rPr>
              <a:t>COTS-first.  </a:t>
            </a:r>
            <a:r>
              <a:rPr sz="1350" b="0">
                <a:solidFill>
                  <a:srgbClr val="1E2833"/>
                </a:solidFill>
                <a:latin typeface="Segoe UI"/>
              </a:rPr>
              <a:t>~110 components traded were all real, purchasable parts; the selected BOM is off-the-shelf except the fabricated SBC mount.</a:t>
            </a:r>
          </a:p>
          <a:p>
            <a:pPr>
              <a:lnSpc>
                <a:spcPct val="104000"/>
              </a:lnSpc>
              <a:spcBef>
                <a:spcPts val="300"/>
              </a:spcBef>
              <a:spcAft>
                <a:spcPts val="300"/>
              </a:spcAft>
            </a:pPr>
            <a:r>
              <a:rPr sz="1400" b="1">
                <a:solidFill>
                  <a:srgbClr val="2E86AB"/>
                </a:solidFill>
                <a:latin typeface="Segoe UI"/>
              </a:rPr>
              <a:t>▸  </a:t>
            </a:r>
            <a:r>
              <a:rPr sz="1350" b="1">
                <a:solidFill>
                  <a:srgbClr val="0F2540"/>
                </a:solidFill>
                <a:latin typeface="Segoe UI"/>
              </a:rPr>
              <a:t>Fabricated parts.  </a:t>
            </a:r>
            <a:r>
              <a:rPr sz="1350" b="0">
                <a:solidFill>
                  <a:srgbClr val="1E2833"/>
                </a:solidFill>
                <a:latin typeface="Segoe UI"/>
              </a:rPr>
              <a:t>3D-printed SBC deck + 30 mm fan + heat-set hardware (free-CAD pathway documented); ≈ $15.</a:t>
            </a:r>
          </a:p>
          <a:p>
            <a:pPr>
              <a:lnSpc>
                <a:spcPct val="104000"/>
              </a:lnSpc>
              <a:spcBef>
                <a:spcPts val="300"/>
              </a:spcBef>
              <a:spcAft>
                <a:spcPts val="300"/>
              </a:spcAft>
            </a:pPr>
            <a:r>
              <a:rPr sz="1400" b="1">
                <a:solidFill>
                  <a:srgbClr val="2E86AB"/>
                </a:solidFill>
                <a:latin typeface="Segoe UI"/>
              </a:rPr>
              <a:t>▸  </a:t>
            </a:r>
            <a:r>
              <a:rPr sz="1350" b="1">
                <a:solidFill>
                  <a:srgbClr val="0F2540"/>
                </a:solidFill>
                <a:latin typeface="Segoe UI"/>
              </a:rPr>
              <a:t>Standardization.  </a:t>
            </a:r>
            <a:r>
              <a:rPr sz="1350" b="0">
                <a:solidFill>
                  <a:srgbClr val="1E2833"/>
                </a:solidFill>
                <a:latin typeface="Segoe UI"/>
              </a:rPr>
              <a:t>Whole power chain on XT60; single control ecosystem (ELRS) end-to-end.</a:t>
            </a:r>
          </a:p>
          <a:p>
            <a:pPr>
              <a:lnSpc>
                <a:spcPct val="104000"/>
              </a:lnSpc>
              <a:spcBef>
                <a:spcPts val="300"/>
              </a:spcBef>
              <a:spcAft>
                <a:spcPts val="300"/>
              </a:spcAft>
            </a:pPr>
            <a:r>
              <a:rPr sz="1400" b="1">
                <a:solidFill>
                  <a:srgbClr val="2E86AB"/>
                </a:solidFill>
                <a:latin typeface="Segoe UI"/>
              </a:rPr>
              <a:t>▸  </a:t>
            </a:r>
            <a:r>
              <a:rPr sz="1350" b="1">
                <a:solidFill>
                  <a:srgbClr val="0F2540"/>
                </a:solidFill>
                <a:latin typeface="Segoe UI"/>
              </a:rPr>
              <a:t>Phased integration.  </a:t>
            </a:r>
            <a:r>
              <a:rPr sz="1350" b="0">
                <a:solidFill>
                  <a:srgbClr val="1E2833"/>
                </a:solidFill>
                <a:latin typeface="Segoe UI"/>
              </a:rPr>
              <a:t>Three incremental builds, each independently testable before the next is added.</a:t>
            </a:r>
          </a:p>
        </p:txBody>
      </p:sp>
      <p:sp>
        <p:nvSpPr>
          <p:cNvPr id="10" name="Rounded Rectangle 9"/>
          <p:cNvSpPr/>
          <p:nvPr/>
        </p:nvSpPr>
        <p:spPr>
          <a:xfrm>
            <a:off x="6446520" y="1280160"/>
            <a:ext cx="5166360" cy="4663440"/>
          </a:xfrm>
          <a:prstGeom prst="roundRect">
            <a:avLst/>
          </a:prstGeom>
          <a:solidFill>
            <a:srgbClr val="F6F8FA"/>
          </a:solidFill>
          <a:ln w="9525">
            <a:solidFill>
              <a:srgbClr val="D4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444752"/>
            <a:ext cx="475488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2E86AB"/>
                </a:solidFill>
                <a:latin typeface="Segoe UI"/>
              </a:rPr>
              <a:t>PHASED BUILD PLAN</a:t>
            </a:r>
          </a:p>
        </p:txBody>
      </p:sp>
      <p:sp>
        <p:nvSpPr>
          <p:cNvPr id="12" name="TextBox 11"/>
          <p:cNvSpPr txBox="1"/>
          <p:nvPr/>
        </p:nvSpPr>
        <p:spPr>
          <a:xfrm>
            <a:off x="6675120" y="1874519"/>
            <a:ext cx="4709160" cy="3931920"/>
          </a:xfrm>
          <a:prstGeom prst="rect">
            <a:avLst/>
          </a:prstGeom>
          <a:noFill/>
        </p:spPr>
        <p:txBody>
          <a:bodyPr wrap="square" anchor="t" lIns="0" rIns="0" tIns="0" bIns="0">
            <a:spAutoFit/>
          </a:bodyPr>
          <a:lstStyle/>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Phase 1.  </a:t>
            </a:r>
            <a:r>
              <a:rPr sz="1300" b="0">
                <a:solidFill>
                  <a:srgbClr val="1E2833"/>
                </a:solidFill>
                <a:latin typeface="Segoe UI"/>
              </a:rPr>
              <a:t>Airframe + ELRS + battery + FPV/GPS → LOS manual flight, waypoint routes, video downlink.</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Phase 2.  </a:t>
            </a:r>
            <a:r>
              <a:rPr sz="1300" b="0">
                <a:solidFill>
                  <a:srgbClr val="1E2833"/>
                </a:solidFill>
                <a:latin typeface="Segoe UI"/>
              </a:rPr>
              <a:t>Thermal camera + NanoPi M5 → live onboard inference feed (no recording, no downlink).</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Phase 3.  </a:t>
            </a:r>
            <a:r>
              <a:rPr sz="1300" b="0">
                <a:solidFill>
                  <a:srgbClr val="1E2833"/>
                </a:solidFill>
                <a:latin typeface="Segoe UI"/>
              </a:rPr>
              <a:t>AI detection + MAVLink autonomous route modification (software only).</a:t>
            </a:r>
          </a:p>
          <a:p>
            <a:pPr>
              <a:lnSpc>
                <a:spcPct val="104000"/>
              </a:lnSpc>
              <a:spcBef>
                <a:spcPts val="300"/>
              </a:spcBef>
              <a:spcAft>
                <a:spcPts val="300"/>
              </a:spcAft>
            </a:pPr>
            <a:r>
              <a:rPr sz="1400" b="1">
                <a:solidFill>
                  <a:srgbClr val="2E86AB"/>
                </a:solidFill>
                <a:latin typeface="Segoe UI"/>
              </a:rPr>
              <a:t>▸  </a:t>
            </a:r>
            <a:r>
              <a:rPr sz="1300" b="1">
                <a:solidFill>
                  <a:srgbClr val="0F2540"/>
                </a:solidFill>
                <a:latin typeface="Segoe UI"/>
              </a:rPr>
              <a:t>Phase 4 (deferred).  </a:t>
            </a:r>
            <a:r>
              <a:rPr sz="1300" b="0">
                <a:solidFill>
                  <a:srgbClr val="5C6B7A"/>
                </a:solidFill>
                <a:latin typeface="Segoe UI"/>
              </a:rPr>
              <a:t>OpenHD digital thermal downlink to the ground station — future capability.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5 · CLOSURE</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Project Timeline  (PV-2)</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37</a:t>
            </a:r>
          </a:p>
        </p:txBody>
      </p:sp>
      <p:sp>
        <p:nvSpPr>
          <p:cNvPr id="9" name="TextBox 8"/>
          <p:cNvSpPr txBox="1"/>
          <p:nvPr/>
        </p:nvSpPr>
        <p:spPr>
          <a:xfrm>
            <a:off x="566928" y="1152144"/>
            <a:ext cx="11055096"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5C6B7A"/>
                </a:solidFill>
                <a:latin typeface="Segoe UI"/>
              </a:rPr>
              <a:t>The build roadmap: three committed phases (1–3) plus a deferred Phase 4. Detailed design is complete; the next gate is procurement.</a:t>
            </a:r>
          </a:p>
        </p:txBody>
      </p:sp>
      <p:sp>
        <p:nvSpPr>
          <p:cNvPr id="10" name="Rounded Rectangle 9"/>
          <p:cNvSpPr/>
          <p:nvPr/>
        </p:nvSpPr>
        <p:spPr>
          <a:xfrm>
            <a:off x="566928" y="1572768"/>
            <a:ext cx="11055096" cy="457200"/>
          </a:xfrm>
          <a:prstGeom prst="round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572768"/>
            <a:ext cx="10652760" cy="457200"/>
          </a:xfrm>
          <a:prstGeom prst="rect">
            <a:avLst/>
          </a:prstGeom>
          <a:noFill/>
        </p:spPr>
        <p:txBody>
          <a:bodyPr wrap="square" anchor="ctr" lIns="0" rIns="0" tIns="0" bIns="0">
            <a:spAutoFit/>
          </a:bodyPr>
          <a:lstStyle/>
          <a:p>
            <a:pPr algn="l">
              <a:lnSpc>
                <a:spcPct val="100000"/>
              </a:lnSpc>
              <a:spcBef>
                <a:spcPts val="0"/>
              </a:spcBef>
              <a:spcAft>
                <a:spcPts val="400"/>
              </a:spcAft>
            </a:pPr>
            <a:r>
              <a:rPr sz="1200" b="1" i="0">
                <a:solidFill>
                  <a:srgbClr val="FFFFFF"/>
                </a:solidFill>
                <a:latin typeface="Segoe UI"/>
              </a:rPr>
              <a:t>▸ NOW — CDR: detailed design complete, verified by analysis.   Next gate → procurement, then phased build &amp; test.</a:t>
            </a:r>
          </a:p>
        </p:txBody>
      </p:sp>
      <p:sp>
        <p:nvSpPr>
          <p:cNvPr id="12" name="Rounded Rectangle 11"/>
          <p:cNvSpPr/>
          <p:nvPr/>
        </p:nvSpPr>
        <p:spPr>
          <a:xfrm>
            <a:off x="566928" y="2267712"/>
            <a:ext cx="2558034" cy="3657600"/>
          </a:xfrm>
          <a:prstGeom prst="roundRect">
            <a:avLst/>
          </a:prstGeom>
          <a:solidFill>
            <a:srgbClr val="FFFFFF"/>
          </a:solidFill>
          <a:ln w="19050">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6928" y="2267712"/>
            <a:ext cx="2558034" cy="585216"/>
          </a:xfrm>
          <a:prstGeom prst="round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322576"/>
            <a:ext cx="2558034" cy="237744"/>
          </a:xfrm>
          <a:prstGeom prst="rect">
            <a:avLst/>
          </a:prstGeom>
          <a:noFill/>
        </p:spPr>
        <p:txBody>
          <a:bodyPr wrap="square" anchor="t" lIns="0" rIns="0" tIns="0" bIns="0">
            <a:spAutoFit/>
          </a:bodyPr>
          <a:lstStyle/>
          <a:p>
            <a:pPr algn="ctr">
              <a:lnSpc>
                <a:spcPct val="100000"/>
              </a:lnSpc>
              <a:spcBef>
                <a:spcPts val="0"/>
              </a:spcBef>
              <a:spcAft>
                <a:spcPts val="400"/>
              </a:spcAft>
            </a:pPr>
            <a:r>
              <a:rPr sz="1300" b="1" i="0">
                <a:solidFill>
                  <a:srgbClr val="FFFFFF"/>
                </a:solidFill>
                <a:latin typeface="Segoe UI"/>
              </a:rPr>
              <a:t>PHASE 1</a:t>
            </a:r>
          </a:p>
        </p:txBody>
      </p:sp>
      <p:sp>
        <p:nvSpPr>
          <p:cNvPr id="15" name="TextBox 14"/>
          <p:cNvSpPr txBox="1"/>
          <p:nvPr/>
        </p:nvSpPr>
        <p:spPr>
          <a:xfrm>
            <a:off x="566928" y="2596896"/>
            <a:ext cx="2558034" cy="201168"/>
          </a:xfrm>
          <a:prstGeom prst="rect">
            <a:avLst/>
          </a:prstGeom>
          <a:noFill/>
        </p:spPr>
        <p:txBody>
          <a:bodyPr wrap="square" anchor="t" lIns="0" rIns="0" tIns="0" bIns="0">
            <a:spAutoFit/>
          </a:bodyPr>
          <a:lstStyle/>
          <a:p>
            <a:pPr algn="ctr">
              <a:lnSpc>
                <a:spcPct val="100000"/>
              </a:lnSpc>
              <a:spcBef>
                <a:spcPts val="0"/>
              </a:spcBef>
              <a:spcAft>
                <a:spcPts val="400"/>
              </a:spcAft>
            </a:pPr>
            <a:r>
              <a:rPr sz="950" b="1" i="0">
                <a:solidFill>
                  <a:srgbClr val="FFFFFF"/>
                </a:solidFill>
                <a:latin typeface="Segoe UI"/>
              </a:rPr>
              <a:t>Committed</a:t>
            </a:r>
          </a:p>
        </p:txBody>
      </p:sp>
      <p:sp>
        <p:nvSpPr>
          <p:cNvPr id="16" name="TextBox 15"/>
          <p:cNvSpPr txBox="1"/>
          <p:nvPr/>
        </p:nvSpPr>
        <p:spPr>
          <a:xfrm>
            <a:off x="713232" y="2962656"/>
            <a:ext cx="2265426" cy="5486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0F2540"/>
                </a:solidFill>
                <a:latin typeface="Segoe UI"/>
              </a:rPr>
              <a:t>Basic flight + FPV + waypoints</a:t>
            </a:r>
          </a:p>
        </p:txBody>
      </p:sp>
      <p:sp>
        <p:nvSpPr>
          <p:cNvPr id="17" name="TextBox 16"/>
          <p:cNvSpPr txBox="1"/>
          <p:nvPr/>
        </p:nvSpPr>
        <p:spPr>
          <a:xfrm>
            <a:off x="713232" y="3639312"/>
            <a:ext cx="2265426" cy="384048"/>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2E86AB"/>
                </a:solidFill>
                <a:latin typeface="Segoe UI"/>
              </a:rPr>
              <a:t>· </a:t>
            </a:r>
            <a:r>
              <a:rPr sz="1000" b="0" i="0">
                <a:solidFill>
                  <a:srgbClr val="1E2833"/>
                </a:solidFill>
                <a:latin typeface="Segoe UI"/>
              </a:rPr>
              <a:t>Airframe · ELRS · battery</a:t>
            </a:r>
          </a:p>
        </p:txBody>
      </p:sp>
      <p:sp>
        <p:nvSpPr>
          <p:cNvPr id="18" name="TextBox 17"/>
          <p:cNvSpPr txBox="1"/>
          <p:nvPr/>
        </p:nvSpPr>
        <p:spPr>
          <a:xfrm>
            <a:off x="713232" y="4023360"/>
            <a:ext cx="2265426" cy="384048"/>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2E86AB"/>
                </a:solidFill>
                <a:latin typeface="Segoe UI"/>
              </a:rPr>
              <a:t>· </a:t>
            </a:r>
            <a:r>
              <a:rPr sz="1000" b="0" i="0">
                <a:solidFill>
                  <a:srgbClr val="1E2833"/>
                </a:solidFill>
                <a:latin typeface="Segoe UI"/>
              </a:rPr>
              <a:t>FPV cam · GPS · patch antenna</a:t>
            </a:r>
          </a:p>
        </p:txBody>
      </p:sp>
      <p:sp>
        <p:nvSpPr>
          <p:cNvPr id="19" name="TextBox 18"/>
          <p:cNvSpPr txBox="1"/>
          <p:nvPr/>
        </p:nvSpPr>
        <p:spPr>
          <a:xfrm>
            <a:off x="713232" y="4407408"/>
            <a:ext cx="2265426" cy="384048"/>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2E86AB"/>
                </a:solidFill>
                <a:latin typeface="Segoe UI"/>
              </a:rPr>
              <a:t>· </a:t>
            </a:r>
            <a:r>
              <a:rPr sz="1000" b="0" i="0">
                <a:solidFill>
                  <a:srgbClr val="1E2833"/>
                </a:solidFill>
                <a:latin typeface="Segoe UI"/>
              </a:rPr>
              <a:t>ArduPilot + QGroundControl</a:t>
            </a:r>
          </a:p>
        </p:txBody>
      </p:sp>
      <p:sp>
        <p:nvSpPr>
          <p:cNvPr id="20" name="TextBox 19"/>
          <p:cNvSpPr txBox="1"/>
          <p:nvPr/>
        </p:nvSpPr>
        <p:spPr>
          <a:xfrm>
            <a:off x="713232" y="4828032"/>
            <a:ext cx="2265426" cy="7315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2E86AB"/>
                </a:solidFill>
                <a:latin typeface="Segoe UI"/>
              </a:rPr>
              <a:t>→ </a:t>
            </a:r>
            <a:r>
              <a:rPr sz="1000" b="0" i="1">
                <a:solidFill>
                  <a:srgbClr val="5C6B7A"/>
                </a:solidFill>
                <a:latin typeface="Segoe UI"/>
              </a:rPr>
              <a:t>LOS manual flight, waypoint routes, video to laptop</a:t>
            </a:r>
          </a:p>
        </p:txBody>
      </p:sp>
      <p:sp>
        <p:nvSpPr>
          <p:cNvPr id="21" name="TextBox 20"/>
          <p:cNvSpPr txBox="1"/>
          <p:nvPr/>
        </p:nvSpPr>
        <p:spPr>
          <a:xfrm>
            <a:off x="713232" y="5577840"/>
            <a:ext cx="2265426"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0F2540"/>
                </a:solidFill>
                <a:latin typeface="Segoe UI"/>
              </a:rPr>
              <a:t>≈ $1,371</a:t>
            </a:r>
          </a:p>
        </p:txBody>
      </p:sp>
      <p:sp>
        <p:nvSpPr>
          <p:cNvPr id="22" name="TextBox 21"/>
          <p:cNvSpPr txBox="1"/>
          <p:nvPr/>
        </p:nvSpPr>
        <p:spPr>
          <a:xfrm>
            <a:off x="3097530" y="3931920"/>
            <a:ext cx="329184" cy="310896"/>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2E86AB"/>
                </a:solidFill>
                <a:latin typeface="Segoe UI"/>
              </a:rPr>
              <a:t>▸</a:t>
            </a:r>
          </a:p>
        </p:txBody>
      </p:sp>
      <p:sp>
        <p:nvSpPr>
          <p:cNvPr id="23" name="Rounded Rectangle 22"/>
          <p:cNvSpPr/>
          <p:nvPr/>
        </p:nvSpPr>
        <p:spPr>
          <a:xfrm>
            <a:off x="3399282" y="2267712"/>
            <a:ext cx="2558034" cy="3657600"/>
          </a:xfrm>
          <a:prstGeom prst="roundRect">
            <a:avLst/>
          </a:prstGeom>
          <a:solidFill>
            <a:srgbClr val="FFFFFF"/>
          </a:solidFill>
          <a:ln w="19050">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399282" y="2267712"/>
            <a:ext cx="2558034" cy="585216"/>
          </a:xfrm>
          <a:prstGeom prst="round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99282" y="2322576"/>
            <a:ext cx="2558034" cy="237744"/>
          </a:xfrm>
          <a:prstGeom prst="rect">
            <a:avLst/>
          </a:prstGeom>
          <a:noFill/>
        </p:spPr>
        <p:txBody>
          <a:bodyPr wrap="square" anchor="t" lIns="0" rIns="0" tIns="0" bIns="0">
            <a:spAutoFit/>
          </a:bodyPr>
          <a:lstStyle/>
          <a:p>
            <a:pPr algn="ctr">
              <a:lnSpc>
                <a:spcPct val="100000"/>
              </a:lnSpc>
              <a:spcBef>
                <a:spcPts val="0"/>
              </a:spcBef>
              <a:spcAft>
                <a:spcPts val="400"/>
              </a:spcAft>
            </a:pPr>
            <a:r>
              <a:rPr sz="1300" b="1" i="0">
                <a:solidFill>
                  <a:srgbClr val="FFFFFF"/>
                </a:solidFill>
                <a:latin typeface="Segoe UI"/>
              </a:rPr>
              <a:t>PHASE 2</a:t>
            </a:r>
          </a:p>
        </p:txBody>
      </p:sp>
      <p:sp>
        <p:nvSpPr>
          <p:cNvPr id="26" name="TextBox 25"/>
          <p:cNvSpPr txBox="1"/>
          <p:nvPr/>
        </p:nvSpPr>
        <p:spPr>
          <a:xfrm>
            <a:off x="3399282" y="2596896"/>
            <a:ext cx="2558034" cy="201168"/>
          </a:xfrm>
          <a:prstGeom prst="rect">
            <a:avLst/>
          </a:prstGeom>
          <a:noFill/>
        </p:spPr>
        <p:txBody>
          <a:bodyPr wrap="square" anchor="t" lIns="0" rIns="0" tIns="0" bIns="0">
            <a:spAutoFit/>
          </a:bodyPr>
          <a:lstStyle/>
          <a:p>
            <a:pPr algn="ctr">
              <a:lnSpc>
                <a:spcPct val="100000"/>
              </a:lnSpc>
              <a:spcBef>
                <a:spcPts val="0"/>
              </a:spcBef>
              <a:spcAft>
                <a:spcPts val="400"/>
              </a:spcAft>
            </a:pPr>
            <a:r>
              <a:rPr sz="950" b="1" i="0">
                <a:solidFill>
                  <a:srgbClr val="FFFFFF"/>
                </a:solidFill>
                <a:latin typeface="Segoe UI"/>
              </a:rPr>
              <a:t>Committed</a:t>
            </a:r>
          </a:p>
        </p:txBody>
      </p:sp>
      <p:sp>
        <p:nvSpPr>
          <p:cNvPr id="27" name="TextBox 26"/>
          <p:cNvSpPr txBox="1"/>
          <p:nvPr/>
        </p:nvSpPr>
        <p:spPr>
          <a:xfrm>
            <a:off x="3545586" y="2962656"/>
            <a:ext cx="2265426" cy="5486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0F2540"/>
                </a:solidFill>
                <a:latin typeface="Segoe UI"/>
              </a:rPr>
              <a:t>Thermal payload + onboard compute</a:t>
            </a:r>
          </a:p>
        </p:txBody>
      </p:sp>
      <p:sp>
        <p:nvSpPr>
          <p:cNvPr id="28" name="TextBox 27"/>
          <p:cNvSpPr txBox="1"/>
          <p:nvPr/>
        </p:nvSpPr>
        <p:spPr>
          <a:xfrm>
            <a:off x="3545586" y="3639312"/>
            <a:ext cx="2265426" cy="384048"/>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2E86AB"/>
                </a:solidFill>
                <a:latin typeface="Segoe UI"/>
              </a:rPr>
              <a:t>· </a:t>
            </a:r>
            <a:r>
              <a:rPr sz="1000" b="0" i="0">
                <a:solidFill>
                  <a:srgbClr val="1E2833"/>
                </a:solidFill>
                <a:latin typeface="Segoe UI"/>
              </a:rPr>
              <a:t>PurpleRiver Mini 640 (thermal)</a:t>
            </a:r>
          </a:p>
        </p:txBody>
      </p:sp>
      <p:sp>
        <p:nvSpPr>
          <p:cNvPr id="29" name="TextBox 28"/>
          <p:cNvSpPr txBox="1"/>
          <p:nvPr/>
        </p:nvSpPr>
        <p:spPr>
          <a:xfrm>
            <a:off x="3545586" y="4023360"/>
            <a:ext cx="2265426" cy="384048"/>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2E86AB"/>
                </a:solidFill>
                <a:latin typeface="Segoe UI"/>
              </a:rPr>
              <a:t>· </a:t>
            </a:r>
            <a:r>
              <a:rPr sz="1000" b="0" i="0">
                <a:solidFill>
                  <a:srgbClr val="1E2833"/>
                </a:solidFill>
                <a:latin typeface="Segoe UI"/>
              </a:rPr>
              <a:t>NanoPi M5 · UBEC · 3D-print mount</a:t>
            </a:r>
          </a:p>
        </p:txBody>
      </p:sp>
      <p:sp>
        <p:nvSpPr>
          <p:cNvPr id="30" name="TextBox 29"/>
          <p:cNvSpPr txBox="1"/>
          <p:nvPr/>
        </p:nvSpPr>
        <p:spPr>
          <a:xfrm>
            <a:off x="3545586" y="4828032"/>
            <a:ext cx="2265426" cy="7315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2E86AB"/>
                </a:solidFill>
                <a:latin typeface="Segoe UI"/>
              </a:rPr>
              <a:t>→ </a:t>
            </a:r>
            <a:r>
              <a:rPr sz="1000" b="0" i="1">
                <a:solidFill>
                  <a:srgbClr val="5C6B7A"/>
                </a:solidFill>
                <a:latin typeface="Segoe UI"/>
              </a:rPr>
              <a:t>Live onboard thermal inference (no recording / downlink)</a:t>
            </a:r>
          </a:p>
        </p:txBody>
      </p:sp>
      <p:sp>
        <p:nvSpPr>
          <p:cNvPr id="31" name="TextBox 30"/>
          <p:cNvSpPr txBox="1"/>
          <p:nvPr/>
        </p:nvSpPr>
        <p:spPr>
          <a:xfrm>
            <a:off x="3545586" y="5577840"/>
            <a:ext cx="2265426"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0F2540"/>
                </a:solidFill>
                <a:latin typeface="Segoe UI"/>
              </a:rPr>
              <a:t>≈ $809</a:t>
            </a:r>
          </a:p>
        </p:txBody>
      </p:sp>
      <p:sp>
        <p:nvSpPr>
          <p:cNvPr id="32" name="TextBox 31"/>
          <p:cNvSpPr txBox="1"/>
          <p:nvPr/>
        </p:nvSpPr>
        <p:spPr>
          <a:xfrm>
            <a:off x="5929884" y="3931920"/>
            <a:ext cx="329184" cy="310896"/>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2E86AB"/>
                </a:solidFill>
                <a:latin typeface="Segoe UI"/>
              </a:rPr>
              <a:t>▸</a:t>
            </a:r>
          </a:p>
        </p:txBody>
      </p:sp>
      <p:sp>
        <p:nvSpPr>
          <p:cNvPr id="33" name="Rounded Rectangle 32"/>
          <p:cNvSpPr/>
          <p:nvPr/>
        </p:nvSpPr>
        <p:spPr>
          <a:xfrm>
            <a:off x="6231636" y="2267712"/>
            <a:ext cx="2558034" cy="3657600"/>
          </a:xfrm>
          <a:prstGeom prst="roundRect">
            <a:avLst/>
          </a:prstGeom>
          <a:solidFill>
            <a:srgbClr val="FFFFFF"/>
          </a:solidFill>
          <a:ln w="19050">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231636" y="2267712"/>
            <a:ext cx="2558034" cy="585216"/>
          </a:xfrm>
          <a:prstGeom prst="round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31636" y="2322576"/>
            <a:ext cx="2558034" cy="237744"/>
          </a:xfrm>
          <a:prstGeom prst="rect">
            <a:avLst/>
          </a:prstGeom>
          <a:noFill/>
        </p:spPr>
        <p:txBody>
          <a:bodyPr wrap="square" anchor="t" lIns="0" rIns="0" tIns="0" bIns="0">
            <a:spAutoFit/>
          </a:bodyPr>
          <a:lstStyle/>
          <a:p>
            <a:pPr algn="ctr">
              <a:lnSpc>
                <a:spcPct val="100000"/>
              </a:lnSpc>
              <a:spcBef>
                <a:spcPts val="0"/>
              </a:spcBef>
              <a:spcAft>
                <a:spcPts val="400"/>
              </a:spcAft>
            </a:pPr>
            <a:r>
              <a:rPr sz="1300" b="1" i="0">
                <a:solidFill>
                  <a:srgbClr val="FFFFFF"/>
                </a:solidFill>
                <a:latin typeface="Segoe UI"/>
              </a:rPr>
              <a:t>PHASE 3</a:t>
            </a:r>
          </a:p>
        </p:txBody>
      </p:sp>
      <p:sp>
        <p:nvSpPr>
          <p:cNvPr id="36" name="TextBox 35"/>
          <p:cNvSpPr txBox="1"/>
          <p:nvPr/>
        </p:nvSpPr>
        <p:spPr>
          <a:xfrm>
            <a:off x="6231636" y="2596896"/>
            <a:ext cx="2558034" cy="201168"/>
          </a:xfrm>
          <a:prstGeom prst="rect">
            <a:avLst/>
          </a:prstGeom>
          <a:noFill/>
        </p:spPr>
        <p:txBody>
          <a:bodyPr wrap="square" anchor="t" lIns="0" rIns="0" tIns="0" bIns="0">
            <a:spAutoFit/>
          </a:bodyPr>
          <a:lstStyle/>
          <a:p>
            <a:pPr algn="ctr">
              <a:lnSpc>
                <a:spcPct val="100000"/>
              </a:lnSpc>
              <a:spcBef>
                <a:spcPts val="0"/>
              </a:spcBef>
              <a:spcAft>
                <a:spcPts val="400"/>
              </a:spcAft>
            </a:pPr>
            <a:r>
              <a:rPr sz="950" b="1" i="0">
                <a:solidFill>
                  <a:srgbClr val="FFFFFF"/>
                </a:solidFill>
                <a:latin typeface="Segoe UI"/>
              </a:rPr>
              <a:t>Committed</a:t>
            </a:r>
          </a:p>
        </p:txBody>
      </p:sp>
      <p:sp>
        <p:nvSpPr>
          <p:cNvPr id="37" name="TextBox 36"/>
          <p:cNvSpPr txBox="1"/>
          <p:nvPr/>
        </p:nvSpPr>
        <p:spPr>
          <a:xfrm>
            <a:off x="6377940" y="2962656"/>
            <a:ext cx="2265426" cy="5486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0F2540"/>
                </a:solidFill>
                <a:latin typeface="Segoe UI"/>
              </a:rPr>
              <a:t>AI detection + autonomy (software)</a:t>
            </a:r>
          </a:p>
        </p:txBody>
      </p:sp>
      <p:sp>
        <p:nvSpPr>
          <p:cNvPr id="38" name="TextBox 37"/>
          <p:cNvSpPr txBox="1"/>
          <p:nvPr/>
        </p:nvSpPr>
        <p:spPr>
          <a:xfrm>
            <a:off x="6377940" y="3639312"/>
            <a:ext cx="2265426" cy="384048"/>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2E86AB"/>
                </a:solidFill>
                <a:latin typeface="Segoe UI"/>
              </a:rPr>
              <a:t>· </a:t>
            </a:r>
            <a:r>
              <a:rPr sz="1000" b="0" i="0">
                <a:solidFill>
                  <a:srgbClr val="1E2833"/>
                </a:solidFill>
                <a:latin typeface="Segoe UI"/>
              </a:rPr>
              <a:t>RKNN model deploy (D-1)</a:t>
            </a:r>
          </a:p>
        </p:txBody>
      </p:sp>
      <p:sp>
        <p:nvSpPr>
          <p:cNvPr id="39" name="TextBox 38"/>
          <p:cNvSpPr txBox="1"/>
          <p:nvPr/>
        </p:nvSpPr>
        <p:spPr>
          <a:xfrm>
            <a:off x="6377940" y="4023360"/>
            <a:ext cx="2265426" cy="384048"/>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2E86AB"/>
                </a:solidFill>
                <a:latin typeface="Segoe UI"/>
              </a:rPr>
              <a:t>· </a:t>
            </a:r>
            <a:r>
              <a:rPr sz="1000" b="0" i="0">
                <a:solidFill>
                  <a:srgbClr val="1E2833"/>
                </a:solidFill>
                <a:latin typeface="Segoe UI"/>
              </a:rPr>
              <a:t>Mission app + MAVLink route mod (D-2)</a:t>
            </a:r>
          </a:p>
        </p:txBody>
      </p:sp>
      <p:sp>
        <p:nvSpPr>
          <p:cNvPr id="40" name="TextBox 39"/>
          <p:cNvSpPr txBox="1"/>
          <p:nvPr/>
        </p:nvSpPr>
        <p:spPr>
          <a:xfrm>
            <a:off x="6377940" y="4828032"/>
            <a:ext cx="2265426" cy="7315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2E86AB"/>
                </a:solidFill>
                <a:latin typeface="Segoe UI"/>
              </a:rPr>
              <a:t>→ </a:t>
            </a:r>
            <a:r>
              <a:rPr sz="1000" b="0" i="1">
                <a:solidFill>
                  <a:srgbClr val="5C6B7A"/>
                </a:solidFill>
                <a:latin typeface="Segoe UI"/>
              </a:rPr>
              <a:t>Real-time inference drives autonomous re-route</a:t>
            </a:r>
          </a:p>
        </p:txBody>
      </p:sp>
      <p:sp>
        <p:nvSpPr>
          <p:cNvPr id="41" name="TextBox 40"/>
          <p:cNvSpPr txBox="1"/>
          <p:nvPr/>
        </p:nvSpPr>
        <p:spPr>
          <a:xfrm>
            <a:off x="6377940" y="5577840"/>
            <a:ext cx="2265426"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0F2540"/>
                </a:solidFill>
                <a:latin typeface="Segoe UI"/>
              </a:rPr>
              <a:t>$0 HW</a:t>
            </a:r>
          </a:p>
        </p:txBody>
      </p:sp>
      <p:sp>
        <p:nvSpPr>
          <p:cNvPr id="42" name="TextBox 41"/>
          <p:cNvSpPr txBox="1"/>
          <p:nvPr/>
        </p:nvSpPr>
        <p:spPr>
          <a:xfrm>
            <a:off x="8762238" y="3931920"/>
            <a:ext cx="329184" cy="310896"/>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2E86AB"/>
                </a:solidFill>
                <a:latin typeface="Segoe UI"/>
              </a:rPr>
              <a:t>▸</a:t>
            </a:r>
          </a:p>
        </p:txBody>
      </p:sp>
      <p:sp>
        <p:nvSpPr>
          <p:cNvPr id="43" name="Rounded Rectangle 42"/>
          <p:cNvSpPr/>
          <p:nvPr/>
        </p:nvSpPr>
        <p:spPr>
          <a:xfrm>
            <a:off x="9063990" y="2267712"/>
            <a:ext cx="2558034" cy="3657600"/>
          </a:xfrm>
          <a:prstGeom prst="roundRect">
            <a:avLst/>
          </a:prstGeom>
          <a:solidFill>
            <a:srgbClr val="FFFFFF"/>
          </a:solidFill>
          <a:ln w="1270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063990" y="2267712"/>
            <a:ext cx="2558034" cy="585216"/>
          </a:xfrm>
          <a:prstGeom prst="roundRect">
            <a:avLst/>
          </a:prstGeom>
          <a:solidFill>
            <a:srgbClr val="9AA7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63990" y="2322576"/>
            <a:ext cx="2558034" cy="237744"/>
          </a:xfrm>
          <a:prstGeom prst="rect">
            <a:avLst/>
          </a:prstGeom>
          <a:noFill/>
        </p:spPr>
        <p:txBody>
          <a:bodyPr wrap="square" anchor="t" lIns="0" rIns="0" tIns="0" bIns="0">
            <a:spAutoFit/>
          </a:bodyPr>
          <a:lstStyle/>
          <a:p>
            <a:pPr algn="ctr">
              <a:lnSpc>
                <a:spcPct val="100000"/>
              </a:lnSpc>
              <a:spcBef>
                <a:spcPts val="0"/>
              </a:spcBef>
              <a:spcAft>
                <a:spcPts val="400"/>
              </a:spcAft>
            </a:pPr>
            <a:r>
              <a:rPr sz="1300" b="1" i="0">
                <a:solidFill>
                  <a:srgbClr val="FFFFFF"/>
                </a:solidFill>
                <a:latin typeface="Segoe UI"/>
              </a:rPr>
              <a:t>PHASE 4</a:t>
            </a:r>
          </a:p>
        </p:txBody>
      </p:sp>
      <p:sp>
        <p:nvSpPr>
          <p:cNvPr id="46" name="TextBox 45"/>
          <p:cNvSpPr txBox="1"/>
          <p:nvPr/>
        </p:nvSpPr>
        <p:spPr>
          <a:xfrm>
            <a:off x="9063990" y="2596896"/>
            <a:ext cx="2558034" cy="201168"/>
          </a:xfrm>
          <a:prstGeom prst="rect">
            <a:avLst/>
          </a:prstGeom>
          <a:noFill/>
        </p:spPr>
        <p:txBody>
          <a:bodyPr wrap="square" anchor="t" lIns="0" rIns="0" tIns="0" bIns="0">
            <a:spAutoFit/>
          </a:bodyPr>
          <a:lstStyle/>
          <a:p>
            <a:pPr algn="ctr">
              <a:lnSpc>
                <a:spcPct val="100000"/>
              </a:lnSpc>
              <a:spcBef>
                <a:spcPts val="0"/>
              </a:spcBef>
              <a:spcAft>
                <a:spcPts val="400"/>
              </a:spcAft>
            </a:pPr>
            <a:r>
              <a:rPr sz="950" b="1" i="0">
                <a:solidFill>
                  <a:srgbClr val="FFFFFF"/>
                </a:solidFill>
                <a:latin typeface="Segoe UI"/>
              </a:rPr>
              <a:t>Deferred</a:t>
            </a:r>
          </a:p>
        </p:txBody>
      </p:sp>
      <p:sp>
        <p:nvSpPr>
          <p:cNvPr id="47" name="TextBox 46"/>
          <p:cNvSpPr txBox="1"/>
          <p:nvPr/>
        </p:nvSpPr>
        <p:spPr>
          <a:xfrm>
            <a:off x="9210294" y="2962656"/>
            <a:ext cx="2265426" cy="5486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0F2540"/>
                </a:solidFill>
                <a:latin typeface="Segoe UI"/>
              </a:rPr>
              <a:t>OpenHD digital thermal downlink</a:t>
            </a:r>
          </a:p>
        </p:txBody>
      </p:sp>
      <p:sp>
        <p:nvSpPr>
          <p:cNvPr id="48" name="TextBox 47"/>
          <p:cNvSpPr txBox="1"/>
          <p:nvPr/>
        </p:nvSpPr>
        <p:spPr>
          <a:xfrm>
            <a:off x="9210294" y="3639312"/>
            <a:ext cx="2265426" cy="384048"/>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5C6B7A"/>
                </a:solidFill>
                <a:latin typeface="Segoe UI"/>
              </a:rPr>
              <a:t>· </a:t>
            </a:r>
            <a:r>
              <a:rPr sz="1000" b="0" i="0">
                <a:solidFill>
                  <a:srgbClr val="1E2833"/>
                </a:solidFill>
                <a:latin typeface="Segoe UI"/>
              </a:rPr>
              <a:t>Air / ground Wi-Fi adapters</a:t>
            </a:r>
          </a:p>
        </p:txBody>
      </p:sp>
      <p:sp>
        <p:nvSpPr>
          <p:cNvPr id="49" name="TextBox 48"/>
          <p:cNvSpPr txBox="1"/>
          <p:nvPr/>
        </p:nvSpPr>
        <p:spPr>
          <a:xfrm>
            <a:off x="9210294" y="4023360"/>
            <a:ext cx="2265426" cy="384048"/>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5C6B7A"/>
                </a:solidFill>
                <a:latin typeface="Segoe UI"/>
              </a:rPr>
              <a:t>· </a:t>
            </a:r>
            <a:r>
              <a:rPr sz="1000" b="0" i="0">
                <a:solidFill>
                  <a:srgbClr val="1E2833"/>
                </a:solidFill>
                <a:latin typeface="Segoe UI"/>
              </a:rPr>
              <a:t>Diversity antennas · ground VM</a:t>
            </a:r>
          </a:p>
        </p:txBody>
      </p:sp>
      <p:sp>
        <p:nvSpPr>
          <p:cNvPr id="50" name="TextBox 49"/>
          <p:cNvSpPr txBox="1"/>
          <p:nvPr/>
        </p:nvSpPr>
        <p:spPr>
          <a:xfrm>
            <a:off x="9210294" y="4828032"/>
            <a:ext cx="2265426" cy="7315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5C6B7A"/>
                </a:solidFill>
                <a:latin typeface="Segoe UI"/>
              </a:rPr>
              <a:t>→ </a:t>
            </a:r>
            <a:r>
              <a:rPr sz="1000" b="0" i="1">
                <a:solidFill>
                  <a:srgbClr val="5C6B7A"/>
                </a:solidFill>
                <a:latin typeface="Segoe UI"/>
              </a:rPr>
              <a:t>Live thermal / AI video to the ground station</a:t>
            </a:r>
          </a:p>
        </p:txBody>
      </p:sp>
      <p:sp>
        <p:nvSpPr>
          <p:cNvPr id="51" name="TextBox 50"/>
          <p:cNvSpPr txBox="1"/>
          <p:nvPr/>
        </p:nvSpPr>
        <p:spPr>
          <a:xfrm>
            <a:off x="9210294" y="5577840"/>
            <a:ext cx="2265426"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C6B7A"/>
                </a:solidFill>
                <a:latin typeface="Segoe UI"/>
              </a:rPr>
              <a:t>≈ $159 (future)</a:t>
            </a:r>
          </a:p>
        </p:txBody>
      </p:sp>
      <p:sp>
        <p:nvSpPr>
          <p:cNvPr id="52" name="TextBox 51"/>
          <p:cNvSpPr txBox="1"/>
          <p:nvPr/>
        </p:nvSpPr>
        <p:spPr>
          <a:xfrm>
            <a:off x="566928" y="6400800"/>
            <a:ext cx="11055096"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1">
                <a:solidFill>
                  <a:srgbClr val="5C6B7A"/>
                </a:solidFill>
                <a:latin typeface="Segoe UI"/>
              </a:rPr>
              <a:t>PV-2 (DoDAF Project Timeline). Phases 1–3 = committed system; Phase 4 (grey) is deferred. Sequence and dependency, not calendar dates.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5 · CLOSURE</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Risk Assessment</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38</a:t>
            </a:r>
          </a:p>
        </p:txBody>
      </p:sp>
      <p:graphicFrame>
        <p:nvGraphicFramePr>
          <p:cNvPr id="9" name="Table 8"/>
          <p:cNvGraphicFramePr>
            <a:graphicFrameLocks noGrp="1"/>
          </p:cNvGraphicFramePr>
          <p:nvPr/>
        </p:nvGraphicFramePr>
        <p:xfrm>
          <a:off x="566928" y="1280160"/>
          <a:ext cx="11055096" cy="4261104"/>
        </p:xfrm>
        <a:graphic>
          <a:graphicData uri="http://schemas.openxmlformats.org/drawingml/2006/table">
            <a:tbl>
              <a:tblPr>
                <a:tableStyleId>{5C22544A-7EE6-4342-B048-85BDC9FD1C3A}</a:tableStyleId>
              </a:tblPr>
              <a:tblGrid>
                <a:gridCol w="457200"/>
                <a:gridCol w="4754880"/>
                <a:gridCol w="868680"/>
                <a:gridCol w="4974336"/>
              </a:tblGrid>
              <a:tr h="310896">
                <a:tc>
                  <a:txBody>
                    <a:bodyPr wrap="square"/>
                    <a:lstStyle/>
                    <a:p>
                      <a:pPr algn="ctr"/>
                      <a:r>
                        <a:rPr sz="1050" b="1">
                          <a:solidFill>
                            <a:srgbClr val="FFFFFF"/>
                          </a:solidFill>
                          <a:latin typeface="Segoe UI"/>
                        </a:rPr>
                        <a:t>#</a:t>
                      </a:r>
                    </a:p>
                  </a:txBody>
                  <a:tcPr marL="54864" marR="54864" marT="18288" marB="18288" anchor="ctr">
                    <a:solidFill>
                      <a:srgbClr val="0F2540"/>
                    </a:solidFill>
                  </a:tcPr>
                </a:tc>
                <a:tc>
                  <a:txBody>
                    <a:bodyPr wrap="square"/>
                    <a:lstStyle/>
                    <a:p>
                      <a:pPr algn="l"/>
                      <a:r>
                        <a:rPr sz="1050" b="1">
                          <a:solidFill>
                            <a:srgbClr val="FFFFFF"/>
                          </a:solidFill>
                          <a:latin typeface="Segoe UI"/>
                        </a:rPr>
                        <a:t>Risk</a:t>
                      </a:r>
                    </a:p>
                  </a:txBody>
                  <a:tcPr marL="54864" marR="54864" marT="18288" marB="18288" anchor="ctr">
                    <a:solidFill>
                      <a:srgbClr val="0F2540"/>
                    </a:solidFill>
                  </a:tcPr>
                </a:tc>
                <a:tc>
                  <a:txBody>
                    <a:bodyPr wrap="square"/>
                    <a:lstStyle/>
                    <a:p>
                      <a:pPr algn="ctr"/>
                      <a:r>
                        <a:rPr sz="1050" b="1">
                          <a:solidFill>
                            <a:srgbClr val="FFFFFF"/>
                          </a:solidFill>
                          <a:latin typeface="Segoe UI"/>
                        </a:rPr>
                        <a:t>Sev.</a:t>
                      </a:r>
                    </a:p>
                  </a:txBody>
                  <a:tcPr marL="54864" marR="54864" marT="18288" marB="18288" anchor="ctr">
                    <a:solidFill>
                      <a:srgbClr val="0F2540"/>
                    </a:solidFill>
                  </a:tcPr>
                </a:tc>
                <a:tc>
                  <a:txBody>
                    <a:bodyPr wrap="square"/>
                    <a:lstStyle/>
                    <a:p>
                      <a:pPr algn="l"/>
                      <a:r>
                        <a:rPr sz="1050" b="1">
                          <a:solidFill>
                            <a:srgbClr val="FFFFFF"/>
                          </a:solidFill>
                          <a:latin typeface="Segoe UI"/>
                        </a:rPr>
                        <a:t>Mitigation</a:t>
                      </a:r>
                    </a:p>
                  </a:txBody>
                  <a:tcPr marL="54864" marR="54864" marT="18288" marB="18288" anchor="ctr">
                    <a:solidFill>
                      <a:srgbClr val="0F2540"/>
                    </a:solidFill>
                  </a:tcPr>
                </a:tc>
              </a:tr>
              <a:tr h="658368">
                <a:tc>
                  <a:txBody>
                    <a:bodyPr wrap="square"/>
                    <a:lstStyle/>
                    <a:p>
                      <a:pPr algn="ctr"/>
                      <a:r>
                        <a:rPr sz="1050" b="0">
                          <a:solidFill>
                            <a:srgbClr val="1E2833"/>
                          </a:solidFill>
                          <a:latin typeface="Segoe UI"/>
                        </a:rPr>
                        <a:t>1</a:t>
                      </a:r>
                    </a:p>
                  </a:txBody>
                  <a:tcPr marL="54864" marR="54864" marT="18288" marB="18288" anchor="ctr">
                    <a:solidFill>
                      <a:srgbClr val="FFFFFF"/>
                    </a:solidFill>
                  </a:tcPr>
                </a:tc>
                <a:tc>
                  <a:txBody>
                    <a:bodyPr wrap="square"/>
                    <a:lstStyle/>
                    <a:p>
                      <a:pPr algn="l"/>
                      <a:r>
                        <a:rPr sz="1050" b="0">
                          <a:solidFill>
                            <a:srgbClr val="1E2833"/>
                          </a:solidFill>
                          <a:latin typeface="Segoe UI"/>
                        </a:rPr>
                        <a:t>Design is modeled, not yet flown — headline numbers are predictions</a:t>
                      </a:r>
                    </a:p>
                  </a:txBody>
                  <a:tcPr marL="54864" marR="54864" marT="18288" marB="18288" anchor="ctr">
                    <a:solidFill>
                      <a:srgbClr val="FFFFFF"/>
                    </a:solidFill>
                  </a:tcPr>
                </a:tc>
                <a:tc>
                  <a:txBody>
                    <a:bodyPr wrap="square"/>
                    <a:lstStyle/>
                    <a:p>
                      <a:pPr algn="ctr"/>
                      <a:r>
                        <a:rPr sz="1050" b="0">
                          <a:solidFill>
                            <a:srgbClr val="C12727"/>
                          </a:solidFill>
                          <a:latin typeface="Segoe UI"/>
                        </a:rPr>
                        <a:t>High</a:t>
                      </a:r>
                    </a:p>
                  </a:txBody>
                  <a:tcPr marL="54864" marR="54864" marT="18288" marB="18288" anchor="ctr">
                    <a:solidFill>
                      <a:srgbClr val="FFFFFF"/>
                    </a:solidFill>
                  </a:tcPr>
                </a:tc>
                <a:tc>
                  <a:txBody>
                    <a:bodyPr wrap="square"/>
                    <a:lstStyle/>
                    <a:p>
                      <a:pPr algn="l"/>
                      <a:r>
                        <a:rPr sz="1050" b="0">
                          <a:solidFill>
                            <a:srgbClr val="1E2833"/>
                          </a:solidFill>
                          <a:latin typeface="Segoe UI"/>
                        </a:rPr>
                        <a:t>Build Phase 1; instrumented hover to correlate endurance model within ±15%</a:t>
                      </a:r>
                    </a:p>
                  </a:txBody>
                  <a:tcPr marL="54864" marR="54864" marT="18288" marB="18288" anchor="ctr">
                    <a:solidFill>
                      <a:srgbClr val="FFFFFF"/>
                    </a:solidFill>
                  </a:tcPr>
                </a:tc>
              </a:tr>
              <a:tr h="658368">
                <a:tc>
                  <a:txBody>
                    <a:bodyPr wrap="square"/>
                    <a:lstStyle/>
                    <a:p>
                      <a:pPr algn="ctr"/>
                      <a:r>
                        <a:rPr sz="1050" b="0">
                          <a:solidFill>
                            <a:srgbClr val="1E2833"/>
                          </a:solidFill>
                          <a:latin typeface="Segoe UI"/>
                        </a:rPr>
                        <a:t>2</a:t>
                      </a:r>
                    </a:p>
                  </a:txBody>
                  <a:tcPr marL="54864" marR="54864" marT="18288" marB="18288" anchor="ctr">
                    <a:solidFill>
                      <a:srgbClr val="F6F8FA"/>
                    </a:solidFill>
                  </a:tcPr>
                </a:tc>
                <a:tc>
                  <a:txBody>
                    <a:bodyPr wrap="square"/>
                    <a:lstStyle/>
                    <a:p>
                      <a:pPr algn="l"/>
                      <a:r>
                        <a:rPr sz="1050" b="0">
                          <a:solidFill>
                            <a:srgbClr val="1E2833"/>
                          </a:solidFill>
                          <a:latin typeface="Segoe UI"/>
                        </a:rPr>
                        <a:t>Species classification (R3.2) unproven — needs real thermal signatures + trained AI</a:t>
                      </a:r>
                    </a:p>
                  </a:txBody>
                  <a:tcPr marL="54864" marR="54864" marT="18288" marB="18288" anchor="ctr">
                    <a:solidFill>
                      <a:srgbClr val="F6F8FA"/>
                    </a:solidFill>
                  </a:tcPr>
                </a:tc>
                <a:tc>
                  <a:txBody>
                    <a:bodyPr wrap="square"/>
                    <a:lstStyle/>
                    <a:p>
                      <a:pPr algn="ctr"/>
                      <a:r>
                        <a:rPr sz="1050" b="0">
                          <a:solidFill>
                            <a:srgbClr val="C12727"/>
                          </a:solidFill>
                          <a:latin typeface="Segoe UI"/>
                        </a:rPr>
                        <a:t>High</a:t>
                      </a:r>
                    </a:p>
                  </a:txBody>
                  <a:tcPr marL="54864" marR="54864" marT="18288" marB="18288" anchor="ctr">
                    <a:solidFill>
                      <a:srgbClr val="F6F8FA"/>
                    </a:solidFill>
                  </a:tcPr>
                </a:tc>
                <a:tc>
                  <a:txBody>
                    <a:bodyPr wrap="square"/>
                    <a:lstStyle/>
                    <a:p>
                      <a:pPr algn="l"/>
                      <a:r>
                        <a:rPr sz="1050" b="0">
                          <a:solidFill>
                            <a:srgbClr val="1E2833"/>
                          </a:solidFill>
                          <a:latin typeface="Segoe UI"/>
                        </a:rPr>
                        <a:t>Field thermal capture @ 90–120 m; train &amp; validate model before claiming R3.2</a:t>
                      </a:r>
                    </a:p>
                  </a:txBody>
                  <a:tcPr marL="54864" marR="54864" marT="18288" marB="18288" anchor="ctr">
                    <a:solidFill>
                      <a:srgbClr val="F6F8FA"/>
                    </a:solidFill>
                  </a:tcPr>
                </a:tc>
              </a:tr>
              <a:tr h="658368">
                <a:tc>
                  <a:txBody>
                    <a:bodyPr wrap="square"/>
                    <a:lstStyle/>
                    <a:p>
                      <a:pPr algn="ctr"/>
                      <a:r>
                        <a:rPr sz="1050" b="0">
                          <a:solidFill>
                            <a:srgbClr val="1E2833"/>
                          </a:solidFill>
                          <a:latin typeface="Segoe UI"/>
                        </a:rPr>
                        <a:t>3</a:t>
                      </a:r>
                    </a:p>
                  </a:txBody>
                  <a:tcPr marL="54864" marR="54864" marT="18288" marB="18288" anchor="ctr">
                    <a:solidFill>
                      <a:srgbClr val="FFFFFF"/>
                    </a:solidFill>
                  </a:tcPr>
                </a:tc>
                <a:tc>
                  <a:txBody>
                    <a:bodyPr wrap="square"/>
                    <a:lstStyle/>
                    <a:p>
                      <a:pPr algn="l"/>
                      <a:r>
                        <a:rPr sz="1050" b="0">
                          <a:solidFill>
                            <a:srgbClr val="1E2833"/>
                          </a:solidFill>
                          <a:latin typeface="Segoe UI"/>
                        </a:rPr>
                        <a:t>Regulatory — 2.8 km range is beyond visual line of sight (BVLOS); commercial use needs Part 107</a:t>
                      </a:r>
                    </a:p>
                  </a:txBody>
                  <a:tcPr marL="54864" marR="54864" marT="18288" marB="18288" anchor="ctr">
                    <a:solidFill>
                      <a:srgbClr val="FFFFFF"/>
                    </a:solidFill>
                  </a:tcPr>
                </a:tc>
                <a:tc>
                  <a:txBody>
                    <a:bodyPr wrap="square"/>
                    <a:lstStyle/>
                    <a:p>
                      <a:pPr algn="ctr"/>
                      <a:r>
                        <a:rPr sz="1050" b="0">
                          <a:solidFill>
                            <a:srgbClr val="D9821E"/>
                          </a:solidFill>
                          <a:latin typeface="Segoe UI"/>
                        </a:rPr>
                        <a:t>Med</a:t>
                      </a:r>
                    </a:p>
                  </a:txBody>
                  <a:tcPr marL="54864" marR="54864" marT="18288" marB="18288" anchor="ctr">
                    <a:solidFill>
                      <a:srgbClr val="FFFFFF"/>
                    </a:solidFill>
                  </a:tcPr>
                </a:tc>
                <a:tc>
                  <a:txBody>
                    <a:bodyPr wrap="square"/>
                    <a:lstStyle/>
                    <a:p>
                      <a:pPr algn="l"/>
                      <a:r>
                        <a:rPr sz="1050" b="0">
                          <a:solidFill>
                            <a:srgbClr val="1E2833"/>
                          </a:solidFill>
                          <a:latin typeface="Segoe UI"/>
                        </a:rPr>
                        <a:t>Operate within VLOS or obtain a BVLOS waiver / fly under Part 108; hold a Part 107 certificate; confirm current FAA rules</a:t>
                      </a:r>
                    </a:p>
                  </a:txBody>
                  <a:tcPr marL="54864" marR="54864" marT="18288" marB="18288" anchor="ctr">
                    <a:solidFill>
                      <a:srgbClr val="FFFFFF"/>
                    </a:solidFill>
                  </a:tcPr>
                </a:tc>
              </a:tr>
              <a:tr h="658368">
                <a:tc>
                  <a:txBody>
                    <a:bodyPr wrap="square"/>
                    <a:lstStyle/>
                    <a:p>
                      <a:pPr algn="ctr"/>
                      <a:r>
                        <a:rPr sz="1050" b="0">
                          <a:solidFill>
                            <a:srgbClr val="1E2833"/>
                          </a:solidFill>
                          <a:latin typeface="Segoe UI"/>
                        </a:rPr>
                        <a:t>4</a:t>
                      </a:r>
                    </a:p>
                  </a:txBody>
                  <a:tcPr marL="54864" marR="54864" marT="18288" marB="18288" anchor="ctr">
                    <a:solidFill>
                      <a:srgbClr val="F6F8FA"/>
                    </a:solidFill>
                  </a:tcPr>
                </a:tc>
                <a:tc>
                  <a:txBody>
                    <a:bodyPr wrap="square"/>
                    <a:lstStyle/>
                    <a:p>
                      <a:pPr algn="l"/>
                      <a:r>
                        <a:rPr sz="1050" b="0">
                          <a:solidFill>
                            <a:srgbClr val="1E2833"/>
                          </a:solidFill>
                          <a:latin typeface="Segoe UI"/>
                        </a:rPr>
                        <a:t>Flight-battery single-source (Amprius; prior SKU already sold out)</a:t>
                      </a:r>
                    </a:p>
                  </a:txBody>
                  <a:tcPr marL="54864" marR="54864" marT="18288" marB="18288" anchor="ctr">
                    <a:solidFill>
                      <a:srgbClr val="F6F8FA"/>
                    </a:solidFill>
                  </a:tcPr>
                </a:tc>
                <a:tc>
                  <a:txBody>
                    <a:bodyPr wrap="square"/>
                    <a:lstStyle/>
                    <a:p>
                      <a:pPr algn="ctr"/>
                      <a:r>
                        <a:rPr sz="1050" b="0">
                          <a:solidFill>
                            <a:srgbClr val="D9821E"/>
                          </a:solidFill>
                          <a:latin typeface="Segoe UI"/>
                        </a:rPr>
                        <a:t>Med</a:t>
                      </a:r>
                    </a:p>
                  </a:txBody>
                  <a:tcPr marL="54864" marR="54864" marT="18288" marB="18288" anchor="ctr">
                    <a:solidFill>
                      <a:srgbClr val="F6F8FA"/>
                    </a:solidFill>
                  </a:tcPr>
                </a:tc>
                <a:tc>
                  <a:txBody>
                    <a:bodyPr wrap="square"/>
                    <a:lstStyle/>
                    <a:p>
                      <a:pPr algn="l"/>
                      <a:r>
                        <a:rPr sz="1050" b="0">
                          <a:solidFill>
                            <a:srgbClr val="1E2833"/>
                          </a:solidFill>
                          <a:latin typeface="Segoe UI"/>
                        </a:rPr>
                        <a:t>Qualify GNB 12 Ah fallback; document endurance delta</a:t>
                      </a:r>
                    </a:p>
                  </a:txBody>
                  <a:tcPr marL="54864" marR="54864" marT="18288" marB="18288" anchor="ctr">
                    <a:solidFill>
                      <a:srgbClr val="F6F8FA"/>
                    </a:solidFill>
                  </a:tcPr>
                </a:tc>
              </a:tr>
              <a:tr h="658368">
                <a:tc>
                  <a:txBody>
                    <a:bodyPr wrap="square"/>
                    <a:lstStyle/>
                    <a:p>
                      <a:pPr algn="ctr"/>
                      <a:r>
                        <a:rPr sz="1050" b="0">
                          <a:solidFill>
                            <a:srgbClr val="1E2833"/>
                          </a:solidFill>
                          <a:latin typeface="Segoe UI"/>
                        </a:rPr>
                        <a:t>5</a:t>
                      </a:r>
                    </a:p>
                  </a:txBody>
                  <a:tcPr marL="54864" marR="54864" marT="18288" marB="18288" anchor="ctr">
                    <a:solidFill>
                      <a:srgbClr val="FFFFFF"/>
                    </a:solidFill>
                  </a:tcPr>
                </a:tc>
                <a:tc>
                  <a:txBody>
                    <a:bodyPr wrap="square"/>
                    <a:lstStyle/>
                    <a:p>
                      <a:pPr algn="l"/>
                      <a:r>
                        <a:rPr sz="1050" b="0">
                          <a:solidFill>
                            <a:srgbClr val="1E2833"/>
                          </a:solidFill>
                          <a:latin typeface="Segoe UI"/>
                        </a:rPr>
                        <a:t>Deck-fit uses estimated dimensions for the selected frame</a:t>
                      </a:r>
                    </a:p>
                  </a:txBody>
                  <a:tcPr marL="54864" marR="54864" marT="18288" marB="18288" anchor="ctr">
                    <a:solidFill>
                      <a:srgbClr val="FFFFFF"/>
                    </a:solidFill>
                  </a:tcPr>
                </a:tc>
                <a:tc>
                  <a:txBody>
                    <a:bodyPr wrap="square"/>
                    <a:lstStyle/>
                    <a:p>
                      <a:pPr algn="ctr"/>
                      <a:r>
                        <a:rPr sz="1050" b="0">
                          <a:solidFill>
                            <a:srgbClr val="D9821E"/>
                          </a:solidFill>
                          <a:latin typeface="Segoe UI"/>
                        </a:rPr>
                        <a:t>Med</a:t>
                      </a:r>
                    </a:p>
                  </a:txBody>
                  <a:tcPr marL="54864" marR="54864" marT="18288" marB="18288" anchor="ctr">
                    <a:solidFill>
                      <a:srgbClr val="FFFFFF"/>
                    </a:solidFill>
                  </a:tcPr>
                </a:tc>
                <a:tc>
                  <a:txBody>
                    <a:bodyPr wrap="square"/>
                    <a:lstStyle/>
                    <a:p>
                      <a:pPr algn="l"/>
                      <a:r>
                        <a:rPr sz="1050" b="0">
                          <a:solidFill>
                            <a:srgbClr val="1E2833"/>
                          </a:solidFill>
                          <a:latin typeface="Segoe UI"/>
                        </a:rPr>
                        <a:t>Measure real Chimera9 deck / vendor CAD before Phase 2 build</a:t>
                      </a:r>
                    </a:p>
                  </a:txBody>
                  <a:tcPr marL="54864" marR="54864" marT="18288" marB="18288" anchor="ctr">
                    <a:solidFill>
                      <a:srgbClr val="FFFFFF"/>
                    </a:solidFill>
                  </a:tcPr>
                </a:tc>
              </a:tr>
              <a:tr h="658368">
                <a:tc>
                  <a:txBody>
                    <a:bodyPr wrap="square"/>
                    <a:lstStyle/>
                    <a:p>
                      <a:pPr algn="ctr"/>
                      <a:r>
                        <a:rPr sz="1050" b="0">
                          <a:solidFill>
                            <a:srgbClr val="1E2833"/>
                          </a:solidFill>
                          <a:latin typeface="Segoe UI"/>
                        </a:rPr>
                        <a:t>6</a:t>
                      </a:r>
                    </a:p>
                  </a:txBody>
                  <a:tcPr marL="54864" marR="54864" marT="18288" marB="18288" anchor="ctr">
                    <a:solidFill>
                      <a:srgbClr val="F6F8FA"/>
                    </a:solidFill>
                  </a:tcPr>
                </a:tc>
                <a:tc>
                  <a:txBody>
                    <a:bodyPr wrap="square"/>
                    <a:lstStyle/>
                    <a:p>
                      <a:pPr algn="l"/>
                      <a:r>
                        <a:rPr sz="1050" b="0">
                          <a:solidFill>
                            <a:srgbClr val="1E2833"/>
                          </a:solidFill>
                          <a:latin typeface="Segoe UI"/>
                        </a:rPr>
                        <a:t>Endurance model is first-order (FoM/η/C_d assumed)</a:t>
                      </a:r>
                    </a:p>
                  </a:txBody>
                  <a:tcPr marL="54864" marR="54864" marT="18288" marB="18288" anchor="ctr">
                    <a:solidFill>
                      <a:srgbClr val="F6F8FA"/>
                    </a:solidFill>
                  </a:tcPr>
                </a:tc>
                <a:tc>
                  <a:txBody>
                    <a:bodyPr wrap="square"/>
                    <a:lstStyle/>
                    <a:p>
                      <a:pPr algn="ctr"/>
                      <a:r>
                        <a:rPr sz="1050" b="0">
                          <a:solidFill>
                            <a:srgbClr val="D9821E"/>
                          </a:solidFill>
                          <a:latin typeface="Segoe UI"/>
                        </a:rPr>
                        <a:t>Med</a:t>
                      </a:r>
                    </a:p>
                  </a:txBody>
                  <a:tcPr marL="54864" marR="54864" marT="18288" marB="18288" anchor="ctr">
                    <a:solidFill>
                      <a:srgbClr val="F6F8FA"/>
                    </a:solidFill>
                  </a:tcPr>
                </a:tc>
                <a:tc>
                  <a:txBody>
                    <a:bodyPr wrap="square"/>
                    <a:lstStyle/>
                    <a:p>
                      <a:pPr algn="l"/>
                      <a:r>
                        <a:rPr sz="1050" b="0">
                          <a:solidFill>
                            <a:srgbClr val="1E2833"/>
                          </a:solidFill>
                          <a:latin typeface="Segoe UI"/>
                        </a:rPr>
                        <a:t>Correlate to measured hover current on first flights</a:t>
                      </a:r>
                    </a:p>
                  </a:txBody>
                  <a:tcPr marL="54864" marR="54864" marT="18288" marB="18288" anchor="ctr">
                    <a:solidFill>
                      <a:srgbClr val="F6F8FA"/>
                    </a:solidFill>
                  </a:tcPr>
                </a:tc>
              </a:tr>
            </a:tbl>
          </a:graphicData>
        </a:graphic>
      </p:graphicFrame>
      <p:sp>
        <p:nvSpPr>
          <p:cNvPr id="10" name="TextBox 9"/>
          <p:cNvSpPr txBox="1"/>
          <p:nvPr/>
        </p:nvSpPr>
        <p:spPr>
          <a:xfrm>
            <a:off x="566928" y="5943600"/>
            <a:ext cx="11055096" cy="365760"/>
          </a:xfrm>
          <a:prstGeom prst="rect">
            <a:avLst/>
          </a:prstGeom>
          <a:noFill/>
        </p:spPr>
        <p:txBody>
          <a:bodyPr wrap="square" anchor="t" lIns="0" rIns="0" tIns="0" bIns="0">
            <a:spAutoFit/>
          </a:bodyPr>
          <a:lstStyle/>
          <a:p>
            <a:pPr algn="l">
              <a:lnSpc>
                <a:spcPct val="100000"/>
              </a:lnSpc>
              <a:spcBef>
                <a:spcPts val="0"/>
              </a:spcBef>
              <a:spcAft>
                <a:spcPts val="400"/>
              </a:spcAft>
            </a:pPr>
            <a:r>
              <a:rPr sz="1000" b="0" i="1">
                <a:solidFill>
                  <a:srgbClr val="5C6B7A"/>
                </a:solidFill>
                <a:latin typeface="Segoe UI"/>
              </a:rPr>
              <a:t>At CDR, “not yet built” is expected — the material risks are the estimates and the external (regulatory / classification) items, all with defined mitigations.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5096" cy="23774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2E86AB"/>
                </a:solidFill>
                <a:latin typeface="Segoe UI"/>
              </a:rPr>
              <a:t>SECTION 5 · CLOSURE</a:t>
            </a:r>
          </a:p>
        </p:txBody>
      </p:sp>
      <p:sp>
        <p:nvSpPr>
          <p:cNvPr id="3" name="TextBox 2"/>
          <p:cNvSpPr txBox="1"/>
          <p:nvPr/>
        </p:nvSpPr>
        <p:spPr>
          <a:xfrm>
            <a:off x="566928" y="530352"/>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0F2540"/>
                </a:solidFill>
                <a:latin typeface="Segoe UI"/>
              </a:rPr>
              <a:t>Open Items  (TBD / TBR / Action)</a:t>
            </a:r>
          </a:p>
        </p:txBody>
      </p:sp>
      <p:sp>
        <p:nvSpPr>
          <p:cNvPr id="4" name="Rectangle 3"/>
          <p:cNvSpPr/>
          <p:nvPr/>
        </p:nvSpPr>
        <p:spPr>
          <a:xfrm>
            <a:off x="566928" y="1097280"/>
            <a:ext cx="822960" cy="38100"/>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47104"/>
            <a:ext cx="12191695" cy="15240"/>
          </a:xfrm>
          <a:prstGeom prst="rect">
            <a:avLst/>
          </a:prstGeom>
          <a:solidFill>
            <a:srgbClr val="D4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8229600" cy="256032"/>
          </a:xfrm>
          <a:prstGeom prst="rect">
            <a:avLst/>
          </a:prstGeom>
          <a:noFill/>
        </p:spPr>
        <p:txBody>
          <a:bodyPr wrap="square" anchor="ctr" lIns="0" rIns="0" tIns="0" bIns="0">
            <a:spAutoFit/>
          </a:bodyPr>
          <a:lstStyle/>
          <a:p>
            <a:pPr algn="l">
              <a:lnSpc>
                <a:spcPct val="100000"/>
              </a:lnSpc>
              <a:spcBef>
                <a:spcPts val="0"/>
              </a:spcBef>
              <a:spcAft>
                <a:spcPts val="400"/>
              </a:spcAft>
            </a:pPr>
            <a:r>
              <a:rPr sz="850" b="0" i="0">
                <a:solidFill>
                  <a:srgbClr val="5C6B7A"/>
                </a:solidFill>
                <a:latin typeface="Segoe UI"/>
              </a:rPr>
              <a:t>Thermal Surveillance UAS  ·  Critical Design Review</a:t>
            </a:r>
          </a:p>
        </p:txBody>
      </p:sp>
      <p:sp>
        <p:nvSpPr>
          <p:cNvPr id="7" name="TextBox 6"/>
          <p:cNvSpPr txBox="1"/>
          <p:nvPr/>
        </p:nvSpPr>
        <p:spPr>
          <a:xfrm>
            <a:off x="10088575" y="6565392"/>
            <a:ext cx="1536192"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0" i="0">
                <a:solidFill>
                  <a:srgbClr val="5C6B7A"/>
                </a:solidFill>
                <a:latin typeface="Segoe UI"/>
              </a:rPr>
              <a:t>CDR  ·  2026-07-26</a:t>
            </a:r>
          </a:p>
        </p:txBody>
      </p:sp>
      <p:sp>
        <p:nvSpPr>
          <p:cNvPr id="8" name="TextBox 7"/>
          <p:cNvSpPr txBox="1"/>
          <p:nvPr/>
        </p:nvSpPr>
        <p:spPr>
          <a:xfrm>
            <a:off x="11624767" y="6565392"/>
            <a:ext cx="365760" cy="256032"/>
          </a:xfrm>
          <a:prstGeom prst="rect">
            <a:avLst/>
          </a:prstGeom>
          <a:noFill/>
        </p:spPr>
        <p:txBody>
          <a:bodyPr wrap="square" anchor="ctr" lIns="0" rIns="0" tIns="0" bIns="0">
            <a:spAutoFit/>
          </a:bodyPr>
          <a:lstStyle/>
          <a:p>
            <a:pPr algn="r">
              <a:lnSpc>
                <a:spcPct val="100000"/>
              </a:lnSpc>
              <a:spcBef>
                <a:spcPts val="0"/>
              </a:spcBef>
              <a:spcAft>
                <a:spcPts val="400"/>
              </a:spcAft>
            </a:pPr>
            <a:r>
              <a:rPr sz="850" b="1" i="0">
                <a:solidFill>
                  <a:srgbClr val="1F3A5F"/>
                </a:solidFill>
                <a:latin typeface="Segoe UI"/>
              </a:rPr>
              <a:t>39</a:t>
            </a:r>
          </a:p>
        </p:txBody>
      </p:sp>
      <p:graphicFrame>
        <p:nvGraphicFramePr>
          <p:cNvPr id="9" name="Table 8"/>
          <p:cNvGraphicFramePr>
            <a:graphicFrameLocks noGrp="1"/>
          </p:cNvGraphicFramePr>
          <p:nvPr/>
        </p:nvGraphicFramePr>
        <p:xfrm>
          <a:off x="566928" y="1371600"/>
          <a:ext cx="11055096" cy="4279392"/>
        </p:xfrm>
        <a:graphic>
          <a:graphicData uri="http://schemas.openxmlformats.org/drawingml/2006/table">
            <a:tbl>
              <a:tblPr>
                <a:tableStyleId>{5C22544A-7EE6-4342-B048-85BDC9FD1C3A}</a:tableStyleId>
              </a:tblPr>
              <a:tblGrid>
                <a:gridCol w="5394960"/>
                <a:gridCol w="1005840"/>
                <a:gridCol w="4654296"/>
              </a:tblGrid>
              <a:tr h="310896">
                <a:tc>
                  <a:txBody>
                    <a:bodyPr wrap="square"/>
                    <a:lstStyle/>
                    <a:p>
                      <a:pPr algn="l"/>
                      <a:r>
                        <a:rPr sz="1100" b="1">
                          <a:solidFill>
                            <a:srgbClr val="FFFFFF"/>
                          </a:solidFill>
                          <a:latin typeface="Segoe UI"/>
                        </a:rPr>
                        <a:t>Item</a:t>
                      </a:r>
                    </a:p>
                  </a:txBody>
                  <a:tcPr marL="54864" marR="54864" marT="18288" marB="18288" anchor="ctr">
                    <a:solidFill>
                      <a:srgbClr val="0F2540"/>
                    </a:solidFill>
                  </a:tcPr>
                </a:tc>
                <a:tc>
                  <a:txBody>
                    <a:bodyPr wrap="square"/>
                    <a:lstStyle/>
                    <a:p>
                      <a:pPr algn="ctr"/>
                      <a:r>
                        <a:rPr sz="1100" b="1">
                          <a:solidFill>
                            <a:srgbClr val="FFFFFF"/>
                          </a:solidFill>
                          <a:latin typeface="Segoe UI"/>
                        </a:rPr>
                        <a:t>Type</a:t>
                      </a:r>
                    </a:p>
                  </a:txBody>
                  <a:tcPr marL="54864" marR="54864" marT="18288" marB="18288" anchor="ctr">
                    <a:solidFill>
                      <a:srgbClr val="0F2540"/>
                    </a:solidFill>
                  </a:tcPr>
                </a:tc>
                <a:tc>
                  <a:txBody>
                    <a:bodyPr wrap="square"/>
                    <a:lstStyle/>
                    <a:p>
                      <a:pPr algn="l"/>
                      <a:r>
                        <a:rPr sz="1100" b="1">
                          <a:solidFill>
                            <a:srgbClr val="FFFFFF"/>
                          </a:solidFill>
                          <a:latin typeface="Segoe UI"/>
                        </a:rPr>
                        <a:t>Owner action</a:t>
                      </a:r>
                    </a:p>
                  </a:txBody>
                  <a:tcPr marL="54864" marR="54864" marT="18288" marB="18288" anchor="ctr">
                    <a:solidFill>
                      <a:srgbClr val="0F2540"/>
                    </a:solidFill>
                  </a:tcPr>
                </a:tc>
              </a:tr>
              <a:tr h="566928">
                <a:tc>
                  <a:txBody>
                    <a:bodyPr wrap="square"/>
                    <a:lstStyle/>
                    <a:p>
                      <a:pPr algn="l"/>
                      <a:r>
                        <a:rPr sz="1100" b="0">
                          <a:solidFill>
                            <a:srgbClr val="1E2833"/>
                          </a:solidFill>
                          <a:latin typeface="Segoe UI"/>
                        </a:rPr>
                        <a:t>RTL reserve-energy threshold value (R6_BHV_RTL_RESERVE)</a:t>
                      </a:r>
                    </a:p>
                  </a:txBody>
                  <a:tcPr marL="54864" marR="54864" marT="18288" marB="18288" anchor="ctr">
                    <a:solidFill>
                      <a:srgbClr val="FFFFFF"/>
                    </a:solidFill>
                  </a:tcPr>
                </a:tc>
                <a:tc>
                  <a:txBody>
                    <a:bodyPr wrap="square"/>
                    <a:lstStyle/>
                    <a:p>
                      <a:pPr algn="ctr"/>
                      <a:r>
                        <a:rPr sz="1100" b="0">
                          <a:solidFill>
                            <a:srgbClr val="D9821E"/>
                          </a:solidFill>
                          <a:latin typeface="Segoe UI"/>
                        </a:rPr>
                        <a:t>TBR</a:t>
                      </a:r>
                    </a:p>
                  </a:txBody>
                  <a:tcPr marL="54864" marR="54864" marT="18288" marB="18288" anchor="ctr">
                    <a:solidFill>
                      <a:srgbClr val="FFFFFF"/>
                    </a:solidFill>
                  </a:tcPr>
                </a:tc>
                <a:tc>
                  <a:txBody>
                    <a:bodyPr wrap="square"/>
                    <a:lstStyle/>
                    <a:p>
                      <a:pPr algn="l"/>
                      <a:r>
                        <a:rPr sz="1100" b="0">
                          <a:solidFill>
                            <a:srgbClr val="1E2833"/>
                          </a:solidFill>
                          <a:latin typeface="Segoe UI"/>
                        </a:rPr>
                        <a:t>Set policy value before first autonomous flight</a:t>
                      </a:r>
                    </a:p>
                  </a:txBody>
                  <a:tcPr marL="54864" marR="54864" marT="18288" marB="18288" anchor="ctr">
                    <a:solidFill>
                      <a:srgbClr val="FFFFFF"/>
                    </a:solidFill>
                  </a:tcPr>
                </a:tc>
              </a:tr>
              <a:tr h="566928">
                <a:tc>
                  <a:txBody>
                    <a:bodyPr wrap="square"/>
                    <a:lstStyle/>
                    <a:p>
                      <a:pPr algn="l"/>
                      <a:r>
                        <a:rPr sz="1100" b="0">
                          <a:solidFill>
                            <a:srgbClr val="1E2833"/>
                          </a:solidFill>
                          <a:latin typeface="Segoe UI"/>
                        </a:rPr>
                        <a:t>FC firmware — reconciled in MODEL_ISSUES.md §B7 (RESOLVED)</a:t>
                      </a:r>
                    </a:p>
                  </a:txBody>
                  <a:tcPr marL="54864" marR="54864" marT="18288" marB="18288" anchor="ctr">
                    <a:solidFill>
                      <a:srgbClr val="F6F8FA"/>
                    </a:solidFill>
                  </a:tcPr>
                </a:tc>
                <a:tc>
                  <a:txBody>
                    <a:bodyPr wrap="square"/>
                    <a:lstStyle/>
                    <a:p>
                      <a:pPr algn="ctr"/>
                      <a:r>
                        <a:rPr sz="1100" b="0">
                          <a:solidFill>
                            <a:srgbClr val="1F3A5F"/>
                          </a:solidFill>
                          <a:latin typeface="Segoe UI"/>
                        </a:rPr>
                        <a:t>RESOLVED</a:t>
                      </a:r>
                    </a:p>
                  </a:txBody>
                  <a:tcPr marL="54864" marR="54864" marT="18288" marB="18288" anchor="ctr">
                    <a:solidFill>
                      <a:srgbClr val="F6F8FA"/>
                    </a:solidFill>
                  </a:tcPr>
                </a:tc>
                <a:tc>
                  <a:txBody>
                    <a:bodyPr wrap="square"/>
                    <a:lstStyle/>
                    <a:p>
                      <a:pPr algn="l"/>
                      <a:r>
                        <a:rPr sz="1100" b="0">
                          <a:solidFill>
                            <a:srgbClr val="1E2833"/>
                          </a:solidFill>
                          <a:latin typeface="Segoe UI"/>
                        </a:rPr>
                        <a:t>Issues log updated 2026-08-09 to match SELECTED_COMPONENTS</a:t>
                      </a:r>
                    </a:p>
                  </a:txBody>
                  <a:tcPr marL="54864" marR="54864" marT="18288" marB="18288" anchor="ctr">
                    <a:solidFill>
                      <a:srgbClr val="F6F8FA"/>
                    </a:solidFill>
                  </a:tcPr>
                </a:tc>
              </a:tr>
              <a:tr h="566928">
                <a:tc>
                  <a:txBody>
                    <a:bodyPr wrap="square"/>
                    <a:lstStyle/>
                    <a:p>
                      <a:pPr algn="l"/>
                      <a:r>
                        <a:rPr sz="1100" b="0">
                          <a:solidFill>
                            <a:srgbClr val="1E2833"/>
                          </a:solidFill>
                          <a:latin typeface="Segoe UI"/>
                        </a:rPr>
                        <a:t>Selected-frame deck &amp; battery-bay dimensions are estimates</a:t>
                      </a:r>
                    </a:p>
                  </a:txBody>
                  <a:tcPr marL="54864" marR="54864" marT="18288" marB="18288" anchor="ctr">
                    <a:solidFill>
                      <a:srgbClr val="FFFFFF"/>
                    </a:solidFill>
                  </a:tcPr>
                </a:tc>
                <a:tc>
                  <a:txBody>
                    <a:bodyPr wrap="square"/>
                    <a:lstStyle/>
                    <a:p>
                      <a:pPr algn="ctr"/>
                      <a:r>
                        <a:rPr sz="1100" b="0">
                          <a:solidFill>
                            <a:srgbClr val="D9821E"/>
                          </a:solidFill>
                          <a:latin typeface="Segoe UI"/>
                        </a:rPr>
                        <a:t>TBR</a:t>
                      </a:r>
                    </a:p>
                  </a:txBody>
                  <a:tcPr marL="54864" marR="54864" marT="18288" marB="18288" anchor="ctr">
                    <a:solidFill>
                      <a:srgbClr val="FFFFFF"/>
                    </a:solidFill>
                  </a:tcPr>
                </a:tc>
                <a:tc>
                  <a:txBody>
                    <a:bodyPr wrap="square"/>
                    <a:lstStyle/>
                    <a:p>
                      <a:pPr algn="l"/>
                      <a:r>
                        <a:rPr sz="1100" b="0">
                          <a:solidFill>
                            <a:srgbClr val="1E2833"/>
                          </a:solidFill>
                          <a:latin typeface="Segoe UI"/>
                        </a:rPr>
                        <a:t>Confirm from vendor CAD / measurement (Phase 2 gate)</a:t>
                      </a:r>
                    </a:p>
                  </a:txBody>
                  <a:tcPr marL="54864" marR="54864" marT="18288" marB="18288" anchor="ctr">
                    <a:solidFill>
                      <a:srgbClr val="FFFFFF"/>
                    </a:solidFill>
                  </a:tcPr>
                </a:tc>
              </a:tr>
              <a:tr h="566928">
                <a:tc>
                  <a:txBody>
                    <a:bodyPr wrap="square"/>
                    <a:lstStyle/>
                    <a:p>
                      <a:pPr algn="l"/>
                      <a:r>
                        <a:rPr sz="1100" b="0">
                          <a:solidFill>
                            <a:srgbClr val="1E2833"/>
                          </a:solidFill>
                          <a:latin typeface="Segoe UI"/>
                        </a:rPr>
                        <a:t>SBC mount — 3D-printed deck not yet designed or modeled</a:t>
                      </a:r>
                    </a:p>
                  </a:txBody>
                  <a:tcPr marL="54864" marR="54864" marT="18288" marB="18288" anchor="ctr">
                    <a:solidFill>
                      <a:srgbClr val="F6F8FA"/>
                    </a:solidFill>
                  </a:tcPr>
                </a:tc>
                <a:tc>
                  <a:txBody>
                    <a:bodyPr wrap="square"/>
                    <a:lstStyle/>
                    <a:p>
                      <a:pPr algn="ctr"/>
                      <a:r>
                        <a:rPr sz="1100" b="0">
                          <a:solidFill>
                            <a:srgbClr val="1F3A5F"/>
                          </a:solidFill>
                          <a:latin typeface="Segoe UI"/>
                        </a:rPr>
                        <a:t>Design</a:t>
                      </a:r>
                    </a:p>
                  </a:txBody>
                  <a:tcPr marL="54864" marR="54864" marT="18288" marB="18288" anchor="ctr">
                    <a:solidFill>
                      <a:srgbClr val="F6F8FA"/>
                    </a:solidFill>
                  </a:tcPr>
                </a:tc>
                <a:tc>
                  <a:txBody>
                    <a:bodyPr wrap="square"/>
                    <a:lstStyle/>
                    <a:p>
                      <a:pPr algn="l"/>
                      <a:r>
                        <a:rPr sz="1100" b="0">
                          <a:solidFill>
                            <a:srgbClr val="1E2833"/>
                          </a:solidFill>
                          <a:latin typeface="Segoe UI"/>
                        </a:rPr>
                        <a:t>Design the mount + add it to model.sysml and CAD (Phase 2 gate)</a:t>
                      </a:r>
                    </a:p>
                  </a:txBody>
                  <a:tcPr marL="54864" marR="54864" marT="18288" marB="18288" anchor="ctr">
                    <a:solidFill>
                      <a:srgbClr val="F6F8FA"/>
                    </a:solidFill>
                  </a:tcPr>
                </a:tc>
              </a:tr>
              <a:tr h="566928">
                <a:tc>
                  <a:txBody>
                    <a:bodyPr wrap="square"/>
                    <a:lstStyle/>
                    <a:p>
                      <a:pPr algn="l"/>
                      <a:r>
                        <a:rPr sz="1100" b="0">
                          <a:solidFill>
                            <a:srgbClr val="1E2833"/>
                          </a:solidFill>
                          <a:latin typeface="Segoe UI"/>
                        </a:rPr>
                        <a:t>AF5 (EMAX Hawk 7) mass gap — non-selected frame</a:t>
                      </a:r>
                    </a:p>
                  </a:txBody>
                  <a:tcPr marL="54864" marR="54864" marT="18288" marB="18288" anchor="ctr">
                    <a:solidFill>
                      <a:srgbClr val="FFFFFF"/>
                    </a:solidFill>
                  </a:tcPr>
                </a:tc>
                <a:tc>
                  <a:txBody>
                    <a:bodyPr wrap="square"/>
                    <a:lstStyle/>
                    <a:p>
                      <a:pPr algn="ctr"/>
                      <a:r>
                        <a:rPr sz="1100" b="0">
                          <a:solidFill>
                            <a:srgbClr val="1F3A5F"/>
                          </a:solidFill>
                          <a:latin typeface="Segoe UI"/>
                        </a:rPr>
                        <a:t>RETIRED</a:t>
                      </a:r>
                    </a:p>
                  </a:txBody>
                  <a:tcPr marL="54864" marR="54864" marT="18288" marB="18288" anchor="ctr">
                    <a:solidFill>
                      <a:srgbClr val="FFFFFF"/>
                    </a:solidFill>
                  </a:tcPr>
                </a:tc>
                <a:tc>
                  <a:txBody>
                    <a:bodyPr wrap="square"/>
                    <a:lstStyle/>
                    <a:p>
                      <a:pPr algn="l"/>
                      <a:r>
                        <a:rPr sz="1100" b="0">
                          <a:solidFill>
                            <a:srgbClr val="1E2833"/>
                          </a:solidFill>
                          <a:latin typeface="Segoe UI"/>
                        </a:rPr>
                        <a:t>Retired 2026-08-08 from candidates.sysml (see MODEL_ISSUES.md B4). No effect on baseline.</a:t>
                      </a:r>
                    </a:p>
                  </a:txBody>
                  <a:tcPr marL="54864" marR="54864" marT="18288" marB="18288" anchor="ctr">
                    <a:solidFill>
                      <a:srgbClr val="FFFFFF"/>
                    </a:solidFill>
                  </a:tcPr>
                </a:tc>
              </a:tr>
              <a:tr h="566928">
                <a:tc>
                  <a:txBody>
                    <a:bodyPr wrap="square"/>
                    <a:lstStyle/>
                    <a:p>
                      <a:pPr algn="l"/>
                      <a:r>
                        <a:rPr sz="1100" b="0">
                          <a:solidFill>
                            <a:srgbClr val="1E2833"/>
                          </a:solidFill>
                          <a:latin typeface="Segoe UI"/>
                        </a:rPr>
                        <a:t>Phase 4 (OpenHD) component pricing</a:t>
                      </a:r>
                    </a:p>
                  </a:txBody>
                  <a:tcPr marL="54864" marR="54864" marT="18288" marB="18288" anchor="ctr">
                    <a:solidFill>
                      <a:srgbClr val="F6F8FA"/>
                    </a:solidFill>
                  </a:tcPr>
                </a:tc>
                <a:tc>
                  <a:txBody>
                    <a:bodyPr wrap="square"/>
                    <a:lstStyle/>
                    <a:p>
                      <a:pPr algn="ctr"/>
                      <a:r>
                        <a:rPr sz="1100" b="0">
                          <a:solidFill>
                            <a:srgbClr val="D9821E"/>
                          </a:solidFill>
                          <a:latin typeface="Segoe UI"/>
                        </a:rPr>
                        <a:t>TBD</a:t>
                      </a:r>
                    </a:p>
                  </a:txBody>
                  <a:tcPr marL="54864" marR="54864" marT="18288" marB="18288" anchor="ctr">
                    <a:solidFill>
                      <a:srgbClr val="F6F8FA"/>
                    </a:solidFill>
                  </a:tcPr>
                </a:tc>
                <a:tc>
                  <a:txBody>
                    <a:bodyPr wrap="square"/>
                    <a:lstStyle/>
                    <a:p>
                      <a:pPr algn="l"/>
                      <a:r>
                        <a:rPr sz="1100" b="0">
                          <a:solidFill>
                            <a:srgbClr val="1E2833"/>
                          </a:solidFill>
                          <a:latin typeface="Segoe UI"/>
                        </a:rPr>
                        <a:t>Confirm before any Phase 4 build (deferred)</a:t>
                      </a:r>
                    </a:p>
                  </a:txBody>
                  <a:tcPr marL="54864" marR="54864" marT="18288" marB="18288" anchor="ctr">
                    <a:solidFill>
                      <a:srgbClr val="F6F8FA"/>
                    </a:solidFill>
                  </a:tcPr>
                </a:tc>
              </a:tr>
              <a:tr h="566928">
                <a:tc>
                  <a:txBody>
                    <a:bodyPr wrap="square"/>
                    <a:lstStyle/>
                    <a:p>
                      <a:pPr algn="l"/>
                      <a:r>
                        <a:rPr sz="1100" b="0">
                          <a:solidFill>
                            <a:srgbClr val="1E2833"/>
                          </a:solidFill>
                          <a:latin typeface="Segoe UI"/>
                        </a:rPr>
                        <a:t>Empirical validation of endurance / thermal / RF</a:t>
                      </a:r>
                    </a:p>
                  </a:txBody>
                  <a:tcPr marL="54864" marR="54864" marT="18288" marB="18288" anchor="ctr">
                    <a:solidFill>
                      <a:srgbClr val="FFFFFF"/>
                    </a:solidFill>
                  </a:tcPr>
                </a:tc>
                <a:tc>
                  <a:txBody>
                    <a:bodyPr wrap="square"/>
                    <a:lstStyle/>
                    <a:p>
                      <a:pPr algn="ctr"/>
                      <a:r>
                        <a:rPr sz="1100" b="0">
                          <a:solidFill>
                            <a:srgbClr val="1F3A5F"/>
                          </a:solidFill>
                          <a:latin typeface="Segoe UI"/>
                        </a:rPr>
                        <a:t>Action</a:t>
                      </a:r>
                    </a:p>
                  </a:txBody>
                  <a:tcPr marL="54864" marR="54864" marT="18288" marB="18288" anchor="ctr">
                    <a:solidFill>
                      <a:srgbClr val="FFFFFF"/>
                    </a:solidFill>
                  </a:tcPr>
                </a:tc>
                <a:tc>
                  <a:txBody>
                    <a:bodyPr wrap="square"/>
                    <a:lstStyle/>
                    <a:p>
                      <a:pPr algn="l"/>
                      <a:r>
                        <a:rPr sz="1100" b="0">
                          <a:solidFill>
                            <a:srgbClr val="1E2833"/>
                          </a:solidFill>
                          <a:latin typeface="Segoe UI"/>
                        </a:rPr>
                        <a:t>Flight test, field thermal capture, range test</a:t>
                      </a:r>
                    </a:p>
                  </a:txBody>
                  <a:tcPr marL="54864" marR="54864" marT="18288" marB="18288" anchor="ctr">
                    <a:solidFill>
                      <a:srgbClr val="FFFFFF"/>
                    </a:solidFill>
                  </a:tcPr>
                </a:tc>
              </a:tr>
            </a:tbl>
          </a:graphicData>
        </a:graphic>
      </p:graphicFrame>
      <p:sp>
        <p:nvSpPr>
          <p:cNvPr id="10" name="TextBox 9"/>
          <p:cNvSpPr txBox="1"/>
          <p:nvPr/>
        </p:nvSpPr>
        <p:spPr>
          <a:xfrm>
            <a:off x="566928" y="5806440"/>
            <a:ext cx="11055096" cy="457200"/>
          </a:xfrm>
          <a:prstGeom prst="rect">
            <a:avLst/>
          </a:prstGeom>
          <a:noFill/>
        </p:spPr>
        <p:txBody>
          <a:bodyPr wrap="square" anchor="t" lIns="0" rIns="0" tIns="0" bIns="0">
            <a:spAutoFit/>
          </a:bodyPr>
          <a:lstStyle/>
          <a:p>
            <a:pPr algn="l">
              <a:lnSpc>
                <a:spcPct val="100000"/>
              </a:lnSpc>
              <a:spcBef>
                <a:spcPts val="0"/>
              </a:spcBef>
              <a:spcAft>
                <a:spcPts val="400"/>
              </a:spcAft>
            </a:pPr>
            <a:r>
              <a:rPr sz="1050" b="0" i="1">
                <a:solidFill>
                  <a:srgbClr val="5C6B7A"/>
                </a:solidFill>
                <a:latin typeface="Segoe UI"/>
              </a:rPr>
              <a:t>None of the open items block the design baseline; all are bounded and assignable. Empirical validation is the primary pre-operational activity.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D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02920"/>
            <a:ext cx="11055096"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8FC5E0"/>
                </a:solidFill>
                <a:latin typeface="Segoe UI"/>
              </a:rPr>
              <a:t>SECTION 5 · CLOSURE</a:t>
            </a:r>
          </a:p>
        </p:txBody>
      </p:sp>
      <p:sp>
        <p:nvSpPr>
          <p:cNvPr id="5" name="TextBox 4"/>
          <p:cNvSpPr txBox="1"/>
          <p:nvPr/>
        </p:nvSpPr>
        <p:spPr>
          <a:xfrm>
            <a:off x="566928" y="822960"/>
            <a:ext cx="11055096"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FFFFFF"/>
                </a:solidFill>
                <a:latin typeface="Segoe UI"/>
              </a:rPr>
              <a:t>CDR Exit Assessment &amp; Recommendation</a:t>
            </a:r>
          </a:p>
        </p:txBody>
      </p:sp>
      <p:sp>
        <p:nvSpPr>
          <p:cNvPr id="6" name="TextBox 5"/>
          <p:cNvSpPr txBox="1"/>
          <p:nvPr/>
        </p:nvSpPr>
        <p:spPr>
          <a:xfrm>
            <a:off x="566928" y="1783080"/>
            <a:ext cx="603504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8FC5E0"/>
                </a:solidFill>
                <a:latin typeface="Segoe UI"/>
              </a:rPr>
              <a:t>EXIT CRITERIA</a:t>
            </a:r>
          </a:p>
        </p:txBody>
      </p:sp>
      <p:sp>
        <p:nvSpPr>
          <p:cNvPr id="7" name="TextBox 6"/>
          <p:cNvSpPr txBox="1"/>
          <p:nvPr/>
        </p:nvSpPr>
        <p:spPr>
          <a:xfrm>
            <a:off x="566928" y="2194560"/>
            <a:ext cx="6126480" cy="3931920"/>
          </a:xfrm>
          <a:prstGeom prst="rect">
            <a:avLst/>
          </a:prstGeom>
          <a:noFill/>
        </p:spPr>
        <p:txBody>
          <a:bodyPr wrap="square">
            <a:spAutoFit/>
          </a:bodyPr>
          <a:lstStyle/>
          <a:p>
            <a:pPr>
              <a:lnSpc>
                <a:spcPct val="102000"/>
              </a:lnSpc>
              <a:spcAft>
                <a:spcPts val="800"/>
              </a:spcAft>
            </a:pPr>
            <a:r>
              <a:rPr sz="1350" b="1">
                <a:solidFill>
                  <a:srgbClr val="2E7D32"/>
                </a:solidFill>
                <a:latin typeface="Segoe UI"/>
              </a:rPr>
              <a:t>✓  </a:t>
            </a:r>
            <a:r>
              <a:rPr sz="1350">
                <a:solidFill>
                  <a:srgbClr val="E6ECF2"/>
                </a:solidFill>
                <a:latin typeface="Segoe UI"/>
              </a:rPr>
              <a:t>Detailed design complete &amp; traces to R1–R8</a:t>
            </a:r>
          </a:p>
          <a:p>
            <a:pPr>
              <a:lnSpc>
                <a:spcPct val="102000"/>
              </a:lnSpc>
              <a:spcAft>
                <a:spcPts val="800"/>
              </a:spcAft>
            </a:pPr>
            <a:r>
              <a:rPr sz="1350" b="1">
                <a:solidFill>
                  <a:srgbClr val="2E7D32"/>
                </a:solidFill>
                <a:latin typeface="Segoe UI"/>
              </a:rPr>
              <a:t>✓  </a:t>
            </a:r>
            <a:r>
              <a:rPr sz="1350">
                <a:solidFill>
                  <a:srgbClr val="E6ECF2"/>
                </a:solidFill>
                <a:latin typeface="Segoe UI"/>
              </a:rPr>
              <a:t>Interfaces defined (internal + external)</a:t>
            </a:r>
          </a:p>
          <a:p>
            <a:pPr>
              <a:lnSpc>
                <a:spcPct val="102000"/>
              </a:lnSpc>
              <a:spcAft>
                <a:spcPts val="800"/>
              </a:spcAft>
            </a:pPr>
            <a:r>
              <a:rPr sz="1350" b="1">
                <a:solidFill>
                  <a:srgbClr val="2E7D32"/>
                </a:solidFill>
                <a:latin typeface="Segoe UI"/>
              </a:rPr>
              <a:t>✓  </a:t>
            </a:r>
            <a:r>
              <a:rPr sz="1350">
                <a:solidFill>
                  <a:srgbClr val="E6ECF2"/>
                </a:solidFill>
                <a:latin typeface="Segoe UI"/>
              </a:rPr>
              <a:t>Analyses show compliance with margin</a:t>
            </a:r>
          </a:p>
          <a:p>
            <a:pPr>
              <a:lnSpc>
                <a:spcPct val="102000"/>
              </a:lnSpc>
              <a:spcAft>
                <a:spcPts val="800"/>
              </a:spcAft>
            </a:pPr>
            <a:r>
              <a:rPr sz="1350" b="1">
                <a:solidFill>
                  <a:srgbClr val="2E7D32"/>
                </a:solidFill>
                <a:latin typeface="Segoe UI"/>
              </a:rPr>
              <a:t>✓  </a:t>
            </a:r>
            <a:r>
              <a:rPr sz="1350">
                <a:solidFill>
                  <a:srgbClr val="E6ECF2"/>
                </a:solidFill>
                <a:latin typeface="Segoe UI"/>
              </a:rPr>
              <a:t>R4 cost ✓ (26% margin) · R6 ✓ · R7 ✓ · thermal detect ✓</a:t>
            </a:r>
          </a:p>
          <a:p>
            <a:pPr>
              <a:lnSpc>
                <a:spcPct val="102000"/>
              </a:lnSpc>
              <a:spcAft>
                <a:spcPts val="800"/>
              </a:spcAft>
            </a:pPr>
            <a:r>
              <a:rPr sz="1350" b="1">
                <a:solidFill>
                  <a:srgbClr val="D9821E"/>
                </a:solidFill>
                <a:latin typeface="Segoe UI"/>
              </a:rPr>
              <a:t>▲  </a:t>
            </a:r>
            <a:r>
              <a:rPr sz="1350">
                <a:solidFill>
                  <a:srgbClr val="E6ECF2"/>
                </a:solidFill>
                <a:latin typeface="Segoe UI"/>
              </a:rPr>
              <a:t>R8 stretch (60 min) not met — documented</a:t>
            </a:r>
          </a:p>
          <a:p>
            <a:pPr>
              <a:lnSpc>
                <a:spcPct val="102000"/>
              </a:lnSpc>
              <a:spcAft>
                <a:spcPts val="800"/>
              </a:spcAft>
            </a:pPr>
            <a:r>
              <a:rPr sz="1350" b="1">
                <a:solidFill>
                  <a:srgbClr val="2E7D32"/>
                </a:solidFill>
                <a:latin typeface="Segoe UI"/>
              </a:rPr>
              <a:t>✓  </a:t>
            </a:r>
            <a:r>
              <a:rPr sz="1350">
                <a:solidFill>
                  <a:srgbClr val="E6ECF2"/>
                </a:solidFill>
                <a:latin typeface="Segoe UI"/>
              </a:rPr>
              <a:t>Risks identified with mitigations</a:t>
            </a:r>
          </a:p>
          <a:p>
            <a:pPr>
              <a:lnSpc>
                <a:spcPct val="102000"/>
              </a:lnSpc>
              <a:spcAft>
                <a:spcPts val="800"/>
              </a:spcAft>
            </a:pPr>
            <a:r>
              <a:rPr sz="1350" b="1">
                <a:solidFill>
                  <a:srgbClr val="2E7D32"/>
                </a:solidFill>
                <a:latin typeface="Segoe UI"/>
              </a:rPr>
              <a:t>✓  </a:t>
            </a:r>
            <a:r>
              <a:rPr sz="1350">
                <a:solidFill>
                  <a:srgbClr val="E6ECF2"/>
                </a:solidFill>
                <a:latin typeface="Segoe UI"/>
              </a:rPr>
              <a:t>Open items bounded (none design-blocking)</a:t>
            </a:r>
          </a:p>
          <a:p>
            <a:pPr>
              <a:lnSpc>
                <a:spcPct val="102000"/>
              </a:lnSpc>
              <a:spcAft>
                <a:spcPts val="800"/>
              </a:spcAft>
            </a:pPr>
            <a:r>
              <a:rPr sz="1350" b="1">
                <a:solidFill>
                  <a:srgbClr val="D9821E"/>
                </a:solidFill>
                <a:latin typeface="Segoe UI"/>
              </a:rPr>
              <a:t>▲  </a:t>
            </a:r>
            <a:r>
              <a:rPr sz="1350">
                <a:solidFill>
                  <a:srgbClr val="E6ECF2"/>
                </a:solidFill>
                <a:latin typeface="Segoe UI"/>
              </a:rPr>
              <a:t>Empirical validation pending (design gate, not yet test)</a:t>
            </a:r>
          </a:p>
        </p:txBody>
      </p:sp>
      <p:sp>
        <p:nvSpPr>
          <p:cNvPr id="8" name="Rounded Rectangle 7"/>
          <p:cNvSpPr/>
          <p:nvPr/>
        </p:nvSpPr>
        <p:spPr>
          <a:xfrm>
            <a:off x="6858000" y="1783080"/>
            <a:ext cx="4754880" cy="4343400"/>
          </a:xfrm>
          <a:prstGeom prst="roundRect">
            <a:avLst/>
          </a:prstGeom>
          <a:solidFill>
            <a:srgbClr val="143052"/>
          </a:solidFill>
          <a:ln w="12700">
            <a:solidFill>
              <a:srgbClr val="2A44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0" y="2011680"/>
            <a:ext cx="420624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D9821E"/>
                </a:solidFill>
                <a:latin typeface="Segoe UI"/>
              </a:rPr>
              <a:t>RECOMMENDATION</a:t>
            </a:r>
          </a:p>
        </p:txBody>
      </p:sp>
      <p:sp>
        <p:nvSpPr>
          <p:cNvPr id="10" name="TextBox 9"/>
          <p:cNvSpPr txBox="1"/>
          <p:nvPr/>
        </p:nvSpPr>
        <p:spPr>
          <a:xfrm>
            <a:off x="7132320" y="2468880"/>
            <a:ext cx="4206240" cy="3566160"/>
          </a:xfrm>
          <a:prstGeom prst="rect">
            <a:avLst/>
          </a:prstGeom>
          <a:noFill/>
        </p:spPr>
        <p:txBody>
          <a:bodyPr wrap="square" anchor="t" lIns="0" rIns="0" tIns="0" bIns="0">
            <a:spAutoFit/>
          </a:bodyPr>
          <a:lstStyle/>
          <a:p>
            <a:pPr algn="l">
              <a:lnSpc>
                <a:spcPct val="106000"/>
              </a:lnSpc>
              <a:spcBef>
                <a:spcPts val="0"/>
              </a:spcBef>
              <a:spcAft>
                <a:spcPts val="1000"/>
              </a:spcAft>
            </a:pPr>
            <a:r>
              <a:rPr sz="1600" b="1" i="0">
                <a:solidFill>
                  <a:srgbClr val="FFFFFF"/>
                </a:solidFill>
                <a:latin typeface="Segoe UI"/>
              </a:rPr>
              <a:t>Proceed to procurement, fabrication &amp; integration.</a:t>
            </a:r>
          </a:p>
          <a:p>
            <a:pPr algn="l">
              <a:lnSpc>
                <a:spcPct val="106000"/>
              </a:lnSpc>
              <a:spcBef>
                <a:spcPts val="0"/>
              </a:spcBef>
              <a:spcAft>
                <a:spcPts val="1000"/>
              </a:spcAft>
            </a:pPr>
            <a:r>
              <a:rPr sz="1250" b="0" i="0">
                <a:solidFill>
                  <a:srgbClr val="C9D8E6"/>
                </a:solidFill>
                <a:latin typeface="Segoe UI"/>
              </a:rPr>
              <a:t>The detailed design is complete, fully traced, and verified by analysis with margin on cost, endurance, RF range, and thermal detection.</a:t>
            </a:r>
          </a:p>
          <a:p>
            <a:pPr algn="l">
              <a:lnSpc>
                <a:spcPct val="106000"/>
              </a:lnSpc>
              <a:spcBef>
                <a:spcPts val="0"/>
              </a:spcBef>
              <a:spcAft>
                <a:spcPts val="1000"/>
              </a:spcAft>
            </a:pPr>
            <a:r>
              <a:rPr sz="1250" b="0" i="0">
                <a:solidFill>
                  <a:srgbClr val="C9D8E6"/>
                </a:solidFill>
                <a:latin typeface="Segoe UI"/>
              </a:rPr>
              <a:t>Gate to operations on: (1) an instrumented Phase-1 flight to correlate the endurance model, (2) field thermal capture to validate detection/classification, and (3) an established FAA BVLOS regulatory path (Part 107).</a:t>
            </a:r>
          </a:p>
        </p:txBody>
      </p:sp>
      <p:sp>
        <p:nvSpPr>
          <p:cNvPr id="11" name="TextBox 10"/>
          <p:cNvSpPr txBox="1"/>
          <p:nvPr/>
        </p:nvSpPr>
        <p:spPr>
          <a:xfrm>
            <a:off x="566928" y="6400800"/>
            <a:ext cx="11055096"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7F95AB"/>
                </a:solidFill>
                <a:latin typeface="Segoe UI"/>
              </a:rPr>
              <a:t>Thermal Surveillance UAS · Critical Design Review · 2026-07-26 · Model-based (SysML v2), git-controlled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