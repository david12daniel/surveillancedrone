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Critical Design Review for the thermal surveillance UAS — an autonomous, daytime wildlife-scouting drone that detects and classifies animals by their thermal signature. This review presents the detailed design, shows it traces to requirements, and demonstrates compliance through analysis. The design is model-based in SysML v2 and version-controlled in git; everything you will see is generated from that single authoritative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a CDR is to confirm the detailed design meets requirements and is ready to build. Scope is the committed Phase 1–3 system; the Phase 4 video downlink is shown only as a deferred capability. I'll walk requirements and traceability, architecture, interfaces, behavior, the engineering analyses, then verification, risk, and closure. The exit criteria I'm holding us to are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our package to the standard design-review content areas so you can confirm completeness at a glance. Every required area is addressed, with the slide where you'll find it. Only verification is 'plan defined' rather than complete — that is exactly right at CDR, because test execution happens at the next gate,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mission is autonomous daytime thermal survey of wildlife over open terrain — the thermal camera detects and classifies by heat signature, which works fine in daylight, so the concept is daytime-only. The operating point sets everything downstream: 90 to 120 meters altitude, 2.23 meters per second, a 2.8 kilometer survey line in up to 4.5 meters per second of wind, with at least a 5-degree target-to-background thermal contrast. A sortie plans a route, takes off, cruises while running live onboard thermal inference, investigates and classifies detections, then returns and lands. The autonomy stance: thermal is processed onboard in real time to drive route changes — no recording and no required downlink in the committed build, with a thermal-video downlink planned as a future capability in Phase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requirements and traceability — the foundation every later decision has to satisfy.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eight top-level mission requirements, taken directly from the model. R1 and R2 set the flight envelope, R3 the thermal detect-and-classify capability, R4 the twenty-five-hundred-dollar cost cap, R6 and R8 endurance, and R7 range. The side panel shows the verification method for each. At CDR, analysis is complete for all of them; demonstrations and tests are planned and gated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is bidirectional and derived from the model, not maintained by hand. Each subsystem requirement subsets its parent mission requirement, and each component carries a satisfy link to the requirements it meets. The rollup on the right shows every mission requirement decomposes and allocates to real components. The full matrix follows on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airframe and autonomy-behavior slice of the traceability matrix. The behavior requirements — altitude hold, speed hold, and return-to-launch on link-loss and low battery — allocate to autonomy functions and the ArduPilot firmware. Every row ties a requirement to the component responsible for meeting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and thermal-camera requirements. The battery drives the endurance, energy, and voltage requirements; the camera drives detection, resolution, field of view, and NETD. These allocate to the Battery and IRCamera parts, and the cost sub-requirements roll up to the R4 budget.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onboard-computer and ground-control requirements. The SBC covers compute power, thermal video input, MAVLink data exchange, and the passive-cooling constraint. The GCS covers control authority, telemetry display, range, and video display. Note that the 2.8-kilometer range requirement allocates to the antennas and RF chain — we verify that directly in the link-budget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how the requirements decompose by subsystem in the model. The eight mission requirements at the top break down into per-subsystem requirement packages — airframe, battery, thermal camera, computer, ground control, and autonomy — each labeled with the number of requirements it holds. Every one of those subsets a mission requirement and is satisfied by a component. This is the structural map; the full requirement text and allocations are on the three RTM slides just before this. The point is that requirements are modeled formally in SysML, not just listed in a document.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 architecture — how the design is physically decomposed and interconnected.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block-definition, or composition, view — the SysML v2 analog of a classic BDD. It shows each part definition and the typed part usages it is composed of: the Aerial Observation System is a Drone plus a GCS; the Drone is composed of the airframe, battery, anti-spark filter, thermal camera, FPV camera, GPS, onboard computer, receiver, video transmitter, UBEC, and antennas; and the GCS of the laptop, video receiver, USB capture, radio, telemetry link, ground antenna, and charger. Where the internal block diagrams that follow show how these parts connect, this view shows what the system is made of. Phase-4 OpenHD parts are omitted for the committed build.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 level the system is a drone plus a laptop-based ground station, joined by three wireless links: analog FPV video on 5.8 gigahertz for piloting, ELRS on 2.4 gigahertz carrying both control and telemetry, and GNSS receive for navigation. The laptop is existing kit — modeled as an external actor and excluded from cost. Phase 4 would add a digital thermal downlink on the same 5.8 band.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internal wiring of the drone, with the airframe as the hub. Follow the power chain: battery, through the anti-spark filter, into the airframe, with a separate regulated 12-volt feed to the onboard computer. The thermal camera connects to that computer over USB; the computer talks MAVLink to the flight controller to modify the route in flight. A separate analog camera feeds the video transmitter purely for piloting.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onboard computer, the software decomposes into the mission app, the thermal inference model running on the RKNN neural-processing runtime, and a MAVLink router to the flight controller. USB-A port one carries the thermal feed; port two is reserved for the Phase 4 downlink; USB-C is power. The board is passive-cooled and stays under ten watts, which is how it meets the power and thermal requirements without a fan.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ground station is the laptop running QGroundControl, a 5.8-gigahertz analog video receiver captured over USB, the handheld ELRS radio for manual control, and the directional patch antenna that closes the video link at range. The charger shown is bench support equipment — not flown, and not counted in system cost.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consolidates the interface design — internal wired interfaces on the left, external wireless on the right. The important part is the bottom box: compatibility is enforced formally. The cell-count rule keeps the battery matched to the airframe, the video-format chain stays consistent end to end, RF bands match per link, and the entire power chain is standardized on XT60. These are modeled as SysML constraints and actually enforced by our configuration sweep, so an incompatible build can't slip through.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functional and behavioral design — what the system does, and how it sequences and fails safe.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flight-mode state machine defines nominal operation and, more importantly, the failsafes. From the flying state, the vehicle automatically returns to launch on link-loss beyond the failsafe timeout, or when battery energy reaches the return reserve. These transitions map directly onto ArduPilot failsafe parameters. One open item to flag: the exact reserve-energy threshold value is still to be 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autonomous detect-investigate-classify loop that runs onboard during a sortie. Sweep-and-detect runs per-frame inference and, on a confident detection, marks the point of interest and alerts the operator. Investigate-and-classify then reroutes to the target and classifies in a loop until confident, adjusting orbit if needed, before resuming the survey. Both halves formally signal the mission context. It all runs on the onboard computer and commands routes to the flight controller over MAVLink.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analyses that verify the design. For each one I'll state the method and, just as importantly, its fidelity — what it does and does not yet prove.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components were down-selected from about 110 real market candidates through documented trade studies. The selections are version-controlled and machine-enforced in the analysis code, so they cannot silently drift. The reference build lands at roughly 58 minutes hover and about eighteen-hundred-fifty dollars — inside every requirement. On the next two slides, here is the actual hardware.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selected flight hardware, all real purchasable parts: the iFlight Chimera9 ECO airframe, the Amprius silicon-anode Li-ion pack that drives our endurance, the PurpleRiver Mini 640 thermal core, the NanoPi M5 inference computer, the true-diversity ELRS receiver, and the anti-spark filter on the power chain. These are not concept renders — they are the components in the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ground-control and support hardware: the RadioMaster TX12 handheld radio, the TrueRC directional patch antenna that closes the 2.8-kilometer link, and the HOTA dual-channel charger for the Li-ion packs. The ground kit also includes the Skydroid USB video receiver, the ELRS telemetry dongle, the airframe-bundled GPS, and the existing laptop as the ground station.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one, endurance. The method is momentum, or actuator-disk, theory with a forward-flight drag term — the same physics family as eCalc. The fidelity is first-order comparative, with standard assumptions for figure-of-merit and efficiency, and — this is important — it is not yet validated against a measured hover current. The baseline predicts 58 minutes hover at only about 15 percent throttle, comfortably meeting the 30-minute requirement, though not the 60-minute stretch. Notably, the analysis is closed-loop with the model: it reads components and batteries from the model and writes ranked results back.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plots every compatible configuration — total system cost against flight time, with the requirement lines overlaid. The takeaway is simple: the entire selected trade space sits to the left of the cost cap and above the 30-minute line, so cost is not the binding constraint. Our reference build sits comfortably in that sweet spot.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two, thermal detection, using the Johnson criteria. We compute ground sample distance from the sensor geometry and altitude, then pixels-on-target against the detection and recognition thresholds. The optics deliver detection-grade pixels on deer and humans across the full 90-to-120-meter band. The honest caveat is on the right: robust species-level classification depends on the trained AI model, and validating that requires real field thermal capture — geometry alone does not prove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three, the RF link budget. The method is free-space path loss with a 10-decibel fade-margin design target at 2.8 kilometers. All four links pass — control and telemetry with enormous margin, and the analog video link passing specifically because of the directional patch antenna, which is the enabling component. Fidelity: it is a free-space model, and the fade margin is what absorbs foliage and multipath. It is not yet range-tested.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four asks the practical question: does it physically fit? We model each airframe's usable deck and each component's envelope. The binding constraint is the NanoPi M5's 90-by-62-millimeter footprint. The selected Chimera9 deck accepts it with about 8 millimeters to spare — and that fit is a key reason we chose it over the lighter endurance leader, which is a no-fit. Caveat: the deck dimensions are still estimates and should be confirmed against vendor CAD before the Phase 2 build.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five, cost. The committed system rolls up to about eighteen-hundred-forty-eight dollars against the twenty-five-hundred-dollar cap — roughly 26 percent margin. The thermal camera at six-hundred-fifty dollars is the single largest line. Even all four phases together stay around two thousand dollars. Cost is a solved problem for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verification planning, the manufacturing approach, risk, open items, and the CDR exit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cross-reference matrix shows how every requirement will be verified and its status today. Cost and soldering are verified now, by inspection. Everything else is analysis-complete with test or demonstration planned — which is the correct posture at CDR; test readiness is the next gate. The one exception is the 60-minute stretch goal, which the design does not meet, and we have documented that rather than hidden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Producibility. We minimize soldering, per requirement R5, by using a plug-and-play airframe — the only solder joint in the committed build is the onboard computer's power leads. Nearly everything is off-the-shelf; the single fabricated part is a 3D-printed computer mount. And the build is phased into three incremental stages, each independently testable before the next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posture. The three highest risks are: first, the design is modeled but not yet flown, so the headline numbers are predictions; second, species classification is unproven without real thermal data; and third, the regulatory path — at 2.8 kilometers the survey is beyond visual line of sight, which requires FAA authorization, and commercial operation requires a Part 107 certificate. Operating in daylight rather than after dark lowers this risk, but the BVLOS range keeps it on the list. Each has a defined mitigation. At CDR, 'not yet built' is expected; the material risks are the estimates and these external items, and we are naming them openly.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open items are bounded and assignable — none of them block the design baseline. They include setting the return-to-launch reserve threshold, reconciling one stale entry in the issues log, confirming the selected frame's real deck dimensions, and running the empirical validation campaign. That validation — flight test, field thermal capture, and range test — is the primary pre-operational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the detailed design is complete, fully traced, and verified by analysis with margin on cost, endurance, RF range, and thermal detection. The recommendation is to proceed to fabrication and integration, gated to operations on three things — an instrumented flight to validate the endurance model, field thermal capture to validate detection and classification, and an established regulatory path. Thank you; I'll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80560"/>
            <a:ext cx="12191695" cy="18288"/>
          </a:xfrm>
          <a:prstGeom prst="rect">
            <a:avLst/>
          </a:prstGeom>
          <a:solidFill>
            <a:srgbClr val="2A4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71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CRITICAL DESIGN REVIEW  (CDR)</a:t>
            </a:r>
          </a:p>
        </p:txBody>
      </p:sp>
      <p:sp>
        <p:nvSpPr>
          <p:cNvPr id="6" name="TextBox 5"/>
          <p:cNvSpPr txBox="1"/>
          <p:nvPr/>
        </p:nvSpPr>
        <p:spPr>
          <a:xfrm>
            <a:off x="566928" y="1828800"/>
            <a:ext cx="10607040" cy="1645920"/>
          </a:xfrm>
          <a:prstGeom prst="rect">
            <a:avLst/>
          </a:prstGeom>
          <a:noFill/>
        </p:spPr>
        <p:txBody>
          <a:bodyPr wrap="square" anchor="t" lIns="0" rIns="0" tIns="0" bIns="0">
            <a:spAutoFit/>
          </a:bodyPr>
          <a:lstStyle/>
          <a:p>
            <a:pPr algn="l">
              <a:lnSpc>
                <a:spcPct val="105000"/>
              </a:lnSpc>
              <a:spcBef>
                <a:spcPts val="0"/>
              </a:spcBef>
              <a:spcAft>
                <a:spcPts val="400"/>
              </a:spcAft>
            </a:pPr>
            <a:r>
              <a:rPr sz="4600" b="1" i="0">
                <a:solidFill>
                  <a:srgbClr val="FFFFFF"/>
                </a:solidFill>
                <a:latin typeface="Segoe UI"/>
              </a:rPr>
              <a:t>Thermal Surveillance UAS</a:t>
            </a:r>
          </a:p>
          <a:p>
            <a:pPr algn="l">
              <a:lnSpc>
                <a:spcPct val="105000"/>
              </a:lnSpc>
              <a:spcBef>
                <a:spcPts val="0"/>
              </a:spcBef>
              <a:spcAft>
                <a:spcPts val="400"/>
              </a:spcAft>
            </a:pPr>
            <a:r>
              <a:rPr sz="2600" b="0" i="0">
                <a:solidFill>
                  <a:srgbClr val="C9D8E6"/>
                </a:solidFill>
                <a:latin typeface="Segoe UI"/>
              </a:rPr>
              <a:t>Autonomous Wildlife-Scouting Drone</a:t>
            </a:r>
          </a:p>
        </p:txBody>
      </p:sp>
      <p:sp>
        <p:nvSpPr>
          <p:cNvPr id="7" name="TextBox 6"/>
          <p:cNvSpPr txBox="1"/>
          <p:nvPr/>
        </p:nvSpPr>
        <p:spPr>
          <a:xfrm>
            <a:off x="566928" y="4709160"/>
            <a:ext cx="11055096" cy="1280160"/>
          </a:xfrm>
          <a:prstGeom prst="rect">
            <a:avLst/>
          </a:prstGeom>
          <a:noFill/>
        </p:spPr>
        <p:txBody>
          <a:bodyPr wrap="square" anchor="t" lIns="0" rIns="0" tIns="0" bIns="0">
            <a:spAutoFit/>
          </a:bodyPr>
          <a:lstStyle/>
          <a:p>
            <a:pPr algn="l">
              <a:lnSpc>
                <a:spcPct val="100000"/>
              </a:lnSpc>
              <a:spcBef>
                <a:spcPts val="0"/>
              </a:spcBef>
              <a:spcAft>
                <a:spcPts val="600"/>
              </a:spcAft>
            </a:pPr>
            <a:r>
              <a:rPr sz="1500" b="0" i="0">
                <a:solidFill>
                  <a:srgbClr val="B9CBDB"/>
                </a:solidFill>
                <a:latin typeface="Segoe UI"/>
              </a:rPr>
              <a:t>Detailed design baseline, requirements traceability, and verifying analyses</a:t>
            </a:r>
          </a:p>
          <a:p>
            <a:pPr algn="l">
              <a:lnSpc>
                <a:spcPct val="100000"/>
              </a:lnSpc>
              <a:spcBef>
                <a:spcPts val="0"/>
              </a:spcBef>
              <a:spcAft>
                <a:spcPts val="600"/>
              </a:spcAft>
            </a:pPr>
            <a:r>
              <a:rPr sz="1250" b="0" i="0">
                <a:solidFill>
                  <a:srgbClr val="8A9EB2"/>
                </a:solidFill>
                <a:latin typeface="Segoe UI"/>
              </a:rPr>
              <a:t>Model-Based Systems Engineering (SysML v2)  ·  Content per MIL-STD-1521B App. E / IEEE 15288.2 CDR</a:t>
            </a:r>
          </a:p>
        </p:txBody>
      </p:sp>
      <p:sp>
        <p:nvSpPr>
          <p:cNvPr id="8" name="TextBox 7"/>
          <p:cNvSpPr txBox="1"/>
          <p:nvPr/>
        </p:nvSpPr>
        <p:spPr>
          <a:xfrm>
            <a:off x="566928" y="598932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7F95AB"/>
                </a:solidFill>
                <a:latin typeface="Segoe UI"/>
              </a:rPr>
              <a:t>Review date  2026-07-26        Design maturity  Detailed design complete (pre-fabrication)        Budget  ≤ $2,500 (R4)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Purpose &amp; Agenda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a:t>
            </a:r>
          </a:p>
        </p:txBody>
      </p:sp>
      <p:sp>
        <p:nvSpPr>
          <p:cNvPr id="9" name="TextBox 8"/>
          <p:cNvSpPr txBox="1"/>
          <p:nvPr/>
        </p:nvSpPr>
        <p:spPr>
          <a:xfrm>
            <a:off x="566928" y="1325880"/>
            <a:ext cx="61264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Purpose.  </a:t>
            </a:r>
            <a:r>
              <a:rPr sz="1400" b="0">
                <a:solidFill>
                  <a:srgbClr val="1E2833"/>
                </a:solidFill>
                <a:latin typeface="Segoe UI"/>
              </a:rPr>
              <a:t>Demonstrate that the detailed design meets the mission and derived requirements, that interfaces are defined, and that the design is verified by analysis and ready to proceed to fabrication / integration.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Scope.  </a:t>
            </a:r>
            <a:r>
              <a:rPr sz="1400" b="0">
                <a:solidFill>
                  <a:srgbClr val="1E2833"/>
                </a:solidFill>
                <a:latin typeface="Segoe UI"/>
              </a:rPr>
              <a:t>The committed Phase 1–3 system: airframe &amp; propulsion, power, thermal payload + onboard compute, RF links, ground control, and the autonomy behavior. Phase 4 (video downlink) is shown as a deferred capability.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Authoritative source.  </a:t>
            </a:r>
            <a:r>
              <a:rPr sz="1400" b="0">
                <a:solidFill>
                  <a:srgbClr val="1E2833"/>
                </a:solidFill>
                <a:latin typeface="Segoe UI"/>
              </a:rPr>
              <a:t>A single SysML v2 model (requirements · architecture · behavior · analysis) under git version control, with real, purchasable components traded against the requirements.</a:t>
            </a:r>
          </a:p>
          <a:p>
            <a:pPr>
              <a:lnSpc>
                <a:spcPct val="104000"/>
              </a:lnSpc>
              <a:spcBef>
                <a:spcPts val="300"/>
              </a:spcBef>
              <a:spcAft>
                <a:spcPts val="300"/>
              </a:spcAft>
            </a:pPr>
            <a:r>
              <a:rPr sz="1400" b="1">
                <a:solidFill>
                  <a:srgbClr val="2E86AB"/>
                </a:solidFill>
                <a:latin typeface="Segoe UI"/>
              </a:rPr>
              <a:t>▸  </a:t>
            </a:r>
            <a:r>
              <a:rPr sz="1350" b="0">
                <a:solidFill>
                  <a:srgbClr val="5C6B7A"/>
                </a:solidFill>
                <a:latin typeface="Segoe UI"/>
              </a:rPr>
              <a:t>Exit criteria (assessed on the closing slide): design traces to requirements, analyses show compliance with margin, interfaces closed, risks identified with mitigations, open items bounded.</a:t>
            </a:r>
          </a:p>
        </p:txBody>
      </p:sp>
      <p:sp>
        <p:nvSpPr>
          <p:cNvPr id="10" name="Rounded Rectangle 9"/>
          <p:cNvSpPr/>
          <p:nvPr/>
        </p:nvSpPr>
        <p:spPr>
          <a:xfrm>
            <a:off x="7040880" y="1325880"/>
            <a:ext cx="4572000" cy="4709160"/>
          </a:xfrm>
          <a:prstGeom prst="roundRect">
            <a:avLst/>
          </a:prstGeom>
          <a:solidFill>
            <a:srgbClr val="F6F8FA"/>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81328"/>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2E86AB"/>
                </a:solidFill>
                <a:latin typeface="Segoe UI"/>
              </a:rPr>
              <a:t>AGENDA</a:t>
            </a:r>
          </a:p>
        </p:txBody>
      </p:sp>
      <p:sp>
        <p:nvSpPr>
          <p:cNvPr id="12" name="TextBox 11"/>
          <p:cNvSpPr txBox="1"/>
          <p:nvPr/>
        </p:nvSpPr>
        <p:spPr>
          <a:xfrm>
            <a:off x="7269480" y="1920240"/>
            <a:ext cx="4160520" cy="4023360"/>
          </a:xfrm>
          <a:prstGeom prst="rect">
            <a:avLst/>
          </a:prstGeom>
          <a:noFill/>
        </p:spPr>
        <p:txBody>
          <a:bodyPr wrap="square" anchor="t" lIns="0" rIns="0" tIns="0" bIns="0">
            <a:spAutoFit/>
          </a:bodyPr>
          <a:lstStyle/>
          <a:p>
            <a:pPr algn="l">
              <a:lnSpc>
                <a:spcPct val="100000"/>
              </a:lnSpc>
              <a:spcBef>
                <a:spcPts val="0"/>
              </a:spcBef>
              <a:spcAft>
                <a:spcPts val="900"/>
              </a:spcAft>
            </a:pPr>
            <a:r>
              <a:rPr sz="1350" b="0" i="0">
                <a:solidFill>
                  <a:srgbClr val="1E2833"/>
                </a:solidFill>
                <a:latin typeface="Segoe UI"/>
              </a:rPr>
              <a:t>1   Requirements &amp; traceability</a:t>
            </a:r>
          </a:p>
          <a:p>
            <a:pPr algn="l">
              <a:lnSpc>
                <a:spcPct val="100000"/>
              </a:lnSpc>
              <a:spcBef>
                <a:spcPts val="0"/>
              </a:spcBef>
              <a:spcAft>
                <a:spcPts val="900"/>
              </a:spcAft>
            </a:pPr>
            <a:r>
              <a:rPr sz="1350" b="0" i="0">
                <a:solidFill>
                  <a:srgbClr val="1E2833"/>
                </a:solidFill>
                <a:latin typeface="Segoe UI"/>
              </a:rPr>
              <a:t>2   System &amp; subsystem architecture</a:t>
            </a:r>
          </a:p>
          <a:p>
            <a:pPr algn="l">
              <a:lnSpc>
                <a:spcPct val="100000"/>
              </a:lnSpc>
              <a:spcBef>
                <a:spcPts val="0"/>
              </a:spcBef>
              <a:spcAft>
                <a:spcPts val="900"/>
              </a:spcAft>
            </a:pPr>
            <a:r>
              <a:rPr sz="1350" b="0" i="0">
                <a:solidFill>
                  <a:srgbClr val="1E2833"/>
                </a:solidFill>
                <a:latin typeface="Segoe UI"/>
              </a:rPr>
              <a:t>3   Interface design</a:t>
            </a:r>
          </a:p>
          <a:p>
            <a:pPr algn="l">
              <a:lnSpc>
                <a:spcPct val="100000"/>
              </a:lnSpc>
              <a:spcBef>
                <a:spcPts val="0"/>
              </a:spcBef>
              <a:spcAft>
                <a:spcPts val="900"/>
              </a:spcAft>
            </a:pPr>
            <a:r>
              <a:rPr sz="1350" b="0" i="0">
                <a:solidFill>
                  <a:srgbClr val="1E2833"/>
                </a:solidFill>
                <a:latin typeface="Segoe UI"/>
              </a:rPr>
              <a:t>4   Functional / behavioral design</a:t>
            </a:r>
          </a:p>
          <a:p>
            <a:pPr algn="l">
              <a:lnSpc>
                <a:spcPct val="100000"/>
              </a:lnSpc>
              <a:spcBef>
                <a:spcPts val="0"/>
              </a:spcBef>
              <a:spcAft>
                <a:spcPts val="900"/>
              </a:spcAft>
            </a:pPr>
            <a:r>
              <a:rPr sz="1350" b="0" i="0">
                <a:solidFill>
                  <a:srgbClr val="1E2833"/>
                </a:solidFill>
                <a:latin typeface="Segoe UI"/>
              </a:rPr>
              <a:t>5   Engineering analyses (endurance,
      thermal, RF, fit, cost)</a:t>
            </a:r>
          </a:p>
          <a:p>
            <a:pPr algn="l">
              <a:lnSpc>
                <a:spcPct val="100000"/>
              </a:lnSpc>
              <a:spcBef>
                <a:spcPts val="0"/>
              </a:spcBef>
              <a:spcAft>
                <a:spcPts val="900"/>
              </a:spcAft>
            </a:pPr>
            <a:r>
              <a:rPr sz="1350" b="0" i="0">
                <a:solidFill>
                  <a:srgbClr val="1E2833"/>
                </a:solidFill>
                <a:latin typeface="Segoe UI"/>
              </a:rPr>
              <a:t>6   Verification &amp; validation plan</a:t>
            </a:r>
          </a:p>
          <a:p>
            <a:pPr algn="l">
              <a:lnSpc>
                <a:spcPct val="100000"/>
              </a:lnSpc>
              <a:spcBef>
                <a:spcPts val="0"/>
              </a:spcBef>
              <a:spcAft>
                <a:spcPts val="900"/>
              </a:spcAft>
            </a:pPr>
            <a:r>
              <a:rPr sz="1350" b="0" i="0">
                <a:solidFill>
                  <a:srgbClr val="1E2833"/>
                </a:solidFill>
                <a:latin typeface="Segoe UI"/>
              </a:rPr>
              <a:t>7   Manufacturing &amp; producibility</a:t>
            </a:r>
          </a:p>
          <a:p>
            <a:pPr algn="l">
              <a:lnSpc>
                <a:spcPct val="100000"/>
              </a:lnSpc>
              <a:spcBef>
                <a:spcPts val="0"/>
              </a:spcBef>
              <a:spcAft>
                <a:spcPts val="900"/>
              </a:spcAft>
            </a:pPr>
            <a:r>
              <a:rPr sz="1350" b="0" i="0">
                <a:solidFill>
                  <a:srgbClr val="1E2833"/>
                </a:solidFill>
                <a:latin typeface="Segoe UI"/>
              </a:rPr>
              <a:t>8   Risk, open items &amp; CDR 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Data-Item Content — Coverage Map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a:t>
            </a:r>
          </a:p>
        </p:txBody>
      </p:sp>
      <p:sp>
        <p:nvSpPr>
          <p:cNvPr id="9" name="TextBox 8"/>
          <p:cNvSpPr txBox="1"/>
          <p:nvPr/>
        </p:nvSpPr>
        <p:spPr>
          <a:xfrm>
            <a:off x="566928" y="1170432"/>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250" b="0" i="0">
                <a:solidFill>
                  <a:srgbClr val="5C6B7A"/>
                </a:solidFill>
                <a:latin typeface="Segoe UI"/>
              </a:rPr>
              <a:t>Standard design-review content areas and where each is addressed in this package.</a:t>
            </a:r>
          </a:p>
        </p:txBody>
      </p:sp>
      <p:graphicFrame>
        <p:nvGraphicFramePr>
          <p:cNvPr id="10" name="Table 9"/>
          <p:cNvGraphicFramePr>
            <a:graphicFrameLocks noGrp="1"/>
          </p:cNvGraphicFramePr>
          <p:nvPr/>
        </p:nvGraphicFramePr>
        <p:xfrm>
          <a:off x="566928" y="1554480"/>
          <a:ext cx="11055096" cy="4151376"/>
        </p:xfrm>
        <a:graphic>
          <a:graphicData uri="http://schemas.openxmlformats.org/drawingml/2006/table">
            <a:tbl>
              <a:tblPr>
                <a:tableStyleId>{5C22544A-7EE6-4342-B048-85BDC9FD1C3A}</a:tableStyleId>
              </a:tblPr>
              <a:tblGrid>
                <a:gridCol w="6483096"/>
                <a:gridCol w="2743200"/>
                <a:gridCol w="1828800"/>
              </a:tblGrid>
              <a:tr h="310896">
                <a:tc>
                  <a:txBody>
                    <a:bodyPr wrap="square"/>
                    <a:lstStyle/>
                    <a:p>
                      <a:pPr algn="l"/>
                      <a:r>
                        <a:rPr sz="1100" b="1">
                          <a:solidFill>
                            <a:srgbClr val="FFFFFF"/>
                          </a:solidFill>
                          <a:latin typeface="Segoe UI"/>
                        </a:rPr>
                        <a:t>CDR content area (per DID / MIL-STD-1521B App. E)</a:t>
                      </a:r>
                    </a:p>
                  </a:txBody>
                  <a:tcPr marL="54864" marR="54864" marT="18288" marB="18288" anchor="ctr">
                    <a:solidFill>
                      <a:srgbClr val="0F2540"/>
                    </a:solidFill>
                  </a:tcPr>
                </a:tc>
                <a:tc>
                  <a:txBody>
                    <a:bodyPr wrap="square"/>
                    <a:lstStyle/>
                    <a:p>
                      <a:pPr algn="l"/>
                      <a:r>
                        <a:rPr sz="1100" b="1">
                          <a:solidFill>
                            <a:srgbClr val="FFFFFF"/>
                          </a:solidFill>
                          <a:latin typeface="Segoe UI"/>
                        </a:rPr>
                        <a:t>Addressed in</a:t>
                      </a:r>
                    </a:p>
                  </a:txBody>
                  <a:tcPr marL="54864" marR="54864" marT="18288" marB="18288" anchor="ctr">
                    <a:solidFill>
                      <a:srgbClr val="0F2540"/>
                    </a:solidFill>
                  </a:tcPr>
                </a:tc>
                <a:tc>
                  <a:txBody>
                    <a:bodyPr wrap="square"/>
                    <a:lstStyle/>
                    <a:p>
                      <a:pPr algn="ctr"/>
                      <a:r>
                        <a:rPr sz="1100" b="1">
                          <a:solidFill>
                            <a:srgbClr val="FFFFFF"/>
                          </a:solidFill>
                          <a:latin typeface="Segoe UI"/>
                        </a:rPr>
                        <a:t>Status</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Mission / operational concept (ConOps)</a:t>
                      </a:r>
                    </a:p>
                  </a:txBody>
                  <a:tcPr marL="54864" marR="54864" marT="18288" marB="18288" anchor="ctr">
                    <a:solidFill>
                      <a:srgbClr val="FFFFFF"/>
                    </a:solidFill>
                  </a:tcPr>
                </a:tc>
                <a:tc>
                  <a:txBody>
                    <a:bodyPr wrap="square"/>
                    <a:lstStyle/>
                    <a:p>
                      <a:pPr algn="l"/>
                      <a:r>
                        <a:rPr sz="1100" b="0">
                          <a:solidFill>
                            <a:srgbClr val="1E2833"/>
                          </a:solidFill>
                          <a:latin typeface="Segoe UI"/>
                        </a:rPr>
                        <a:t>Mission &amp; ConOps</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System &amp; performance requirements + traceability</a:t>
                      </a:r>
                    </a:p>
                  </a:txBody>
                  <a:tcPr marL="54864" marR="54864" marT="18288" marB="18288" anchor="ctr">
                    <a:solidFill>
                      <a:srgbClr val="F6F8FA"/>
                    </a:solidFill>
                  </a:tcPr>
                </a:tc>
                <a:tc>
                  <a:txBody>
                    <a:bodyPr wrap="square"/>
                    <a:lstStyle/>
                    <a:p>
                      <a:pPr algn="l"/>
                      <a:r>
                        <a:rPr sz="1100" b="0">
                          <a:solidFill>
                            <a:srgbClr val="1E2833"/>
                          </a:solidFill>
                          <a:latin typeface="Segoe UI"/>
                        </a:rPr>
                        <a:t>Requirements (RTM)</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Detailed design — physical &amp; functional architecture</a:t>
                      </a:r>
                    </a:p>
                  </a:txBody>
                  <a:tcPr marL="54864" marR="54864" marT="18288" marB="18288" anchor="ctr">
                    <a:solidFill>
                      <a:srgbClr val="FFFFFF"/>
                    </a:solidFill>
                  </a:tcPr>
                </a:tc>
                <a:tc>
                  <a:txBody>
                    <a:bodyPr wrap="square"/>
                    <a:lstStyle/>
                    <a:p>
                      <a:pPr algn="l"/>
                      <a:r>
                        <a:rPr sz="1100" b="0">
                          <a:solidFill>
                            <a:srgbClr val="1E2833"/>
                          </a:solidFill>
                          <a:latin typeface="Segoe UI"/>
                        </a:rPr>
                        <a:t>Architecture · Behavior</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Interface design (internal &amp; external / IRS)</a:t>
                      </a:r>
                    </a:p>
                  </a:txBody>
                  <a:tcPr marL="54864" marR="54864" marT="18288" marB="18288" anchor="ctr">
                    <a:solidFill>
                      <a:srgbClr val="F6F8FA"/>
                    </a:solidFill>
                  </a:tcPr>
                </a:tc>
                <a:tc>
                  <a:txBody>
                    <a:bodyPr wrap="square"/>
                    <a:lstStyle/>
                    <a:p>
                      <a:pPr algn="l"/>
                      <a:r>
                        <a:rPr sz="1100" b="0">
                          <a:solidFill>
                            <a:srgbClr val="1E2833"/>
                          </a:solidFill>
                          <a:latin typeface="Segoe UI"/>
                        </a:rPr>
                        <a:t>Interface Design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Design &amp; specialty-engineering analyses</a:t>
                      </a:r>
                    </a:p>
                  </a:txBody>
                  <a:tcPr marL="54864" marR="54864" marT="18288" marB="18288" anchor="ctr">
                    <a:solidFill>
                      <a:srgbClr val="FFFFFF"/>
                    </a:solidFill>
                  </a:tcPr>
                </a:tc>
                <a:tc>
                  <a:txBody>
                    <a:bodyPr wrap="square"/>
                    <a:lstStyle/>
                    <a:p>
                      <a:pPr algn="l"/>
                      <a:r>
                        <a:rPr sz="1100" b="0">
                          <a:solidFill>
                            <a:srgbClr val="1E2833"/>
                          </a:solidFill>
                          <a:latin typeface="Segoe UI"/>
                        </a:rPr>
                        <a:t>Analyses (×4)</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Trade studies / component selection</a:t>
                      </a:r>
                    </a:p>
                  </a:txBody>
                  <a:tcPr marL="54864" marR="54864" marT="18288" marB="18288" anchor="ctr">
                    <a:solidFill>
                      <a:srgbClr val="F6F8FA"/>
                    </a:solidFill>
                  </a:tcPr>
                </a:tc>
                <a:tc>
                  <a:txBody>
                    <a:bodyPr wrap="square"/>
                    <a:lstStyle/>
                    <a:p>
                      <a:pPr algn="l"/>
                      <a:r>
                        <a:rPr sz="1100" b="0">
                          <a:solidFill>
                            <a:srgbClr val="1E2833"/>
                          </a:solidFill>
                          <a:latin typeface="Segoe UI"/>
                        </a:rPr>
                        <a:t>Design Selection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Verification &amp; validation approach (VCRM)</a:t>
                      </a:r>
                    </a:p>
                  </a:txBody>
                  <a:tcPr marL="54864" marR="54864" marT="18288" marB="18288" anchor="ctr">
                    <a:solidFill>
                      <a:srgbClr val="FFFFFF"/>
                    </a:solidFill>
                  </a:tcPr>
                </a:tc>
                <a:tc>
                  <a:txBody>
                    <a:bodyPr wrap="square"/>
                    <a:lstStyle/>
                    <a:p>
                      <a:pPr algn="l"/>
                      <a:r>
                        <a:rPr sz="1100" b="0">
                          <a:solidFill>
                            <a:srgbClr val="1E2833"/>
                          </a:solidFill>
                          <a:latin typeface="Segoe UI"/>
                        </a:rPr>
                        <a:t>V&amp;V Plan</a:t>
                      </a:r>
                    </a:p>
                  </a:txBody>
                  <a:tcPr marL="54864" marR="54864" marT="18288" marB="18288" anchor="ctr">
                    <a:solidFill>
                      <a:srgbClr val="FFFFFF"/>
                    </a:solidFill>
                  </a:tcPr>
                </a:tc>
                <a:tc>
                  <a:txBody>
                    <a:bodyPr wrap="square"/>
                    <a:lstStyle/>
                    <a:p>
                      <a:pPr algn="ctr"/>
                      <a:r>
                        <a:rPr sz="1100" b="0">
                          <a:solidFill>
                            <a:srgbClr val="D9821E"/>
                          </a:solidFill>
                          <a:latin typeface="Segoe UI"/>
                        </a:rPr>
                        <a:t>Plan defined</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Producibility / manufacturing</a:t>
                      </a:r>
                    </a:p>
                  </a:txBody>
                  <a:tcPr marL="54864" marR="54864" marT="18288" marB="18288" anchor="ctr">
                    <a:solidFill>
                      <a:srgbClr val="F6F8FA"/>
                    </a:solidFill>
                  </a:tcPr>
                </a:tc>
                <a:tc>
                  <a:txBody>
                    <a:bodyPr wrap="square"/>
                    <a:lstStyle/>
                    <a:p>
                      <a:pPr algn="l"/>
                      <a:r>
                        <a:rPr sz="1100" b="0">
                          <a:solidFill>
                            <a:srgbClr val="1E2833"/>
                          </a:solidFill>
                          <a:latin typeface="Segoe UI"/>
                        </a:rPr>
                        <a:t>Manufacturing</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Reliability &amp; safety (failsafes)</a:t>
                      </a:r>
                    </a:p>
                  </a:txBody>
                  <a:tcPr marL="54864" marR="54864" marT="18288" marB="18288" anchor="ctr">
                    <a:solidFill>
                      <a:srgbClr val="FFFFFF"/>
                    </a:solidFill>
                  </a:tcPr>
                </a:tc>
                <a:tc>
                  <a:txBody>
                    <a:bodyPr wrap="square"/>
                    <a:lstStyle/>
                    <a:p>
                      <a:pPr algn="l"/>
                      <a:r>
                        <a:rPr sz="1100" b="0">
                          <a:solidFill>
                            <a:srgbClr val="1E2833"/>
                          </a:solidFill>
                          <a:latin typeface="Segoe UI"/>
                        </a:rPr>
                        <a:t>State machine · Risk</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Risk assessment &amp; open items (TBD/TBR)</a:t>
                      </a:r>
                    </a:p>
                  </a:txBody>
                  <a:tcPr marL="54864" marR="54864" marT="18288" marB="18288" anchor="ctr">
                    <a:solidFill>
                      <a:srgbClr val="F6F8FA"/>
                    </a:solidFill>
                  </a:tcPr>
                </a:tc>
                <a:tc>
                  <a:txBody>
                    <a:bodyPr wrap="square"/>
                    <a:lstStyle/>
                    <a:p>
                      <a:pPr algn="l"/>
                      <a:r>
                        <a:rPr sz="1100" b="0">
                          <a:solidFill>
                            <a:srgbClr val="1E2833"/>
                          </a:solidFill>
                          <a:latin typeface="Segoe UI"/>
                        </a:rPr>
                        <a:t>Risk · Open Items</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&amp; Concept of Operations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a:t>
            </a:r>
          </a:p>
        </p:txBody>
      </p:sp>
      <p:sp>
        <p:nvSpPr>
          <p:cNvPr id="9" name="TextBox 8"/>
          <p:cNvSpPr txBox="1"/>
          <p:nvPr/>
        </p:nvSpPr>
        <p:spPr>
          <a:xfrm>
            <a:off x="566928" y="1280160"/>
            <a:ext cx="6126480" cy="38404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Mission.  </a:t>
            </a:r>
            <a:r>
              <a:rPr sz="1400" b="0">
                <a:solidFill>
                  <a:srgbClr val="1E2833"/>
                </a:solidFill>
                <a:latin typeface="Segoe UI"/>
              </a:rPr>
              <a:t>Autonomous daytime aerial survey to detect and classify wildlife (deer, turkey, other animals) and humans by their thermal (IR) signature over open / semi-open terrain.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Operating point.  </a:t>
            </a:r>
            <a:r>
              <a:rPr sz="1400" b="0">
                <a:solidFill>
                  <a:srgbClr val="1E2833"/>
                </a:solidFill>
                <a:latin typeface="Segoe UI"/>
              </a:rPr>
              <a:t>90–120 m AGL (R1), 2.23 m/s ground speed (R2), ≥ 2.8 km survey line (R7) in ≤ 4.5 m/s sustained wind, with ≥ 5 °C target-to-background thermal contrast.</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Sortie.  </a:t>
            </a:r>
            <a:r>
              <a:rPr sz="1400" b="0">
                <a:solidFill>
                  <a:srgbClr val="1E2833"/>
                </a:solidFill>
                <a:latin typeface="Segoe UI"/>
              </a:rPr>
              <a:t>Plan waypoint route → auto takeoff → cruise-survey with live onboard thermal inference → investigate &amp; classify detections → return-to-launch &amp; land. Failsafes on link-loss and low battery.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Autonomy stance.  </a:t>
            </a:r>
            <a:r>
              <a:rPr sz="1400" b="0">
                <a:solidFill>
                  <a:srgbClr val="1E2833"/>
                </a:solidFill>
                <a:latin typeface="Segoe UI"/>
              </a:rPr>
              <a:t>Thermal streams live to the onboard computer for real-time inference that drives route changes — no recording and no required downlink in the committed build; a thermal-video downlink is a planned future capability (Phase 4).</a:t>
            </a:r>
          </a:p>
        </p:txBody>
      </p:sp>
      <p:sp>
        <p:nvSpPr>
          <p:cNvPr id="10" name="Rectangle 9"/>
          <p:cNvSpPr/>
          <p:nvPr/>
        </p:nvSpPr>
        <p:spPr>
          <a:xfrm>
            <a:off x="7165850" y="1234440"/>
            <a:ext cx="1944619"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duct_sortie_action_flow.png"/>
          <p:cNvPicPr>
            <a:picLocks noChangeAspect="1"/>
          </p:cNvPicPr>
          <p:nvPr/>
        </p:nvPicPr>
        <p:blipFill>
          <a:blip r:embed="rId2"/>
          <a:stretch>
            <a:fillRect/>
          </a:stretch>
        </p:blipFill>
        <p:spPr>
          <a:xfrm>
            <a:off x="7220714" y="1289304"/>
            <a:ext cx="1834891" cy="4690872"/>
          </a:xfrm>
          <a:prstGeom prst="rect">
            <a:avLst/>
          </a:prstGeom>
        </p:spPr>
      </p:pic>
      <p:sp>
        <p:nvSpPr>
          <p:cNvPr id="12" name="TextBox 11"/>
          <p:cNvSpPr txBox="1"/>
          <p:nvPr/>
        </p:nvSpPr>
        <p:spPr>
          <a:xfrm>
            <a:off x="6949440" y="6053328"/>
            <a:ext cx="23774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ConductSortie — top-level action flow</a:t>
            </a:r>
          </a:p>
        </p:txBody>
      </p:sp>
      <p:sp>
        <p:nvSpPr>
          <p:cNvPr id="13" name="Rounded Rectangle 12"/>
          <p:cNvSpPr/>
          <p:nvPr/>
        </p:nvSpPr>
        <p:spPr>
          <a:xfrm>
            <a:off x="9464040" y="123444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64040" y="123444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134416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90–120 m</a:t>
            </a:r>
          </a:p>
        </p:txBody>
      </p:sp>
      <p:sp>
        <p:nvSpPr>
          <p:cNvPr id="16" name="TextBox 15"/>
          <p:cNvSpPr txBox="1"/>
          <p:nvPr/>
        </p:nvSpPr>
        <p:spPr>
          <a:xfrm>
            <a:off x="9646920" y="178308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altitude AGL (R1)</a:t>
            </a:r>
          </a:p>
        </p:txBody>
      </p:sp>
      <p:sp>
        <p:nvSpPr>
          <p:cNvPr id="17" name="Rounded Rectangle 16"/>
          <p:cNvSpPr/>
          <p:nvPr/>
        </p:nvSpPr>
        <p:spPr>
          <a:xfrm>
            <a:off x="9464040" y="246888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64040" y="2468880"/>
            <a:ext cx="82296" cy="1115568"/>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257860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2.8 km</a:t>
            </a:r>
          </a:p>
        </p:txBody>
      </p:sp>
      <p:sp>
        <p:nvSpPr>
          <p:cNvPr id="20" name="TextBox 19"/>
          <p:cNvSpPr txBox="1"/>
          <p:nvPr/>
        </p:nvSpPr>
        <p:spPr>
          <a:xfrm>
            <a:off x="9646920" y="301752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range in wind (R7)</a:t>
            </a:r>
          </a:p>
        </p:txBody>
      </p:sp>
      <p:sp>
        <p:nvSpPr>
          <p:cNvPr id="21" name="Rounded Rectangle 20"/>
          <p:cNvSpPr/>
          <p:nvPr/>
        </p:nvSpPr>
        <p:spPr>
          <a:xfrm>
            <a:off x="9464040" y="370332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64040" y="370332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20" y="381304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30 min</a:t>
            </a:r>
          </a:p>
        </p:txBody>
      </p:sp>
      <p:sp>
        <p:nvSpPr>
          <p:cNvPr id="24" name="TextBox 23"/>
          <p:cNvSpPr txBox="1"/>
          <p:nvPr/>
        </p:nvSpPr>
        <p:spPr>
          <a:xfrm>
            <a:off x="9646920" y="425196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Endurance, 60 stretch (R6/R8)</a:t>
            </a:r>
          </a:p>
        </p:txBody>
      </p:sp>
      <p:sp>
        <p:nvSpPr>
          <p:cNvPr id="25" name="Rounded Rectangle 24"/>
          <p:cNvSpPr/>
          <p:nvPr/>
        </p:nvSpPr>
        <p:spPr>
          <a:xfrm>
            <a:off x="9464040" y="493776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64040" y="4937760"/>
            <a:ext cx="82296" cy="111556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504748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$2,500</a:t>
            </a:r>
          </a:p>
        </p:txBody>
      </p:sp>
      <p:sp>
        <p:nvSpPr>
          <p:cNvPr id="28" name="TextBox 27"/>
          <p:cNvSpPr txBox="1"/>
          <p:nvPr/>
        </p:nvSpPr>
        <p:spPr>
          <a:xfrm>
            <a:off x="9646920" y="548640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Total system cost (R4)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1</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Requirements &amp; Traceability</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Eight mission requirements decomposed into subsystem requirements, each allocated to a component via a formal satisfy link. Source: requirements_traceability.csv (SysML v2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Requirements  (R1–R8)</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5</a:t>
            </a:r>
          </a:p>
        </p:txBody>
      </p:sp>
      <p:sp>
        <p:nvSpPr>
          <p:cNvPr id="9" name="Rectangle 8"/>
          <p:cNvSpPr/>
          <p:nvPr/>
        </p:nvSpPr>
        <p:spPr>
          <a:xfrm>
            <a:off x="1085507" y="1234440"/>
            <a:ext cx="5683681"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level_requirements.png"/>
          <p:cNvPicPr>
            <a:picLocks noChangeAspect="1"/>
          </p:cNvPicPr>
          <p:nvPr/>
        </p:nvPicPr>
        <p:blipFill>
          <a:blip r:embed="rId2"/>
          <a:stretch>
            <a:fillRect/>
          </a:stretch>
        </p:blipFill>
        <p:spPr>
          <a:xfrm>
            <a:off x="1140371" y="1289304"/>
            <a:ext cx="5573953" cy="4736592"/>
          </a:xfrm>
          <a:prstGeom prst="rect">
            <a:avLst/>
          </a:prstGeom>
        </p:spPr>
      </p:pic>
      <p:sp>
        <p:nvSpPr>
          <p:cNvPr id="11" name="TextBox 10"/>
          <p:cNvSpPr txBox="1"/>
          <p:nvPr/>
        </p:nvSpPr>
        <p:spPr>
          <a:xfrm>
            <a:off x="566928" y="6108192"/>
            <a:ext cx="6720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Mission requirement set — SysML v2 requirement definitions (R1–R8, R3 detection/classification)</a:t>
            </a:r>
          </a:p>
        </p:txBody>
      </p:sp>
      <p:graphicFrame>
        <p:nvGraphicFramePr>
          <p:cNvPr id="12" name="Table 11"/>
          <p:cNvGraphicFramePr>
            <a:graphicFrameLocks noGrp="1"/>
          </p:cNvGraphicFramePr>
          <p:nvPr/>
        </p:nvGraphicFramePr>
        <p:xfrm>
          <a:off x="7635240" y="1234440"/>
          <a:ext cx="2148840" cy="3191256"/>
        </p:xfrm>
        <a:graphic>
          <a:graphicData uri="http://schemas.openxmlformats.org/drawingml/2006/table">
            <a:tbl>
              <a:tblPr>
                <a:tableStyleId>{5C22544A-7EE6-4342-B048-85BDC9FD1C3A}</a:tableStyleId>
              </a:tblPr>
              <a:tblGrid>
                <a:gridCol w="1051560"/>
                <a:gridCol w="1097280"/>
              </a:tblGrid>
              <a:tr h="310896">
                <a:tc>
                  <a:txBody>
                    <a:bodyPr wrap="square"/>
                    <a:lstStyle/>
                    <a:p>
                      <a:pPr algn="l"/>
                      <a:r>
                        <a:rPr sz="1050" b="1">
                          <a:solidFill>
                            <a:srgbClr val="FFFFFF"/>
                          </a:solidFill>
                          <a:latin typeface="Segoe UI"/>
                        </a:rPr>
                        <a:t>Req</a:t>
                      </a:r>
                    </a:p>
                  </a:txBody>
                  <a:tcPr marL="54864" marR="54864" marT="18288" marB="18288" anchor="ctr">
                    <a:solidFill>
                      <a:srgbClr val="0F2540"/>
                    </a:solidFill>
                  </a:tcPr>
                </a:tc>
                <a:tc>
                  <a:txBody>
                    <a:bodyPr wrap="square"/>
                    <a:lstStyle/>
                    <a:p>
                      <a:pPr algn="ctr"/>
                      <a:r>
                        <a:rPr sz="1050" b="1">
                          <a:solidFill>
                            <a:srgbClr val="FFFFFF"/>
                          </a:solidFill>
                          <a:latin typeface="Segoe UI"/>
                        </a:rPr>
                        <a:t>Verify</a:t>
                      </a:r>
                    </a:p>
                  </a:txBody>
                  <a:tcPr marL="54864" marR="54864" marT="18288" marB="18288" anchor="ctr">
                    <a:solidFill>
                      <a:srgbClr val="0F2540"/>
                    </a:solidFill>
                  </a:tcPr>
                </a:tc>
              </a:tr>
              <a:tr h="288036">
                <a:tc>
                  <a:txBody>
                    <a:bodyPr wrap="square"/>
                    <a:lstStyle/>
                    <a:p>
                      <a:pPr algn="l"/>
                      <a:r>
                        <a:rPr sz="1050" b="0">
                          <a:solidFill>
                            <a:srgbClr val="1E2833"/>
                          </a:solidFill>
                          <a:latin typeface="Segoe UI"/>
                        </a:rPr>
                        <a:t>R1</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R2</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R3.1</a:t>
                      </a:r>
                    </a:p>
                  </a:txBody>
                  <a:tcPr marL="54864" marR="54864" marT="18288" marB="18288" anchor="ctr">
                    <a:solidFill>
                      <a:srgbClr val="F6F8FA"/>
                    </a:solidFill>
                  </a:tcPr>
                </a:tc>
                <a:tc>
                  <a:txBody>
                    <a:bodyPr wrap="square"/>
                    <a:lstStyle/>
                    <a:p>
                      <a:pPr algn="ctr"/>
                      <a:r>
                        <a:rPr sz="1050" b="0">
                          <a:solidFill>
                            <a:srgbClr val="1E2833"/>
                          </a:solidFill>
                          <a:latin typeface="Segoe UI"/>
                        </a:rPr>
                        <a:t>A, D</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R3.2</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R4</a:t>
                      </a:r>
                    </a:p>
                  </a:txBody>
                  <a:tcPr marL="54864" marR="54864" marT="18288" marB="18288" anchor="ctr">
                    <a:solidFill>
                      <a:srgbClr val="F6F8FA"/>
                    </a:solidFill>
                  </a:tcPr>
                </a:tc>
                <a:tc>
                  <a:txBody>
                    <a:bodyPr wrap="square"/>
                    <a:lstStyle/>
                    <a:p>
                      <a:pPr algn="ctr"/>
                      <a:r>
                        <a:rPr sz="1050" b="0">
                          <a:solidFill>
                            <a:srgbClr val="1E2833"/>
                          </a:solidFill>
                          <a:latin typeface="Segoe UI"/>
                        </a:rPr>
                        <a:t>I</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R5</a:t>
                      </a:r>
                    </a:p>
                  </a:txBody>
                  <a:tcPr marL="54864" marR="54864" marT="18288" marB="18288" anchor="ctr">
                    <a:solidFill>
                      <a:srgbClr val="FFFFFF"/>
                    </a:solidFill>
                  </a:tcPr>
                </a:tc>
                <a:tc>
                  <a:txBody>
                    <a:bodyPr wrap="square"/>
                    <a:lstStyle/>
                    <a:p>
                      <a:pPr algn="ctr"/>
                      <a:r>
                        <a:rPr sz="1050" b="0">
                          <a:solidFill>
                            <a:srgbClr val="1E2833"/>
                          </a:solidFill>
                          <a:latin typeface="Segoe UI"/>
                        </a:rPr>
                        <a:t>I</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R6</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R7</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R8</a:t>
                      </a:r>
                    </a:p>
                  </a:txBody>
                  <a:tcPr marL="54864" marR="54864" marT="18288" marB="18288" anchor="ctr">
                    <a:solidFill>
                      <a:srgbClr val="F6F8FA"/>
                    </a:solidFill>
                  </a:tcPr>
                </a:tc>
                <a:tc>
                  <a:txBody>
                    <a:bodyPr wrap="square"/>
                    <a:lstStyle/>
                    <a:p>
                      <a:pPr algn="ctr"/>
                      <a:r>
                        <a:rPr sz="1050" b="0">
                          <a:solidFill>
                            <a:srgbClr val="1E2833"/>
                          </a:solidFill>
                          <a:latin typeface="Segoe UI"/>
                        </a:rPr>
                        <a:t>A</a:t>
                      </a:r>
                    </a:p>
                  </a:txBody>
                  <a:tcPr marL="54864" marR="54864" marT="18288" marB="18288" anchor="ctr">
                    <a:solidFill>
                      <a:srgbClr val="F6F8FA"/>
                    </a:solidFill>
                  </a:tcPr>
                </a:tc>
              </a:tr>
            </a:tbl>
          </a:graphicData>
        </a:graphic>
      </p:graphicFrame>
      <p:sp>
        <p:nvSpPr>
          <p:cNvPr id="13" name="Rounded Rectangle 12"/>
          <p:cNvSpPr/>
          <p:nvPr/>
        </p:nvSpPr>
        <p:spPr>
          <a:xfrm>
            <a:off x="9966960" y="1234440"/>
            <a:ext cx="1645920" cy="4297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1371600"/>
            <a:ext cx="1417320" cy="36576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2E86AB"/>
                </a:solidFill>
                <a:latin typeface="Segoe UI"/>
              </a:rPr>
              <a:t>V-METHODS</a:t>
            </a:r>
          </a:p>
        </p:txBody>
      </p:sp>
      <p:sp>
        <p:nvSpPr>
          <p:cNvPr id="15" name="TextBox 14"/>
          <p:cNvSpPr txBox="1"/>
          <p:nvPr/>
        </p:nvSpPr>
        <p:spPr>
          <a:xfrm>
            <a:off x="10104120" y="1783080"/>
            <a:ext cx="1463040" cy="3657600"/>
          </a:xfrm>
          <a:prstGeom prst="rect">
            <a:avLst/>
          </a:prstGeom>
          <a:noFill/>
        </p:spPr>
        <p:txBody>
          <a:bodyPr wrap="square" anchor="t" lIns="0" rIns="0" tIns="0" bIns="0">
            <a:spAutoFit/>
          </a:bodyPr>
          <a:lstStyle/>
          <a:p>
            <a:pPr algn="l">
              <a:lnSpc>
                <a:spcPct val="105000"/>
              </a:lnSpc>
              <a:spcBef>
                <a:spcPts val="0"/>
              </a:spcBef>
              <a:spcAft>
                <a:spcPts val="800"/>
              </a:spcAft>
            </a:pPr>
            <a:r>
              <a:rPr sz="1100" b="0" i="0">
                <a:solidFill>
                  <a:srgbClr val="1E2833"/>
                </a:solidFill>
                <a:latin typeface="Segoe UI"/>
              </a:rPr>
              <a:t>I  Inspection</a:t>
            </a:r>
          </a:p>
          <a:p>
            <a:pPr algn="l">
              <a:lnSpc>
                <a:spcPct val="105000"/>
              </a:lnSpc>
              <a:spcBef>
                <a:spcPts val="0"/>
              </a:spcBef>
              <a:spcAft>
                <a:spcPts val="800"/>
              </a:spcAft>
            </a:pPr>
            <a:r>
              <a:rPr sz="1100" b="0" i="0">
                <a:solidFill>
                  <a:srgbClr val="1E2833"/>
                </a:solidFill>
                <a:latin typeface="Segoe UI"/>
              </a:rPr>
              <a:t>A  Analysis</a:t>
            </a:r>
          </a:p>
          <a:p>
            <a:pPr algn="l">
              <a:lnSpc>
                <a:spcPct val="105000"/>
              </a:lnSpc>
              <a:spcBef>
                <a:spcPts val="0"/>
              </a:spcBef>
              <a:spcAft>
                <a:spcPts val="800"/>
              </a:spcAft>
            </a:pPr>
            <a:r>
              <a:rPr sz="1100" b="0" i="0">
                <a:solidFill>
                  <a:srgbClr val="1E2833"/>
                </a:solidFill>
                <a:latin typeface="Segoe UI"/>
              </a:rPr>
              <a:t>D  Demonstration</a:t>
            </a:r>
          </a:p>
          <a:p>
            <a:pPr algn="l">
              <a:lnSpc>
                <a:spcPct val="105000"/>
              </a:lnSpc>
              <a:spcBef>
                <a:spcPts val="0"/>
              </a:spcBef>
              <a:spcAft>
                <a:spcPts val="800"/>
              </a:spcAft>
            </a:pPr>
            <a:r>
              <a:rPr sz="1100" b="0" i="0">
                <a:solidFill>
                  <a:srgbClr val="1E2833"/>
                </a:solidFill>
                <a:latin typeface="Segoe UI"/>
              </a:rPr>
              <a:t>T  Test</a:t>
            </a:r>
          </a:p>
          <a:p>
            <a:pPr algn="l">
              <a:lnSpc>
                <a:spcPct val="105000"/>
              </a:lnSpc>
              <a:spcBef>
                <a:spcPts val="0"/>
              </a:spcBef>
              <a:spcAft>
                <a:spcPts val="800"/>
              </a:spcAft>
            </a:pPr>
            <a:r>
              <a:rPr sz="600" b="0" i="0">
                <a:solidFill>
                  <a:srgbClr val="1E2833"/>
                </a:solidFill>
                <a:latin typeface="Segoe UI"/>
              </a:rPr>
              <a:t/>
            </a:r>
          </a:p>
          <a:p>
            <a:pPr algn="l">
              <a:lnSpc>
                <a:spcPct val="105000"/>
              </a:lnSpc>
              <a:spcBef>
                <a:spcPts val="0"/>
              </a:spcBef>
              <a:spcAft>
                <a:spcPts val="800"/>
              </a:spcAft>
            </a:pPr>
            <a:r>
              <a:rPr sz="950" b="0" i="0">
                <a:solidFill>
                  <a:srgbClr val="5C6B7A"/>
                </a:solidFill>
                <a:latin typeface="Segoe UI"/>
              </a:rPr>
              <a:t>At CDR: A complete for all; T/D planned (see V&amp;V).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Traceability Approach &amp; Coverage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6</a:t>
            </a:r>
          </a:p>
        </p:txBody>
      </p:sp>
      <p:sp>
        <p:nvSpPr>
          <p:cNvPr id="9" name="TextBox 8"/>
          <p:cNvSpPr txBox="1"/>
          <p:nvPr/>
        </p:nvSpPr>
        <p:spPr>
          <a:xfrm>
            <a:off x="566928" y="1234440"/>
            <a:ext cx="42976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Up-trace.  </a:t>
            </a:r>
            <a:r>
              <a:rPr sz="1350" b="0">
                <a:solidFill>
                  <a:srgbClr val="1E2833"/>
                </a:solidFill>
                <a:latin typeface="Segoe UI"/>
              </a:rPr>
              <a:t>Each subsystem requirement subsets the mission requirement it decomposes (e.g. R3_CAM_RES ⊂ R3, cost reqs ⊂ R4).</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Down-trace.  </a:t>
            </a:r>
            <a:r>
              <a:rPr sz="1350" b="0">
                <a:solidFill>
                  <a:srgbClr val="1E2833"/>
                </a:solidFill>
                <a:latin typeface="Segoe UI"/>
              </a:rPr>
              <a:t>Each component part def carries a satisfy link to the requirements it fulfills — the RTM is derived from that web, not maintained by hand.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Coverage.  </a:t>
            </a:r>
            <a:r>
              <a:rPr sz="1350" b="0">
                <a:solidFill>
                  <a:srgbClr val="1E2833"/>
                </a:solidFill>
                <a:latin typeface="Segoe UI"/>
              </a:rPr>
              <a:t>All 8 mission requirements decompose to subsystem requirements and allocate to at least one component; behavior reqs (…_BHV_…) allocate to autonomy functions + firmware.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Bidirectional.  </a:t>
            </a:r>
            <a:r>
              <a:rPr sz="1350" b="0">
                <a:solidFill>
                  <a:srgbClr val="1E2833"/>
                </a:solidFill>
                <a:latin typeface="Segoe UI"/>
              </a:rPr>
              <a:t>Any requirement → responsible component, and any component → requirements it must meet, are both queryable from the model.</a:t>
            </a:r>
          </a:p>
        </p:txBody>
      </p:sp>
      <p:graphicFrame>
        <p:nvGraphicFramePr>
          <p:cNvPr id="10" name="Table 9"/>
          <p:cNvGraphicFramePr>
            <a:graphicFrameLocks noGrp="1"/>
          </p:cNvGraphicFramePr>
          <p:nvPr/>
        </p:nvGraphicFramePr>
        <p:xfrm>
          <a:off x="5074920" y="1234440"/>
          <a:ext cx="6547104" cy="3968496"/>
        </p:xfrm>
        <a:graphic>
          <a:graphicData uri="http://schemas.openxmlformats.org/drawingml/2006/table">
            <a:tbl>
              <a:tblPr>
                <a:tableStyleId>{5C22544A-7EE6-4342-B048-85BDC9FD1C3A}</a:tableStyleId>
              </a:tblPr>
              <a:tblGrid>
                <a:gridCol w="2697480"/>
                <a:gridCol w="822960"/>
                <a:gridCol w="2194560"/>
                <a:gridCol w="832104"/>
              </a:tblGrid>
              <a:tr h="310896">
                <a:tc>
                  <a:txBody>
                    <a:bodyPr wrap="square"/>
                    <a:lstStyle/>
                    <a:p>
                      <a:pPr algn="l"/>
                      <a:r>
                        <a:rPr sz="1000" b="1">
                          <a:solidFill>
                            <a:srgbClr val="FFFFFF"/>
                          </a:solidFill>
                          <a:latin typeface="Segoe UI"/>
                        </a:rPr>
                        <a:t>Mission requirement</a:t>
                      </a:r>
                    </a:p>
                  </a:txBody>
                  <a:tcPr marL="54864" marR="54864" marT="18288" marB="18288" anchor="ctr">
                    <a:solidFill>
                      <a:srgbClr val="0F2540"/>
                    </a:solidFill>
                  </a:tcPr>
                </a:tc>
                <a:tc>
                  <a:txBody>
                    <a:bodyPr wrap="square"/>
                    <a:lstStyle/>
                    <a:p>
                      <a:pPr algn="ctr"/>
                      <a:r>
                        <a:rPr sz="1000" b="1">
                          <a:solidFill>
                            <a:srgbClr val="FFFFFF"/>
                          </a:solidFill>
                          <a:latin typeface="Segoe UI"/>
                        </a:rPr>
                        <a:t>Derived</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c>
                  <a:txBody>
                    <a:bodyPr wrap="square"/>
                    <a:lstStyle/>
                    <a:p>
                      <a:pPr algn="ctr"/>
                      <a:r>
                        <a:rPr sz="1000" b="1">
                          <a:solidFill>
                            <a:srgbClr val="FFFFFF"/>
                          </a:solidFill>
                          <a:latin typeface="Segoe UI"/>
                        </a:rPr>
                        <a:t>Verify</a:t>
                      </a:r>
                    </a:p>
                  </a:txBody>
                  <a:tcPr marL="54864" marR="54864" marT="18288" marB="18288" anchor="ctr">
                    <a:solidFill>
                      <a:srgbClr val="0F2540"/>
                    </a:solidFill>
                  </a:tcPr>
                </a:tc>
              </a:tr>
              <a:tr h="457200">
                <a:tc>
                  <a:txBody>
                    <a:bodyPr wrap="square"/>
                    <a:lstStyle/>
                    <a:p>
                      <a:pPr algn="l"/>
                      <a:r>
                        <a:rPr sz="1000" b="0">
                          <a:solidFill>
                            <a:srgbClr val="1E2833"/>
                          </a:solidFill>
                          <a:latin typeface="Segoe UI"/>
                        </a:rPr>
                        <a:t>R1 · Survey altitude</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R2 ·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R3 · Thermal detect &amp; classify</a:t>
                      </a:r>
                    </a:p>
                  </a:txBody>
                  <a:tcPr marL="54864" marR="54864" marT="18288" marB="18288" anchor="ctr">
                    <a:solidFill>
                      <a:srgbClr val="FFFFFF"/>
                    </a:solidFill>
                  </a:tcPr>
                </a:tc>
                <a:tc>
                  <a:txBody>
                    <a:bodyPr wrap="square"/>
                    <a:lstStyle/>
                    <a:p>
                      <a:pPr algn="ctr"/>
                      <a:r>
                        <a:rPr sz="1000" b="0">
                          <a:solidFill>
                            <a:srgbClr val="1E2833"/>
                          </a:solidFill>
                          <a:latin typeface="Segoe UI"/>
                        </a:rPr>
                        <a:t>6</a:t>
                      </a:r>
                    </a:p>
                  </a:txBody>
                  <a:tcPr marL="54864" marR="54864" marT="18288" marB="18288" anchor="ctr">
                    <a:solidFill>
                      <a:srgbClr val="FFFFFF"/>
                    </a:solidFill>
                  </a:tcPr>
                </a:tc>
                <a:tc>
                  <a:txBody>
                    <a:bodyPr wrap="square"/>
                    <a:lstStyle/>
                    <a:p>
                      <a:pPr algn="l"/>
                      <a:r>
                        <a:rPr sz="1000" b="0">
                          <a:solidFill>
                            <a:srgbClr val="1E2833"/>
                          </a:solidFill>
                          <a:latin typeface="Segoe UI"/>
                        </a:rPr>
                        <a:t>IRCamera, SBC, thermalModel</a:t>
                      </a:r>
                    </a:p>
                  </a:txBody>
                  <a:tcPr marL="54864" marR="54864" marT="18288" marB="18288" anchor="ctr">
                    <a:solidFill>
                      <a:srgbClr val="FFFFFF"/>
                    </a:solidFill>
                  </a:tcPr>
                </a:tc>
                <a:tc>
                  <a:txBody>
                    <a:bodyPr wrap="square"/>
                    <a:lstStyle/>
                    <a:p>
                      <a:pPr algn="ctr"/>
                      <a:r>
                        <a:rPr sz="1000" b="0">
                          <a:solidFill>
                            <a:srgbClr val="1E2833"/>
                          </a:solidFill>
                          <a:latin typeface="Segoe UI"/>
                        </a:rPr>
                        <a:t>A, D,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R4 · System cost</a:t>
                      </a:r>
                    </a:p>
                  </a:txBody>
                  <a:tcPr marL="54864" marR="54864" marT="18288" marB="18288" anchor="ctr">
                    <a:solidFill>
                      <a:srgbClr val="F6F8FA"/>
                    </a:solidFill>
                  </a:tcPr>
                </a:tc>
                <a:tc>
                  <a:txBody>
                    <a:bodyPr wrap="square"/>
                    <a:lstStyle/>
                    <a:p>
                      <a:pPr algn="ctr"/>
                      <a:r>
                        <a:rPr sz="1000" b="0">
                          <a:solidFill>
                            <a:srgbClr val="1E2833"/>
                          </a:solidFill>
                          <a:latin typeface="Segoe UI"/>
                        </a:rPr>
                        <a:t>5</a:t>
                      </a:r>
                    </a:p>
                  </a:txBody>
                  <a:tcPr marL="54864" marR="54864" marT="18288" marB="18288" anchor="ctr">
                    <a:solidFill>
                      <a:srgbClr val="F6F8FA"/>
                    </a:solidFill>
                  </a:tcPr>
                </a:tc>
                <a:tc>
                  <a:txBody>
                    <a:bodyPr wrap="square"/>
                    <a:lstStyle/>
                    <a:p>
                      <a:pPr algn="l"/>
                      <a:r>
                        <a:rPr sz="1000" b="0">
                          <a:solidFill>
                            <a:srgbClr val="1E2833"/>
                          </a:solidFill>
                          <a:latin typeface="Segoe UI"/>
                        </a:rPr>
                        <a:t>All subsystems (cost)</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R5 · Minimize soldering</a:t>
                      </a:r>
                    </a:p>
                  </a:txBody>
                  <a:tcPr marL="54864" marR="54864" marT="18288" marB="18288" anchor="ctr">
                    <a:solidFill>
                      <a:srgbClr val="FFFFFF"/>
                    </a:solidFill>
                  </a:tcPr>
                </a:tc>
                <a:tc>
                  <a:txBody>
                    <a:bodyPr wrap="square"/>
                    <a:lstStyle/>
                    <a:p>
                      <a:pPr algn="ctr"/>
                      <a:r>
                        <a:rPr sz="1000" b="0">
                          <a:solidFill>
                            <a:srgbClr val="1E2833"/>
                          </a:solidFill>
                          <a:latin typeface="Segoe UI"/>
                        </a:rPr>
                        <a:t>1</a:t>
                      </a:r>
                    </a:p>
                  </a:txBody>
                  <a:tcPr marL="54864" marR="54864" marT="18288" marB="18288" anchor="ctr">
                    <a:solidFill>
                      <a:srgbClr val="FFFFFF"/>
                    </a:solidFill>
                  </a:tcPr>
                </a:tc>
                <a:tc>
                  <a:txBody>
                    <a:bodyPr wrap="square"/>
                    <a:lstStyle/>
                    <a:p>
                      <a:pPr algn="l"/>
                      <a:r>
                        <a:rPr sz="1000" b="0">
                          <a:solidFill>
                            <a:srgbClr val="1E2833"/>
                          </a:solidFill>
                          <a:latin typeface="Segoe UI"/>
                        </a:rPr>
                        <a:t>Airframe (PNP, pre-soldered)</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R6 · Endurance (30 min)</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Battery, autonomy (RTL)</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R7 · Range in wind</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GCS, antennas, RF links</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R8 · Endurance stretch</a:t>
                      </a:r>
                    </a:p>
                  </a:txBody>
                  <a:tcPr marL="54864" marR="54864" marT="18288" marB="18288" anchor="ctr">
                    <a:solidFill>
                      <a:srgbClr val="F6F8FA"/>
                    </a:solidFill>
                  </a:tcPr>
                </a:tc>
                <a:tc>
                  <a:txBody>
                    <a:bodyPr wrap="square"/>
                    <a:lstStyle/>
                    <a:p>
                      <a:pPr algn="ctr"/>
                      <a:r>
                        <a:rPr sz="1000" b="0">
                          <a:solidFill>
                            <a:srgbClr val="1E2833"/>
                          </a:solidFill>
                          <a:latin typeface="Segoe UI"/>
                        </a:rPr>
                        <a:t>1</a:t>
                      </a:r>
                    </a:p>
                  </a:txBody>
                  <a:tcPr marL="54864" marR="54864" marT="18288" marB="18288" anchor="ctr">
                    <a:solidFill>
                      <a:srgbClr val="F6F8FA"/>
                    </a:solidFill>
                  </a:tcPr>
                </a:tc>
                <a:tc>
                  <a:txBody>
                    <a:bodyPr wrap="square"/>
                    <a:lstStyle/>
                    <a:p>
                      <a:pPr algn="l"/>
                      <a:r>
                        <a:rPr sz="1000" b="0">
                          <a:solidFill>
                            <a:srgbClr val="1E2833"/>
                          </a:solidFill>
                          <a:latin typeface="Segoe UI"/>
                        </a:rPr>
                        <a:t>Battery</a:t>
                      </a:r>
                    </a:p>
                  </a:txBody>
                  <a:tcPr marL="54864" marR="54864" marT="18288" marB="18288" anchor="ctr">
                    <a:solidFill>
                      <a:srgbClr val="F6F8FA"/>
                    </a:solidFill>
                  </a:tcPr>
                </a:tc>
                <a:tc>
                  <a:txBody>
                    <a:bodyPr wrap="square"/>
                    <a:lstStyle/>
                    <a:p>
                      <a:pPr algn="ctr"/>
                      <a:r>
                        <a:rPr sz="1000" b="0">
                          <a:solidFill>
                            <a:srgbClr val="1E2833"/>
                          </a:solidFill>
                          <a:latin typeface="Segoe UI"/>
                        </a:rPr>
                        <a:t>A</a:t>
                      </a:r>
                    </a:p>
                  </a:txBody>
                  <a:tcPr marL="54864" marR="54864" marT="18288" marB="18288" anchor="ctr">
                    <a:solidFill>
                      <a:srgbClr val="F6F8FA"/>
                    </a:solidFill>
                  </a:tcPr>
                </a:tc>
              </a:tr>
            </a:tbl>
          </a:graphicData>
        </a:graphic>
      </p:graphicFrame>
      <p:sp>
        <p:nvSpPr>
          <p:cNvPr id="11" name="TextBox 10"/>
          <p:cNvSpPr txBox="1"/>
          <p:nvPr/>
        </p:nvSpPr>
        <p:spPr>
          <a:xfrm>
            <a:off x="5074920" y="5806440"/>
            <a:ext cx="6547104" cy="45720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Full matrix on the following three slides (from requirements_traceability.csv). </a:t>
            </a:r>
            <a:r>
              <a:rPr sz="1000" b="0" i="1">
                <a:solidFill>
                  <a:srgbClr val="5C6B7A"/>
                </a:solidFill>
                <a:latin typeface="Segoe UI"/>
              </a:rPr>
              <a:t>Derived-req counts reflect formal subset/parent links.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Airframe Subsystem &amp; Autonomy Behavior</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7</a:t>
            </a:r>
          </a:p>
        </p:txBody>
      </p:sp>
      <p:graphicFrame>
        <p:nvGraphicFramePr>
          <p:cNvPr id="9" name="Table 8"/>
          <p:cNvGraphicFramePr>
            <a:graphicFrameLocks noGrp="1"/>
          </p:cNvGraphicFramePr>
          <p:nvPr/>
        </p:nvGraphicFramePr>
        <p:xfrm>
          <a:off x="566928" y="1207008"/>
          <a:ext cx="11055096" cy="360273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R1_BHV_ALT_HOLD</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FFFFF"/>
                    </a:solidFill>
                  </a:tcPr>
                </a:tc>
                <a:tc>
                  <a:txBody>
                    <a:bodyPr wrap="square"/>
                    <a:lstStyle/>
                    <a:p>
                      <a:pPr algn="ctr"/>
                      <a:r>
                        <a:rPr sz="900" b="0">
                          <a:solidFill>
                            <a:srgbClr val="1E2833"/>
                          </a:solidFill>
                          <a:latin typeface="Segoe UI"/>
                        </a:rPr>
                        <a:t>R1</a:t>
                      </a:r>
                    </a:p>
                  </a:txBody>
                  <a:tcPr marL="54864" marR="54864" marT="18288" marB="18288" anchor="ctr">
                    <a:solidFill>
                      <a:srgbClr val="FFFFFF"/>
                    </a:solidFill>
                  </a:tcPr>
                </a:tc>
                <a:tc>
                  <a:txBody>
                    <a:bodyPr wrap="square"/>
                    <a:lstStyle/>
                    <a:p>
                      <a:pPr algn="l"/>
                      <a:r>
                        <a:rPr sz="900" b="0">
                          <a:solidFill>
                            <a:srgbClr val="1E2833"/>
                          </a:solidFill>
                          <a:latin typeface="Segoe UI"/>
                        </a:rPr>
                        <a:t>flyRoute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R2_BHV_SPEED_HOLD</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6F8FA"/>
                    </a:solidFill>
                  </a:tcPr>
                </a:tc>
                <a:tc>
                  <a:txBody>
                    <a:bodyPr wrap="square"/>
                    <a:lstStyle/>
                    <a:p>
                      <a:pPr algn="ctr"/>
                      <a:r>
                        <a:rPr sz="900" b="0">
                          <a:solidFill>
                            <a:srgbClr val="1E2833"/>
                          </a:solidFill>
                          <a:latin typeface="Segoe UI"/>
                        </a:rPr>
                        <a:t>R2</a:t>
                      </a:r>
                    </a:p>
                  </a:txBody>
                  <a:tcPr marL="54864" marR="54864" marT="18288" marB="18288" anchor="ctr">
                    <a:solidFill>
                      <a:srgbClr val="F6F8FA"/>
                    </a:solidFill>
                  </a:tcPr>
                </a:tc>
                <a:tc>
                  <a:txBody>
                    <a:bodyPr wrap="square"/>
                    <a:lstStyle/>
                    <a:p>
                      <a:pPr algn="l"/>
                      <a:r>
                        <a:rPr sz="900" b="0">
                          <a:solidFill>
                            <a:srgbClr val="1E2833"/>
                          </a:solidFill>
                          <a:latin typeface="Segoe UI"/>
                        </a:rPr>
                        <a:t>flyRoute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R4_AF_ASSY</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assembly shall minimize DIY soldering, preferring…</a:t>
                      </a:r>
                    </a:p>
                  </a:txBody>
                  <a:tcPr marL="54864" marR="54864" marT="18288" marB="18288" anchor="ctr">
                    <a:solidFill>
                      <a:srgbClr val="FFFFFF"/>
                    </a:solidFill>
                  </a:tcPr>
                </a:tc>
                <a:tc>
                  <a:txBody>
                    <a:bodyPr wrap="square"/>
                    <a:lstStyle/>
                    <a:p>
                      <a:pPr algn="ctr"/>
                      <a:r>
                        <a:rPr sz="900" b="0">
                          <a:solidFill>
                            <a:srgbClr val="1E2833"/>
                          </a:solidFill>
                          <a:latin typeface="Segoe UI"/>
                        </a:rPr>
                        <a:t>R5</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R4_AF_COST</a:t>
                      </a:r>
                    </a:p>
                  </a:txBody>
                  <a:tcPr marL="54864" marR="54864" marT="18288" marB="18288" anchor="ctr">
                    <a:solidFill>
                      <a:srgbClr val="F6F8FA"/>
                    </a:solidFill>
                  </a:tcPr>
                </a:tc>
                <a:tc>
                  <a:txBody>
                    <a:bodyPr wrap="square"/>
                    <a:lstStyle/>
                    <a:p>
                      <a:pPr algn="l"/>
                      <a:r>
                        <a:rPr sz="900" b="0">
                          <a:solidFill>
                            <a:srgbClr val="1E2833"/>
                          </a:solidFill>
                          <a:latin typeface="Segoe UI"/>
                        </a:rPr>
                        <a:t>The complete airframe subsystem cost (frame + motors + ESCs +…</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R4_AF_LANDING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provide landing gear or structural clearance of 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R4_AF_PAYLOAD</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(frame + motors + ESCs + propellers + power…</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R4_AF_PROP_CFG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accommodate propeller diameters and motor mounting…</a:t>
                      </a:r>
                    </a:p>
                  </a:txBody>
                  <a:tcPr marL="54864" marR="54864" marT="18288" marB="18288" anchor="ctr">
                    <a:solidFill>
                      <a:srgbClr val="FFFFFF"/>
                    </a:solidFill>
                  </a:tcPr>
                </a:tc>
                <a:tc>
                  <a:txBody>
                    <a:bodyPr wrap="square"/>
                    <a:lstStyle/>
                    <a:p>
                      <a:pPr algn="ctr"/>
                      <a:r>
                        <a:rPr sz="900" b="0">
                          <a:solidFill>
                            <a:srgbClr val="1E2833"/>
                          </a:solidFill>
                          <a:latin typeface="Segoe UI"/>
                        </a:rPr>
                        <a:t>R1,R2</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R4_AF_PWR_DIST</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airframe's power distribution wiring and connectors shall supply…</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R4_AF_STIFF</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structure shall be sufficiently rigid to prevent…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R4_AF_WT</a:t>
                      </a:r>
                    </a:p>
                  </a:txBody>
                  <a:tcPr marL="54864" marR="54864" marT="18288" marB="18288" anchor="ctr">
                    <a:solidFill>
                      <a:srgbClr val="F6F8FA"/>
                    </a:solidFill>
                  </a:tcPr>
                </a:tc>
                <a:tc>
                  <a:txBody>
                    <a:bodyPr wrap="square"/>
                    <a:lstStyle/>
                    <a:p>
                      <a:pPr algn="l"/>
                      <a:r>
                        <a:rPr sz="900" b="0">
                          <a:solidFill>
                            <a:srgbClr val="1E2833"/>
                          </a:solidFill>
                          <a:latin typeface="Segoe UI"/>
                        </a:rPr>
                        <a:t>The bare airframe mass (frame only, excluding motors, ESCs, and…</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R6_BHV_RTL_RESERVE</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FFFFF"/>
                    </a:solidFill>
                  </a:tcPr>
                </a:tc>
                <a:tc>
                  <a:txBody>
                    <a:bodyPr wrap="square"/>
                    <a:lstStyle/>
                    <a:p>
                      <a:pPr algn="ctr"/>
                      <a:r>
                        <a:rPr sz="900" b="0">
                          <a:solidFill>
                            <a:srgbClr val="1E2833"/>
                          </a:solidFill>
                          <a:latin typeface="Segoe UI"/>
                        </a:rPr>
                        <a:t>R6</a:t>
                      </a:r>
                    </a:p>
                  </a:txBody>
                  <a:tcPr marL="54864" marR="54864" marT="18288" marB="18288" anchor="ctr">
                    <a:solidFill>
                      <a:srgbClr val="FFFFFF"/>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R7_BHV_LINKLOSS_RTL</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6F8FA"/>
                    </a:solidFill>
                  </a:tcPr>
                </a:tc>
                <a:tc>
                  <a:txBody>
                    <a:bodyPr wrap="square"/>
                    <a:lstStyle/>
                    <a:p>
                      <a:pPr algn="ctr"/>
                      <a:r>
                        <a:rPr sz="900" b="0">
                          <a:solidFill>
                            <a:srgbClr val="1E2833"/>
                          </a:solidFill>
                          <a:latin typeface="Segoe UI"/>
                        </a:rPr>
                        <a:t>R7</a:t>
                      </a:r>
                    </a:p>
                  </a:txBody>
                  <a:tcPr marL="54864" marR="54864" marT="18288" marB="18288" anchor="ctr">
                    <a:solidFill>
                      <a:srgbClr val="F6F8FA"/>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6F8FA"/>
                    </a:solidFill>
                  </a:tcPr>
                </a:tc>
              </a:tr>
            </a:tbl>
          </a:graphicData>
        </a:graphic>
      </p:graphicFrame>
      <p:sp>
        <p:nvSpPr>
          <p:cNvPr id="10" name="TextBox 9"/>
          <p:cNvSpPr txBox="1"/>
          <p:nvPr/>
        </p:nvSpPr>
        <p:spPr>
          <a:xfrm>
            <a:off x="566928" y="629107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Behavior requirements (…_BHV_…) are allocated to autonomy action functions (flyRoute, executeRtl) and the flight-controller firmware (ArduPilot ArduCopter).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Battery &amp; Camera (Thermal Payload)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8</a:t>
            </a:r>
          </a:p>
        </p:txBody>
      </p:sp>
      <p:graphicFrame>
        <p:nvGraphicFramePr>
          <p:cNvPr id="9" name="Table 8"/>
          <p:cNvGraphicFramePr>
            <a:graphicFrameLocks noGrp="1"/>
          </p:cNvGraphicFramePr>
          <p:nvPr/>
        </p:nvGraphicFramePr>
        <p:xfrm>
          <a:off x="566928" y="1207008"/>
          <a:ext cx="11055096" cy="415137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R3_CAM_COST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cost shall not exceed 600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R3_CAM_FOV</a:t>
                      </a:r>
                    </a:p>
                  </a:txBody>
                  <a:tcPr marL="54864" marR="54864" marT="18288" marB="18288" anchor="ctr">
                    <a:solidFill>
                      <a:srgbClr val="F6F8FA"/>
                    </a:solidFill>
                  </a:tcPr>
                </a:tc>
                <a:tc>
                  <a:txBody>
                    <a:bodyPr wrap="square"/>
                    <a:lstStyle/>
                    <a:p>
                      <a:pPr algn="l"/>
                      <a:r>
                        <a:rPr sz="900" b="0">
                          <a:solidFill>
                            <a:srgbClr val="1E2833"/>
                          </a:solidFill>
                          <a:latin typeface="Segoe UI"/>
                        </a:rPr>
                        <a:t>The camera shall provide a horizontal field of view of at least 30…</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R3_CAM_IF</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shall output analog CVBS or digital video (HDMI / CSI /…</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R3_CAM_NETD</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NETD (noise equivalent temperature difference)…</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R3_CAM_PWR</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shall consume no more than 4.5W average during…</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R3_CAM_RES</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shall provide sufficient spatial resolution such…</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R3_CAM_WT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(sensor + lens + housing + cabling) shall not…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R4_BAT_COST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cost, when summed with all other subsystem costs, shall…</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R4_BAT_DISCHARGE</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sustain continuous discharge at the system maximum…</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R4_BAT_ENERGY</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shall store sufficient usable energy such that, when…</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R4_BAT_ENERGY_STRETCH</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store sufficient usable energy such that the…</a:t>
                      </a:r>
                    </a:p>
                  </a:txBody>
                  <a:tcPr marL="54864" marR="54864" marT="18288" marB="18288" anchor="ctr">
                    <a:solidFill>
                      <a:srgbClr val="FFFFFF"/>
                    </a:solidFill>
                  </a:tcPr>
                </a:tc>
                <a:tc>
                  <a:txBody>
                    <a:bodyPr wrap="square"/>
                    <a:lstStyle/>
                    <a:p>
                      <a:pPr algn="ctr"/>
                      <a:r>
                        <a:rPr sz="900" b="0">
                          <a:solidFill>
                            <a:srgbClr val="1E2833"/>
                          </a:solidFill>
                          <a:latin typeface="Segoe UI"/>
                        </a:rPr>
                        <a:t>R8</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R4_BAT_IF</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connector and form factor shall be physically compatible…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AntiSparkFilter, 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R4_BAT_VOLT</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nominal voltage shall be within the operating input…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R4_BAT_WT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mass shall not exceed the payload capacity of the…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SBC (Onboard Compute) &amp; Ground Control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9</a:t>
            </a:r>
          </a:p>
        </p:txBody>
      </p:sp>
      <p:graphicFrame>
        <p:nvGraphicFramePr>
          <p:cNvPr id="9" name="Table 8"/>
          <p:cNvGraphicFramePr>
            <a:graphicFrameLocks noGrp="1"/>
          </p:cNvGraphicFramePr>
          <p:nvPr/>
        </p:nvGraphicFramePr>
        <p:xfrm>
          <a:off x="566928" y="1207008"/>
          <a:ext cx="11055096" cy="408279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51460">
                <a:tc>
                  <a:txBody>
                    <a:bodyPr wrap="square"/>
                    <a:lstStyle/>
                    <a:p>
                      <a:pPr algn="l"/>
                      <a:r>
                        <a:rPr sz="900" b="0">
                          <a:solidFill>
                            <a:srgbClr val="1E2833"/>
                          </a:solidFill>
                          <a:latin typeface="Segoe UI"/>
                        </a:rPr>
                        <a:t>R4_GCS_BAT</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operate on internal battery power for a duration…</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R4_GCS_COST</a:t>
                      </a:r>
                    </a:p>
                  </a:txBody>
                  <a:tcPr marL="54864" marR="54864" marT="18288" marB="18288" anchor="ctr">
                    <a:solidFill>
                      <a:srgbClr val="F6F8FA"/>
                    </a:solidFill>
                  </a:tcPr>
                </a:tc>
                <a:tc>
                  <a:txBody>
                    <a:bodyPr wrap="square"/>
                    <a:lstStyle/>
                    <a:p>
                      <a:pPr algn="l"/>
                      <a:r>
                        <a:rPr sz="900" b="0">
                          <a:solidFill>
                            <a:srgbClr val="1E2833"/>
                          </a:solidFill>
                          <a:latin typeface="Segoe UI"/>
                        </a:rPr>
                        <a:t>The GCS cost, when summed with all other subsystem costs, shall not…</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R4_GCS_CTRL</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provide flight control inputs (throttle, roll, pitch,…</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R4_GCS_IF</a:t>
                      </a:r>
                    </a:p>
                  </a:txBody>
                  <a:tcPr marL="54864" marR="54864" marT="18288" marB="18288" anchor="ctr">
                    <a:solidFill>
                      <a:srgbClr val="F6F8FA"/>
                    </a:solidFill>
                  </a:tcPr>
                </a:tc>
                <a:tc>
                  <a:txBody>
                    <a:bodyPr wrap="square"/>
                    <a:lstStyle/>
                    <a:p>
                      <a:pPr algn="l"/>
                      <a:r>
                        <a:rPr sz="900" b="0">
                          <a:solidFill>
                            <a:srgbClr val="1E2833"/>
                          </a:solidFill>
                          <a:latin typeface="Segoe UI"/>
                        </a:rPr>
                        <a:t>The GCS receiver and transmitter shall be compatible with the drone's…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R4_GCS_RANGE</a:t>
                      </a:r>
                    </a:p>
                  </a:txBody>
                  <a:tcPr marL="54864" marR="54864" marT="18288" marB="18288" anchor="ctr">
                    <a:solidFill>
                      <a:srgbClr val="FFFFFF"/>
                    </a:solidFill>
                  </a:tcPr>
                </a:tc>
                <a:tc>
                  <a:txBody>
                    <a:bodyPr wrap="square"/>
                    <a:lstStyle/>
                    <a:p>
                      <a:pPr algn="l"/>
                      <a:r>
                        <a:rPr sz="900" b="0">
                          <a:solidFill>
                            <a:srgbClr val="1E2833"/>
                          </a:solidFill>
                          <a:latin typeface="Segoe UI"/>
                        </a:rPr>
                        <a:t>The GCS control link and video receiver shall maintain a reliable…</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Antenna, GCS, OhdGndRx,…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R4_GCS_TELEM</a:t>
                      </a:r>
                    </a:p>
                  </a:txBody>
                  <a:tcPr marL="54864" marR="54864" marT="18288" marB="18288" anchor="ctr">
                    <a:solidFill>
                      <a:srgbClr val="F6F8FA"/>
                    </a:solidFill>
                  </a:tcPr>
                </a:tc>
                <a:tc>
                  <a:txBody>
                    <a:bodyPr wrap="square"/>
                    <a:lstStyle/>
                    <a:p>
                      <a:pPr algn="l"/>
                      <a:r>
                        <a:rPr sz="900" b="0">
                          <a:solidFill>
                            <a:srgbClr val="1E2833"/>
                          </a:solidFill>
                          <a:latin typeface="Segoe UI"/>
                        </a:rPr>
                        <a:t>The GCS display shall present real-time drone telemetry data…</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 RcTx, gcsApp</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R4_GCS_VIDEO_DISP</a:t>
                      </a:r>
                    </a:p>
                  </a:txBody>
                  <a:tcPr marL="54864" marR="54864" marT="18288" marB="18288" anchor="ctr">
                    <a:solidFill>
                      <a:srgbClr val="FFFFFF"/>
                    </a:solidFill>
                  </a:tcPr>
                </a:tc>
                <a:tc>
                  <a:txBody>
                    <a:bodyPr wrap="square"/>
                    <a:lstStyle/>
                    <a:p>
                      <a:pPr algn="l"/>
                      <a:r>
                        <a:rPr sz="900" b="0">
                          <a:solidFill>
                            <a:srgbClr val="1E2833"/>
                          </a:solidFill>
                          <a:latin typeface="Segoe UI"/>
                        </a:rPr>
                        <a:t>The GCS display shall render the thermal video feed at sufficient…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GCS, OhdGndRx, OhdWifiTx,…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R4_GCS_WT</a:t>
                      </a:r>
                    </a:p>
                  </a:txBody>
                  <a:tcPr marL="54864" marR="54864" marT="18288" marB="18288" anchor="ctr">
                    <a:solidFill>
                      <a:srgbClr val="F6F8FA"/>
                    </a:solidFill>
                  </a:tcPr>
                </a:tc>
                <a:tc>
                  <a:txBody>
                    <a:bodyPr wrap="square"/>
                    <a:lstStyle/>
                    <a:p>
                      <a:pPr algn="l"/>
                      <a:r>
                        <a:rPr sz="900" b="0">
                          <a:solidFill>
                            <a:srgbClr val="1E2833"/>
                          </a:solidFill>
                          <a:latin typeface="Segoe UI"/>
                        </a:rPr>
                        <a:t>The GCS system (transmitter, display, antennas, battery) shall be…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R4_SBC_COST</a:t>
                      </a:r>
                    </a:p>
                  </a:txBody>
                  <a:tcPr marL="54864" marR="54864" marT="18288" marB="18288" anchor="ctr">
                    <a:solidFill>
                      <a:srgbClr val="FFFFFF"/>
                    </a:solidFill>
                  </a:tcPr>
                </a:tc>
                <a:tc>
                  <a:txBody>
                    <a:bodyPr wrap="square"/>
                    <a:lstStyle/>
                    <a:p>
                      <a:pPr algn="l"/>
                      <a:r>
                        <a:rPr sz="900" b="0">
                          <a:solidFill>
                            <a:srgbClr val="1E2833"/>
                          </a:solidFill>
                          <a:latin typeface="Segoe UI"/>
                        </a:rPr>
                        <a:t>The SBC cost shall not exceed 150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R4_SBC_DATA_AF</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exchange telemetry and status data with the flight…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 mavlinkRouter</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R4_SBC_PWR</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consume no more than 10W average during continuous…</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R4_SBC_TEMP</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operate within the full environmental temperature range…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R4_SBC_VIDEO_IN</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accept a video input from the thermal camera that…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R4_SBC_VIDEO_PROC</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process the incoming video stream for live transmission…</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R4_SBC_WT</a:t>
                      </a:r>
                    </a:p>
                  </a:txBody>
                  <a:tcPr marL="54864" marR="54864" marT="18288" marB="18288" anchor="ctr">
                    <a:solidFill>
                      <a:srgbClr val="FFFFFF"/>
                    </a:solidFill>
                  </a:tcPr>
                </a:tc>
                <a:tc>
                  <a:txBody>
                    <a:bodyPr wrap="square"/>
                    <a:lstStyle/>
                    <a:p>
                      <a:pPr algn="l"/>
                      <a:r>
                        <a:rPr sz="900" b="0">
                          <a:solidFill>
                            <a:srgbClr val="1E2833"/>
                          </a:solidFill>
                          <a:latin typeface="Segoe UI"/>
                        </a:rPr>
                        <a:t>The SBC (board + cabling + any enclosure) shall not exceed 100g total…</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Requirements — Decomposition by Subsystem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10</a:t>
            </a:r>
          </a:p>
        </p:txBody>
      </p:sp>
      <p:sp>
        <p:nvSpPr>
          <p:cNvPr id="9" name="TextBox 8"/>
          <p:cNvSpPr txBox="1"/>
          <p:nvPr/>
        </p:nvSpPr>
        <p:spPr>
          <a:xfrm>
            <a:off x="566928" y="1143000"/>
            <a:ext cx="11055096"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Mission requirements decompose into per-subsystem requirement packages in the SysML v2 model; each subsystem requirement subsets a mission requirement and is satisfied by a component.</a:t>
            </a:r>
          </a:p>
        </p:txBody>
      </p:sp>
      <p:sp>
        <p:nvSpPr>
          <p:cNvPr id="10" name="Rectangle 9"/>
          <p:cNvSpPr/>
          <p:nvPr/>
        </p:nvSpPr>
        <p:spPr>
          <a:xfrm>
            <a:off x="4041648" y="1627632"/>
            <a:ext cx="4114800" cy="658368"/>
          </a:xfrm>
          <a:prstGeom prst="rect">
            <a:avLst/>
          </a:prstGeom>
          <a:solidFill>
            <a:srgbClr val="0F2540"/>
          </a:solidFill>
          <a:ln w="15875">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1682496"/>
            <a:ext cx="411480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«requirements»</a:t>
            </a:r>
          </a:p>
        </p:txBody>
      </p:sp>
      <p:sp>
        <p:nvSpPr>
          <p:cNvPr id="12" name="TextBox 11"/>
          <p:cNvSpPr txBox="1"/>
          <p:nvPr/>
        </p:nvSpPr>
        <p:spPr>
          <a:xfrm>
            <a:off x="4041648" y="1856232"/>
            <a:ext cx="4114800" cy="384048"/>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Mission Requirements  ·  R1–R8</a:t>
            </a:r>
          </a:p>
        </p:txBody>
      </p:sp>
      <p:sp>
        <p:nvSpPr>
          <p:cNvPr id="13" name="Rectangle 12"/>
          <p:cNvSpPr/>
          <p:nvPr/>
        </p:nvSpPr>
        <p:spPr>
          <a:xfrm>
            <a:off x="6099048" y="2286000"/>
            <a:ext cx="19050" cy="6400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03604" y="2926080"/>
            <a:ext cx="938174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0360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18" name="TextBox 17"/>
          <p:cNvSpPr txBox="1"/>
          <p:nvPr/>
        </p:nvSpPr>
        <p:spPr>
          <a:xfrm>
            <a:off x="56692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Airframe</a:t>
            </a:r>
          </a:p>
        </p:txBody>
      </p:sp>
      <p:sp>
        <p:nvSpPr>
          <p:cNvPr id="19" name="TextBox 18"/>
          <p:cNvSpPr txBox="1"/>
          <p:nvPr/>
        </p:nvSpPr>
        <p:spPr>
          <a:xfrm>
            <a:off x="56692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20" name="Rectangle 19"/>
          <p:cNvSpPr/>
          <p:nvPr/>
        </p:nvSpPr>
        <p:spPr>
          <a:xfrm>
            <a:off x="3279952"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3276"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3276"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3" name="TextBox 22"/>
          <p:cNvSpPr txBox="1"/>
          <p:nvPr/>
        </p:nvSpPr>
        <p:spPr>
          <a:xfrm>
            <a:off x="2443276"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Battery</a:t>
            </a:r>
          </a:p>
        </p:txBody>
      </p:sp>
      <p:sp>
        <p:nvSpPr>
          <p:cNvPr id="24" name="TextBox 23"/>
          <p:cNvSpPr txBox="1"/>
          <p:nvPr/>
        </p:nvSpPr>
        <p:spPr>
          <a:xfrm>
            <a:off x="2443276"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25" name="Rectangle 24"/>
          <p:cNvSpPr/>
          <p:nvPr/>
        </p:nvSpPr>
        <p:spPr>
          <a:xfrm>
            <a:off x="5156300"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9624"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9624"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8" name="TextBox 27"/>
          <p:cNvSpPr txBox="1"/>
          <p:nvPr/>
        </p:nvSpPr>
        <p:spPr>
          <a:xfrm>
            <a:off x="4319624"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Thermal Camera</a:t>
            </a:r>
          </a:p>
        </p:txBody>
      </p:sp>
      <p:sp>
        <p:nvSpPr>
          <p:cNvPr id="29" name="TextBox 28"/>
          <p:cNvSpPr txBox="1"/>
          <p:nvPr/>
        </p:nvSpPr>
        <p:spPr>
          <a:xfrm>
            <a:off x="4319624"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0" name="Rectangle 29"/>
          <p:cNvSpPr/>
          <p:nvPr/>
        </p:nvSpPr>
        <p:spPr>
          <a:xfrm>
            <a:off x="7032648"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5972"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5972"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3" name="TextBox 32"/>
          <p:cNvSpPr txBox="1"/>
          <p:nvPr/>
        </p:nvSpPr>
        <p:spPr>
          <a:xfrm>
            <a:off x="6195972"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SBC / Compute</a:t>
            </a:r>
          </a:p>
        </p:txBody>
      </p:sp>
      <p:sp>
        <p:nvSpPr>
          <p:cNvPr id="34" name="TextBox 33"/>
          <p:cNvSpPr txBox="1"/>
          <p:nvPr/>
        </p:nvSpPr>
        <p:spPr>
          <a:xfrm>
            <a:off x="6195972"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5" name="Rectangle 34"/>
          <p:cNvSpPr/>
          <p:nvPr/>
        </p:nvSpPr>
        <p:spPr>
          <a:xfrm>
            <a:off x="8908996"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72320"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72320"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8" name="TextBox 37"/>
          <p:cNvSpPr txBox="1"/>
          <p:nvPr/>
        </p:nvSpPr>
        <p:spPr>
          <a:xfrm>
            <a:off x="8072320"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Ground Control</a:t>
            </a:r>
          </a:p>
        </p:txBody>
      </p:sp>
      <p:sp>
        <p:nvSpPr>
          <p:cNvPr id="39" name="TextBox 38"/>
          <p:cNvSpPr txBox="1"/>
          <p:nvPr/>
        </p:nvSpPr>
        <p:spPr>
          <a:xfrm>
            <a:off x="8072320"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40" name="Rectangle 39"/>
          <p:cNvSpPr/>
          <p:nvPr/>
        </p:nvSpPr>
        <p:spPr>
          <a:xfrm>
            <a:off x="1078534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866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4866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43" name="TextBox 42"/>
          <p:cNvSpPr txBox="1"/>
          <p:nvPr/>
        </p:nvSpPr>
        <p:spPr>
          <a:xfrm>
            <a:off x="994866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Autonomy / Behavior</a:t>
            </a:r>
          </a:p>
        </p:txBody>
      </p:sp>
      <p:sp>
        <p:nvSpPr>
          <p:cNvPr id="44" name="TextBox 43"/>
          <p:cNvSpPr txBox="1"/>
          <p:nvPr/>
        </p:nvSpPr>
        <p:spPr>
          <a:xfrm>
            <a:off x="994866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4 requirements</a:t>
            </a:r>
          </a:p>
        </p:txBody>
      </p:sp>
      <p:sp>
        <p:nvSpPr>
          <p:cNvPr id="45" name="Rounded Rectangle 44"/>
          <p:cNvSpPr/>
          <p:nvPr/>
        </p:nvSpPr>
        <p:spPr>
          <a:xfrm>
            <a:off x="566928" y="5074920"/>
            <a:ext cx="11055096" cy="868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5193792"/>
            <a:ext cx="10689336" cy="685800"/>
          </a:xfrm>
          <a:prstGeom prst="rect">
            <a:avLst/>
          </a:prstGeom>
          <a:noFill/>
        </p:spPr>
        <p:txBody>
          <a:bodyPr wrap="square" anchor="t" lIns="0" rIns="0" tIns="0" bIns="0">
            <a:spAutoFit/>
          </a:bodyPr>
          <a:lstStyle/>
          <a:p>
            <a:pPr algn="l">
              <a:lnSpc>
                <a:spcPct val="108000"/>
              </a:lnSpc>
              <a:spcBef>
                <a:spcPts val="0"/>
              </a:spcBef>
              <a:spcAft>
                <a:spcPts val="400"/>
              </a:spcAft>
            </a:pPr>
            <a:r>
              <a:rPr sz="1150" b="1" i="0">
                <a:solidFill>
                  <a:srgbClr val="0F2540"/>
                </a:solidFill>
                <a:latin typeface="Segoe UI"/>
              </a:rPr>
              <a:t>Purpose of this view: </a:t>
            </a:r>
            <a:r>
              <a:rPr sz="1150" b="0" i="0">
                <a:solidFill>
                  <a:srgbClr val="1E2833"/>
                </a:solidFill>
                <a:latin typeface="Segoe UI"/>
              </a:rPr>
              <a:t>show the requirement decomposition structure — that requirements are modeled formally per subsystem and all trace up to R1–R8 and down to a component. The full requirement text and per-requirement allocation are on the three RTM slides above and in the model; this slide is the map, not the fine print.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2</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System Architecture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Physical decomposition and interfaces. The system is a drone plus a laptop-based ground control station, joined by three wireless RF links; the drone integrates propulsion, power, thermal payload, and an onboard inference computer.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Composition — Block-Definition View</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12</a:t>
            </a:r>
          </a:p>
        </p:txBody>
      </p:sp>
      <p:sp>
        <p:nvSpPr>
          <p:cNvPr id="9" name="Rectangle 8"/>
          <p:cNvSpPr/>
          <p:nvPr/>
        </p:nvSpPr>
        <p:spPr>
          <a:xfrm>
            <a:off x="4590288" y="1207008"/>
            <a:ext cx="3017520" cy="621792"/>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261872"/>
            <a:ext cx="301752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5C6B7A"/>
                </a:solidFill>
                <a:latin typeface="Segoe UI"/>
              </a:rPr>
              <a:t>«part def»</a:t>
            </a:r>
          </a:p>
        </p:txBody>
      </p:sp>
      <p:sp>
        <p:nvSpPr>
          <p:cNvPr id="11" name="TextBox 10"/>
          <p:cNvSpPr txBox="1"/>
          <p:nvPr/>
        </p:nvSpPr>
        <p:spPr>
          <a:xfrm>
            <a:off x="4590288" y="1435608"/>
            <a:ext cx="3017520" cy="347472"/>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0F2540"/>
                </a:solidFill>
                <a:latin typeface="Segoe UI"/>
              </a:rPr>
              <a:t>AerialObservationSystem</a:t>
            </a:r>
          </a:p>
        </p:txBody>
      </p:sp>
      <p:sp>
        <p:nvSpPr>
          <p:cNvPr id="12" name="Rectangle 11"/>
          <p:cNvSpPr/>
          <p:nvPr/>
        </p:nvSpPr>
        <p:spPr>
          <a:xfrm>
            <a:off x="6099048" y="1828800"/>
            <a:ext cx="19050" cy="1828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1548" y="2011680"/>
            <a:ext cx="571500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41548" y="2011680"/>
            <a:ext cx="19050"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56548" y="2011680"/>
            <a:ext cx="19050"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2139696"/>
            <a:ext cx="5349240" cy="4023360"/>
          </a:xfrm>
          <a:prstGeom prst="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139696"/>
            <a:ext cx="5349240" cy="5486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185416"/>
            <a:ext cx="534924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«part def»</a:t>
            </a:r>
          </a:p>
        </p:txBody>
      </p:sp>
      <p:sp>
        <p:nvSpPr>
          <p:cNvPr id="19" name="TextBox 18"/>
          <p:cNvSpPr txBox="1"/>
          <p:nvPr/>
        </p:nvSpPr>
        <p:spPr>
          <a:xfrm>
            <a:off x="566928" y="2359152"/>
            <a:ext cx="5349240" cy="274320"/>
          </a:xfrm>
          <a:prstGeom prst="rect">
            <a:avLst/>
          </a:prstGeom>
          <a:noFill/>
        </p:spPr>
        <p:txBody>
          <a:bodyPr wrap="square" anchor="t" lIns="0" rIns="0" tIns="0" bIns="0">
            <a:spAutoFit/>
          </a:bodyPr>
          <a:lstStyle/>
          <a:p>
            <a:pPr algn="ctr">
              <a:lnSpc>
                <a:spcPct val="100000"/>
              </a:lnSpc>
              <a:spcBef>
                <a:spcPts val="0"/>
              </a:spcBef>
              <a:spcAft>
                <a:spcPts val="400"/>
              </a:spcAft>
            </a:pPr>
            <a:r>
              <a:rPr sz="1400" b="1" i="0">
                <a:solidFill>
                  <a:srgbClr val="FFFFFF"/>
                </a:solidFill>
                <a:latin typeface="Segoe UI"/>
              </a:rPr>
              <a:t>Drone</a:t>
            </a:r>
          </a:p>
        </p:txBody>
      </p:sp>
      <p:sp>
        <p:nvSpPr>
          <p:cNvPr id="20" name="TextBox 19"/>
          <p:cNvSpPr txBox="1"/>
          <p:nvPr/>
        </p:nvSpPr>
        <p:spPr>
          <a:xfrm>
            <a:off x="749808" y="27980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platform  :  </a:t>
            </a:r>
            <a:r>
              <a:rPr sz="1150" b="1" i="0">
                <a:solidFill>
                  <a:srgbClr val="0F2540"/>
                </a:solidFill>
                <a:latin typeface="Segoe UI"/>
              </a:rPr>
              <a:t>Airframe</a:t>
            </a:r>
          </a:p>
        </p:txBody>
      </p:sp>
      <p:sp>
        <p:nvSpPr>
          <p:cNvPr id="21" name="TextBox 20"/>
          <p:cNvSpPr txBox="1"/>
          <p:nvPr/>
        </p:nvSpPr>
        <p:spPr>
          <a:xfrm>
            <a:off x="749808" y="309898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battery  :  </a:t>
            </a:r>
            <a:r>
              <a:rPr sz="1150" b="1" i="0">
                <a:solidFill>
                  <a:srgbClr val="0F2540"/>
                </a:solidFill>
                <a:latin typeface="Segoe UI"/>
              </a:rPr>
              <a:t>Battery</a:t>
            </a:r>
          </a:p>
        </p:txBody>
      </p:sp>
      <p:sp>
        <p:nvSpPr>
          <p:cNvPr id="22" name="TextBox 21"/>
          <p:cNvSpPr txBox="1"/>
          <p:nvPr/>
        </p:nvSpPr>
        <p:spPr>
          <a:xfrm>
            <a:off x="749808" y="339990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antiSpark  :  </a:t>
            </a:r>
            <a:r>
              <a:rPr sz="1150" b="1" i="0">
                <a:solidFill>
                  <a:srgbClr val="0F2540"/>
                </a:solidFill>
                <a:latin typeface="Segoe UI"/>
              </a:rPr>
              <a:t>AntiSparkFilter</a:t>
            </a:r>
          </a:p>
        </p:txBody>
      </p:sp>
      <p:sp>
        <p:nvSpPr>
          <p:cNvPr id="23" name="TextBox 22"/>
          <p:cNvSpPr txBox="1"/>
          <p:nvPr/>
        </p:nvSpPr>
        <p:spPr>
          <a:xfrm>
            <a:off x="749808" y="370082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camera  :  </a:t>
            </a:r>
            <a:r>
              <a:rPr sz="1150" b="1" i="0">
                <a:solidFill>
                  <a:srgbClr val="0F2540"/>
                </a:solidFill>
                <a:latin typeface="Segoe UI"/>
              </a:rPr>
              <a:t>IRCamera</a:t>
            </a:r>
          </a:p>
        </p:txBody>
      </p:sp>
      <p:sp>
        <p:nvSpPr>
          <p:cNvPr id="24" name="TextBox 23"/>
          <p:cNvSpPr txBox="1"/>
          <p:nvPr/>
        </p:nvSpPr>
        <p:spPr>
          <a:xfrm>
            <a:off x="749808" y="400174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fpvCam  :  </a:t>
            </a:r>
            <a:r>
              <a:rPr sz="1150" b="1" i="0">
                <a:solidFill>
                  <a:srgbClr val="0F2540"/>
                </a:solidFill>
                <a:latin typeface="Segoe UI"/>
              </a:rPr>
              <a:t>FpvCamera</a:t>
            </a:r>
          </a:p>
        </p:txBody>
      </p:sp>
      <p:sp>
        <p:nvSpPr>
          <p:cNvPr id="25" name="TextBox 24"/>
          <p:cNvSpPr txBox="1"/>
          <p:nvPr/>
        </p:nvSpPr>
        <p:spPr>
          <a:xfrm>
            <a:off x="749808" y="43026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gps  :  </a:t>
            </a:r>
            <a:r>
              <a:rPr sz="1150" b="1" i="0">
                <a:solidFill>
                  <a:srgbClr val="0F2540"/>
                </a:solidFill>
                <a:latin typeface="Segoe UI"/>
              </a:rPr>
              <a:t>GpsModule</a:t>
            </a:r>
          </a:p>
        </p:txBody>
      </p:sp>
      <p:sp>
        <p:nvSpPr>
          <p:cNvPr id="26" name="TextBox 25"/>
          <p:cNvSpPr txBox="1"/>
          <p:nvPr/>
        </p:nvSpPr>
        <p:spPr>
          <a:xfrm>
            <a:off x="749808" y="460358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sbc  :  </a:t>
            </a:r>
            <a:r>
              <a:rPr sz="1150" b="1" i="0">
                <a:solidFill>
                  <a:srgbClr val="0F2540"/>
                </a:solidFill>
                <a:latin typeface="Segoe UI"/>
              </a:rPr>
              <a:t>SBCPayload</a:t>
            </a:r>
          </a:p>
        </p:txBody>
      </p:sp>
      <p:sp>
        <p:nvSpPr>
          <p:cNvPr id="27" name="TextBox 26"/>
          <p:cNvSpPr txBox="1"/>
          <p:nvPr/>
        </p:nvSpPr>
        <p:spPr>
          <a:xfrm>
            <a:off x="749808" y="490450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rx  :  </a:t>
            </a:r>
            <a:r>
              <a:rPr sz="1150" b="1" i="0">
                <a:solidFill>
                  <a:srgbClr val="0F2540"/>
                </a:solidFill>
                <a:latin typeface="Segoe UI"/>
              </a:rPr>
              <a:t>RadioReceiver</a:t>
            </a:r>
          </a:p>
        </p:txBody>
      </p:sp>
      <p:sp>
        <p:nvSpPr>
          <p:cNvPr id="28" name="TextBox 27"/>
          <p:cNvSpPr txBox="1"/>
          <p:nvPr/>
        </p:nvSpPr>
        <p:spPr>
          <a:xfrm>
            <a:off x="749808" y="520542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vtx  :  </a:t>
            </a:r>
            <a:r>
              <a:rPr sz="1150" b="1" i="0">
                <a:solidFill>
                  <a:srgbClr val="0F2540"/>
                </a:solidFill>
                <a:latin typeface="Segoe UI"/>
              </a:rPr>
              <a:t>Vtx</a:t>
            </a:r>
          </a:p>
        </p:txBody>
      </p:sp>
      <p:sp>
        <p:nvSpPr>
          <p:cNvPr id="29" name="TextBox 28"/>
          <p:cNvSpPr txBox="1"/>
          <p:nvPr/>
        </p:nvSpPr>
        <p:spPr>
          <a:xfrm>
            <a:off x="749808" y="550634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ubec  :  </a:t>
            </a:r>
            <a:r>
              <a:rPr sz="1150" b="1" i="0">
                <a:solidFill>
                  <a:srgbClr val="0F2540"/>
                </a:solidFill>
                <a:latin typeface="Segoe UI"/>
              </a:rPr>
              <a:t>Ubec</a:t>
            </a:r>
          </a:p>
        </p:txBody>
      </p:sp>
      <p:sp>
        <p:nvSpPr>
          <p:cNvPr id="30" name="TextBox 29"/>
          <p:cNvSpPr txBox="1"/>
          <p:nvPr/>
        </p:nvSpPr>
        <p:spPr>
          <a:xfrm>
            <a:off x="749808" y="58072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vtxAntenna, rxAntennaA/B  :  </a:t>
            </a:r>
            <a:r>
              <a:rPr sz="1150" b="1" i="0">
                <a:solidFill>
                  <a:srgbClr val="0F2540"/>
                </a:solidFill>
                <a:latin typeface="Segoe UI"/>
              </a:rPr>
              <a:t>Antenna [3]</a:t>
            </a:r>
          </a:p>
        </p:txBody>
      </p:sp>
      <p:sp>
        <p:nvSpPr>
          <p:cNvPr id="31" name="Rectangle 30"/>
          <p:cNvSpPr/>
          <p:nvPr/>
        </p:nvSpPr>
        <p:spPr>
          <a:xfrm>
            <a:off x="6281928" y="2139696"/>
            <a:ext cx="5349240" cy="4023360"/>
          </a:xfrm>
          <a:prstGeom prst="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81928" y="2139696"/>
            <a:ext cx="5349240" cy="5486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2185416"/>
            <a:ext cx="534924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«part def»</a:t>
            </a:r>
          </a:p>
        </p:txBody>
      </p:sp>
      <p:sp>
        <p:nvSpPr>
          <p:cNvPr id="34" name="TextBox 33"/>
          <p:cNvSpPr txBox="1"/>
          <p:nvPr/>
        </p:nvSpPr>
        <p:spPr>
          <a:xfrm>
            <a:off x="6281928" y="2359152"/>
            <a:ext cx="5349240" cy="274320"/>
          </a:xfrm>
          <a:prstGeom prst="rect">
            <a:avLst/>
          </a:prstGeom>
          <a:noFill/>
        </p:spPr>
        <p:txBody>
          <a:bodyPr wrap="square" anchor="t" lIns="0" rIns="0" tIns="0" bIns="0">
            <a:spAutoFit/>
          </a:bodyPr>
          <a:lstStyle/>
          <a:p>
            <a:pPr algn="ctr">
              <a:lnSpc>
                <a:spcPct val="100000"/>
              </a:lnSpc>
              <a:spcBef>
                <a:spcPts val="0"/>
              </a:spcBef>
              <a:spcAft>
                <a:spcPts val="400"/>
              </a:spcAft>
            </a:pPr>
            <a:r>
              <a:rPr sz="1400" b="1" i="0">
                <a:solidFill>
                  <a:srgbClr val="FFFFFF"/>
                </a:solidFill>
                <a:latin typeface="Segoe UI"/>
              </a:rPr>
              <a:t>GCS</a:t>
            </a:r>
          </a:p>
        </p:txBody>
      </p:sp>
      <p:sp>
        <p:nvSpPr>
          <p:cNvPr id="35" name="TextBox 34"/>
          <p:cNvSpPr txBox="1"/>
          <p:nvPr/>
        </p:nvSpPr>
        <p:spPr>
          <a:xfrm>
            <a:off x="6464808" y="2798064"/>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viewingComputer  :  </a:t>
            </a:r>
            <a:r>
              <a:rPr sz="1150" b="1" i="0">
                <a:solidFill>
                  <a:srgbClr val="0F2540"/>
                </a:solidFill>
                <a:latin typeface="Segoe UI"/>
              </a:rPr>
              <a:t>Laptop</a:t>
            </a:r>
          </a:p>
        </p:txBody>
      </p:sp>
      <p:sp>
        <p:nvSpPr>
          <p:cNvPr id="36" name="TextBox 35"/>
          <p:cNvSpPr txBox="1"/>
          <p:nvPr/>
        </p:nvSpPr>
        <p:spPr>
          <a:xfrm>
            <a:off x="6464808" y="3108960"/>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videoRx  :  </a:t>
            </a:r>
            <a:r>
              <a:rPr sz="1150" b="1" i="0">
                <a:solidFill>
                  <a:srgbClr val="0F2540"/>
                </a:solidFill>
                <a:latin typeface="Segoe UI"/>
              </a:rPr>
              <a:t>Vrx</a:t>
            </a:r>
          </a:p>
        </p:txBody>
      </p:sp>
      <p:sp>
        <p:nvSpPr>
          <p:cNvPr id="37" name="TextBox 36"/>
          <p:cNvSpPr txBox="1"/>
          <p:nvPr/>
        </p:nvSpPr>
        <p:spPr>
          <a:xfrm>
            <a:off x="6464808" y="3419856"/>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capture  :  </a:t>
            </a:r>
            <a:r>
              <a:rPr sz="1150" b="1" i="0">
                <a:solidFill>
                  <a:srgbClr val="0F2540"/>
                </a:solidFill>
                <a:latin typeface="Segoe UI"/>
              </a:rPr>
              <a:t>UsbCap</a:t>
            </a:r>
          </a:p>
        </p:txBody>
      </p:sp>
      <p:sp>
        <p:nvSpPr>
          <p:cNvPr id="38" name="TextBox 37"/>
          <p:cNvSpPr txBox="1"/>
          <p:nvPr/>
        </p:nvSpPr>
        <p:spPr>
          <a:xfrm>
            <a:off x="6464808" y="3730752"/>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rcTx  :  </a:t>
            </a:r>
            <a:r>
              <a:rPr sz="1150" b="1" i="0">
                <a:solidFill>
                  <a:srgbClr val="0F2540"/>
                </a:solidFill>
                <a:latin typeface="Segoe UI"/>
              </a:rPr>
              <a:t>RcTx</a:t>
            </a:r>
          </a:p>
        </p:txBody>
      </p:sp>
      <p:sp>
        <p:nvSpPr>
          <p:cNvPr id="39" name="TextBox 38"/>
          <p:cNvSpPr txBox="1"/>
          <p:nvPr/>
        </p:nvSpPr>
        <p:spPr>
          <a:xfrm>
            <a:off x="6464808" y="4041648"/>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laptopLink  :  </a:t>
            </a:r>
            <a:r>
              <a:rPr sz="1150" b="1" i="0">
                <a:solidFill>
                  <a:srgbClr val="0F2540"/>
                </a:solidFill>
                <a:latin typeface="Segoe UI"/>
              </a:rPr>
              <a:t>TelemetryGroundLink</a:t>
            </a:r>
          </a:p>
        </p:txBody>
      </p:sp>
      <p:sp>
        <p:nvSpPr>
          <p:cNvPr id="40" name="TextBox 39"/>
          <p:cNvSpPr txBox="1"/>
          <p:nvPr/>
        </p:nvSpPr>
        <p:spPr>
          <a:xfrm>
            <a:off x="6464808" y="4352544"/>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groundAntenna  :  </a:t>
            </a:r>
            <a:r>
              <a:rPr sz="1150" b="1" i="0">
                <a:solidFill>
                  <a:srgbClr val="0F2540"/>
                </a:solidFill>
                <a:latin typeface="Segoe UI"/>
              </a:rPr>
              <a:t>Antenna</a:t>
            </a:r>
          </a:p>
        </p:txBody>
      </p:sp>
      <p:sp>
        <p:nvSpPr>
          <p:cNvPr id="41" name="TextBox 40"/>
          <p:cNvSpPr txBox="1"/>
          <p:nvPr/>
        </p:nvSpPr>
        <p:spPr>
          <a:xfrm>
            <a:off x="6464808" y="4663440"/>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charger  :  </a:t>
            </a:r>
            <a:r>
              <a:rPr sz="1150" b="1" i="0">
                <a:solidFill>
                  <a:srgbClr val="0F2540"/>
                </a:solidFill>
                <a:latin typeface="Segoe UI"/>
              </a:rPr>
              <a:t>Charger</a:t>
            </a:r>
          </a:p>
        </p:txBody>
      </p:sp>
      <p:sp>
        <p:nvSpPr>
          <p:cNvPr id="42" name="TextBox 41"/>
          <p:cNvSpPr txBox="1"/>
          <p:nvPr/>
        </p:nvSpPr>
        <p:spPr>
          <a:xfrm>
            <a:off x="566928" y="6236208"/>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Block-definition (composition) view — the SysML v2 analog of a BDD: each </a:t>
            </a:r>
            <a:r>
              <a:rPr sz="1000" b="1" i="0">
                <a:solidFill>
                  <a:srgbClr val="5C6B7A"/>
                </a:solidFill>
                <a:latin typeface="Segoe UI"/>
              </a:rPr>
              <a:t>part def</a:t>
            </a:r>
            <a:r>
              <a:rPr sz="1000" b="0" i="0">
                <a:solidFill>
                  <a:srgbClr val="5C6B7A"/>
                </a:solidFill>
                <a:latin typeface="Segoe UI"/>
              </a:rPr>
              <a:t> and the typed </a:t>
            </a:r>
            <a:r>
              <a:rPr sz="1000" b="1" i="0">
                <a:solidFill>
                  <a:srgbClr val="5C6B7A"/>
                </a:solidFill>
                <a:latin typeface="Segoe UI"/>
              </a:rPr>
              <a:t>part</a:t>
            </a:r>
            <a:r>
              <a:rPr sz="1000" b="0" i="0">
                <a:solidFill>
                  <a:srgbClr val="5C6B7A"/>
                </a:solidFill>
                <a:latin typeface="Segoe UI"/>
              </a:rPr>
              <a:t> usages it composes. Phase-4 OpenHD parts (air/ground Wi-Fi adapters + antennas) omitted for the committed build.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Context — Aerial Observation 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13</a:t>
            </a:r>
          </a:p>
        </p:txBody>
      </p:sp>
      <p:sp>
        <p:nvSpPr>
          <p:cNvPr id="9" name="Rectangle 8"/>
          <p:cNvSpPr/>
          <p:nvPr/>
        </p:nvSpPr>
        <p:spPr>
          <a:xfrm>
            <a:off x="566928" y="1450878"/>
            <a:ext cx="6537960" cy="3133283"/>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ull_system_internal_block_diagram.png"/>
          <p:cNvPicPr>
            <a:picLocks noChangeAspect="1"/>
          </p:cNvPicPr>
          <p:nvPr/>
        </p:nvPicPr>
        <p:blipFill>
          <a:blip r:embed="rId2"/>
          <a:stretch>
            <a:fillRect/>
          </a:stretch>
        </p:blipFill>
        <p:spPr>
          <a:xfrm>
            <a:off x="621792" y="1505742"/>
            <a:ext cx="6428232" cy="3023555"/>
          </a:xfrm>
          <a:prstGeom prst="rect">
            <a:avLst/>
          </a:prstGeom>
        </p:spPr>
      </p:pic>
      <p:sp>
        <p:nvSpPr>
          <p:cNvPr id="11" name="TextBox 10"/>
          <p:cNvSpPr txBox="1"/>
          <p:nvPr/>
        </p:nvSpPr>
        <p:spPr>
          <a:xfrm>
            <a:off x="566928" y="4709160"/>
            <a:ext cx="6537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AerialObservationSystem — internal block diagram (drone ↔ GCS wireless interfaces)</a:t>
            </a:r>
          </a:p>
        </p:txBody>
      </p:sp>
      <p:sp>
        <p:nvSpPr>
          <p:cNvPr id="12" name="TextBox 11"/>
          <p:cNvSpPr txBox="1"/>
          <p:nvPr/>
        </p:nvSpPr>
        <p:spPr>
          <a:xfrm>
            <a:off x="7406640" y="1325880"/>
            <a:ext cx="420624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Two blocks + operator.  </a:t>
            </a:r>
            <a:r>
              <a:rPr sz="1300" b="0">
                <a:solidFill>
                  <a:srgbClr val="1E2833"/>
                </a:solidFill>
                <a:latin typeface="Segoe UI"/>
              </a:rPr>
              <a:t>drone : Drone and gcs : GCS (laptop-based). The MacBook Air is an existing external actor, excluded from system cost.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Three wireless interfaces close the system:</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5.8 GHz analog FPV video — drone VTX → ground patch antenna (piloting).</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2.4 GHz ELRS — control uplink + MAVLink telemetry downlink (one link, both roles).</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GNSS receive (satellite) for navigation.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Wired ground interface.  </a:t>
            </a:r>
            <a:r>
              <a:rPr sz="1300" b="0">
                <a:solidFill>
                  <a:srgbClr val="1E2833"/>
                </a:solidFill>
                <a:latin typeface="Segoe UI"/>
              </a:rPr>
              <a:t>Battery ↔ charger (support equipment; not flown).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1E2833"/>
                </a:solidFill>
                <a:latin typeface="Segoe UI"/>
              </a:rPr>
              <a:t>Adds a 5.8 GHz OpenHD digital downlink of the thermal / AI feed — not in the committed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Drone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14</a:t>
            </a:r>
          </a:p>
        </p:txBody>
      </p:sp>
      <p:sp>
        <p:nvSpPr>
          <p:cNvPr id="9" name="Rectangle 8"/>
          <p:cNvSpPr/>
          <p:nvPr/>
        </p:nvSpPr>
        <p:spPr>
          <a:xfrm>
            <a:off x="1164336" y="1188720"/>
            <a:ext cx="6486144" cy="489204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internal_block_diagram.png"/>
          <p:cNvPicPr>
            <a:picLocks noChangeAspect="1"/>
          </p:cNvPicPr>
          <p:nvPr/>
        </p:nvPicPr>
        <p:blipFill>
          <a:blip r:embed="rId2"/>
          <a:stretch>
            <a:fillRect/>
          </a:stretch>
        </p:blipFill>
        <p:spPr>
          <a:xfrm>
            <a:off x="1219200" y="1243584"/>
            <a:ext cx="6376416" cy="478231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Drone composition and internal wiring (power · video · data · RF)</a:t>
            </a:r>
          </a:p>
        </p:txBody>
      </p:sp>
      <p:sp>
        <p:nvSpPr>
          <p:cNvPr id="12" name="Rounded Rectangle 11"/>
          <p:cNvSpPr/>
          <p:nvPr/>
        </p:nvSpPr>
        <p:spPr>
          <a:xfrm>
            <a:off x="8503920" y="1234440"/>
            <a:ext cx="3127248" cy="47548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1371600"/>
            <a:ext cx="28346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KEY ELEMENTS</a:t>
            </a:r>
          </a:p>
        </p:txBody>
      </p:sp>
      <p:sp>
        <p:nvSpPr>
          <p:cNvPr id="14" name="TextBox 13"/>
          <p:cNvSpPr txBox="1"/>
          <p:nvPr/>
        </p:nvSpPr>
        <p:spPr>
          <a:xfrm>
            <a:off x="8686800" y="1755648"/>
            <a:ext cx="2788920" cy="4206240"/>
          </a:xfrm>
          <a:prstGeom prst="rect">
            <a:avLst/>
          </a:prstGeom>
          <a:noFill/>
        </p:spPr>
        <p:txBody>
          <a:bodyPr wrap="square" anchor="t" lIns="0" rIns="0" tIns="0" bIns="0">
            <a:spAutoFit/>
          </a:bodyPr>
          <a:lstStyle/>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platform.  </a:t>
            </a:r>
            <a:r>
              <a:rPr sz="1150" b="0">
                <a:solidFill>
                  <a:srgbClr val="1E2833"/>
                </a:solidFill>
                <a:latin typeface="Segoe UI"/>
              </a:rPr>
              <a:t>Airframe (FC, ESC, motors, PDB) — the wiring hub.</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battery → antiSpark.  </a:t>
            </a:r>
            <a:r>
              <a:rPr sz="1150" b="0">
                <a:solidFill>
                  <a:srgbClr val="1E2833"/>
                </a:solidFill>
                <a:latin typeface="Segoe UI"/>
              </a:rPr>
              <a:t>XT60 power chain with inrush-limiting filter.</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camera → sbc.  </a:t>
            </a:r>
            <a:r>
              <a:rPr sz="1150" b="0">
                <a:solidFill>
                  <a:srgbClr val="1E2833"/>
                </a:solidFill>
                <a:latin typeface="Segoe UI"/>
              </a:rPr>
              <a:t>Thermal over USB-UVC to onboard compute.</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sbc ↔ FC.  </a:t>
            </a:r>
            <a:r>
              <a:rPr sz="1150" b="0">
                <a:solidFill>
                  <a:srgbClr val="1E2833"/>
                </a:solidFill>
                <a:latin typeface="Segoe UI"/>
              </a:rPr>
              <a:t>MAVLink over UART (autonomous route mod).</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fpvCam → vtx.  </a:t>
            </a:r>
            <a:r>
              <a:rPr sz="1150" b="0">
                <a:solidFill>
                  <a:srgbClr val="1E2833"/>
                </a:solidFill>
                <a:latin typeface="Segoe UI"/>
              </a:rPr>
              <a:t>Analog video for piloting; VTX → antenna.</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rx (diversity).  </a:t>
            </a:r>
            <a:r>
              <a:rPr sz="1150" b="0">
                <a:solidFill>
                  <a:srgbClr val="1E2833"/>
                </a:solidFill>
                <a:latin typeface="Segoe UI"/>
              </a:rPr>
              <a:t>ELRS control + telemetry, two antennas.</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gps.  </a:t>
            </a:r>
            <a:r>
              <a:rPr sz="1150" b="0">
                <a:solidFill>
                  <a:srgbClr val="1E2833"/>
                </a:solidFill>
                <a:latin typeface="Segoe UI"/>
              </a:rPr>
              <a:t>u-blox M10 for waypoint navigation.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Onboard Compute (SBC) — Software Architecture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15</a:t>
            </a:r>
          </a:p>
        </p:txBody>
      </p:sp>
      <p:sp>
        <p:nvSpPr>
          <p:cNvPr id="9" name="Rectangle 8"/>
          <p:cNvSpPr/>
          <p:nvPr/>
        </p:nvSpPr>
        <p:spPr>
          <a:xfrm>
            <a:off x="1107388" y="1234440"/>
            <a:ext cx="4496920"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bc_internal_block_diagram.png"/>
          <p:cNvPicPr>
            <a:picLocks noChangeAspect="1"/>
          </p:cNvPicPr>
          <p:nvPr/>
        </p:nvPicPr>
        <p:blipFill>
          <a:blip r:embed="rId2"/>
          <a:stretch>
            <a:fillRect/>
          </a:stretch>
        </p:blipFill>
        <p:spPr>
          <a:xfrm>
            <a:off x="1162252" y="1289304"/>
            <a:ext cx="4387192"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SBCPayload internal block diagram — software items and ports</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NanoPi M5 (RK3576, 6 TOPS NPU).  </a:t>
            </a:r>
            <a:r>
              <a:rPr sz="1300" b="0">
                <a:solidFill>
                  <a:srgbClr val="1E2833"/>
                </a:solidFill>
                <a:latin typeface="Segoe UI"/>
              </a:rPr>
              <a:t>Passive-cooled, ≤ 10 W — meets R4_SBC_PWR / R4_SBC_TEMP with no fan required.</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missionApp.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Receives the thermal frame (UVC), runs the detect/investigate loop, commands routes via MAVLink.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thermalModel → rknnRuntime.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INT8 model allocated to the RKNN NPU runtime — the inference server for onboard classification.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mavlinkRouter.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Routes MAVLink between missionApp and the flight-controller UART (data_af interface).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Ports.  </a:t>
            </a:r>
            <a:r>
              <a:rPr sz="1300" b="0">
                <a:solidFill>
                  <a:srgbClr val="1E2833"/>
                </a:solidFill>
                <a:latin typeface="Segoe UI"/>
              </a:rPr>
              <a:t>USB-A #1 = thermal in (committed); USB-A #2 reserved for Phase 4 downlink; USB-C = 12 V power via dedicated UBEC.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Ground Control Station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16</a:t>
            </a:r>
          </a:p>
        </p:txBody>
      </p:sp>
      <p:sp>
        <p:nvSpPr>
          <p:cNvPr id="9" name="Rectangle 8"/>
          <p:cNvSpPr/>
          <p:nvPr/>
        </p:nvSpPr>
        <p:spPr>
          <a:xfrm>
            <a:off x="1041105" y="1234440"/>
            <a:ext cx="4629486"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cs_internal_block_diagram.png"/>
          <p:cNvPicPr>
            <a:picLocks noChangeAspect="1"/>
          </p:cNvPicPr>
          <p:nvPr/>
        </p:nvPicPr>
        <p:blipFill>
          <a:blip r:embed="rId2"/>
          <a:stretch>
            <a:fillRect/>
          </a:stretch>
        </p:blipFill>
        <p:spPr>
          <a:xfrm>
            <a:off x="1095969" y="1289304"/>
            <a:ext cx="4519758"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GCS internal block diagram — laptop, video capture, control &amp; telemetry</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viewingComputer (laptop).  </a:t>
            </a:r>
            <a:r>
              <a:rPr sz="1300" b="0">
                <a:solidFill>
                  <a:srgbClr val="1E2833"/>
                </a:solidFill>
                <a:latin typeface="Segoe UI"/>
              </a:rPr>
              <a:t>Existing MacBook Air running QGroundControl 4.4+ — mission plan, telemetry, video, params, alerts, logs.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videoRx → capture.  </a:t>
            </a:r>
            <a:r>
              <a:rPr sz="1300" b="0">
                <a:solidFill>
                  <a:srgbClr val="1E2833"/>
                </a:solidFill>
                <a:latin typeface="Segoe UI"/>
              </a:rPr>
              <a:t>5.8 GHz analog receiver → USB UVC capture into the laptop (QuickTime/OBS) for piloting video.</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rcTx.  </a:t>
            </a:r>
            <a:r>
              <a:rPr sz="1300" b="0">
                <a:solidFill>
                  <a:srgbClr val="1E2833"/>
                </a:solidFill>
                <a:latin typeface="Segoe UI"/>
              </a:rPr>
              <a:t>RadioMaster TX12 MkII (ELRS) — manual control uplink; primary in-flight MAVLink telemetry runs through the HGLRC Hermes USB dongle.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groundAntenna.  </a:t>
            </a:r>
            <a:r>
              <a:rPr sz="1300" b="0">
                <a:solidFill>
                  <a:srgbClr val="1E2833"/>
                </a:solidFill>
                <a:latin typeface="Segoe UI"/>
              </a:rPr>
              <a:t>TrueRC X-AIR patch (10 dBic, 120°) — closes the 2.8 km video link with margin.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charger.  </a:t>
            </a:r>
            <a:r>
              <a:rPr sz="1300" b="0">
                <a:solidFill>
                  <a:srgbClr val="1E2833"/>
                </a:solidFill>
                <a:latin typeface="Segoe UI"/>
              </a:rPr>
              <a:t>Ground-support equipment (HOTA D6 Pro) — not flown, excluded from system cost.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Interface Design  (Internal &amp; External)</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17</a:t>
            </a:r>
          </a:p>
        </p:txBody>
      </p:sp>
      <p:sp>
        <p:nvSpPr>
          <p:cNvPr id="9" name="TextBox 8"/>
          <p:cNvSpPr txBox="1"/>
          <p:nvPr/>
        </p:nvSpPr>
        <p:spPr>
          <a:xfrm>
            <a:off x="566928" y="1170432"/>
            <a:ext cx="548640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INTERNAL (WIRED) INTERFACES</a:t>
            </a:r>
          </a:p>
        </p:txBody>
      </p:sp>
      <p:graphicFrame>
        <p:nvGraphicFramePr>
          <p:cNvPr id="10" name="Table 9"/>
          <p:cNvGraphicFramePr>
            <a:graphicFrameLocks noGrp="1"/>
          </p:cNvGraphicFramePr>
          <p:nvPr/>
        </p:nvGraphicFramePr>
        <p:xfrm>
          <a:off x="566928" y="1481328"/>
          <a:ext cx="5486400" cy="2487168"/>
        </p:xfrm>
        <a:graphic>
          <a:graphicData uri="http://schemas.openxmlformats.org/drawingml/2006/table">
            <a:tbl>
              <a:tblPr>
                <a:tableStyleId>{5C22544A-7EE6-4342-B048-85BDC9FD1C3A}</a:tableStyleId>
              </a:tblPr>
              <a:tblGrid>
                <a:gridCol w="1554480"/>
                <a:gridCol w="2697480"/>
                <a:gridCol w="1234440"/>
              </a:tblGrid>
              <a:tr h="310896">
                <a:tc>
                  <a:txBody>
                    <a:bodyPr wrap="square"/>
                    <a:lstStyle/>
                    <a:p>
                      <a:pPr algn="l"/>
                      <a:r>
                        <a:rPr sz="1000" b="1">
                          <a:solidFill>
                            <a:srgbClr val="FFFFFF"/>
                          </a:solidFill>
                          <a:latin typeface="Segoe UI"/>
                        </a:rPr>
                        <a:t>Interface</a:t>
                      </a:r>
                    </a:p>
                  </a:txBody>
                  <a:tcPr marL="54864" marR="54864" marT="18288" marB="18288" anchor="ctr">
                    <a:solidFill>
                      <a:srgbClr val="0F2540"/>
                    </a:solidFill>
                  </a:tcPr>
                </a:tc>
                <a:tc>
                  <a:txBody>
                    <a:bodyPr wrap="square"/>
                    <a:lstStyle/>
                    <a:p>
                      <a:pPr algn="l"/>
                      <a:r>
                        <a:rPr sz="1000" b="1">
                          <a:solidFill>
                            <a:srgbClr val="FFFFFF"/>
                          </a:solidFill>
                          <a:latin typeface="Segoe UI"/>
                        </a:rPr>
                        <a:t>From → To</a:t>
                      </a:r>
                    </a:p>
                  </a:txBody>
                  <a:tcPr marL="54864" marR="54864" marT="18288" marB="18288" anchor="ctr">
                    <a:solidFill>
                      <a:srgbClr val="0F2540"/>
                    </a:solidFill>
                  </a:tcPr>
                </a:tc>
                <a:tc>
                  <a:txBody>
                    <a:bodyPr wrap="square"/>
                    <a:lstStyle/>
                    <a:p>
                      <a:pPr algn="l"/>
                      <a:r>
                        <a:rPr sz="1000" b="1">
                          <a:solidFill>
                            <a:srgbClr val="FFFFFF"/>
                          </a:solidFill>
                          <a:latin typeface="Segoe UI"/>
                        </a:rPr>
                        <a:t>Type</a:t>
                      </a:r>
                    </a:p>
                  </a:txBody>
                  <a:tcPr marL="54864" marR="54864" marT="18288" marB="18288" anchor="ctr">
                    <a:solidFill>
                      <a:srgbClr val="0F2540"/>
                    </a:solidFill>
                  </a:tcPr>
                </a:tc>
              </a:tr>
              <a:tr h="310896">
                <a:tc>
                  <a:txBody>
                    <a:bodyPr wrap="square"/>
                    <a:lstStyle/>
                    <a:p>
                      <a:pPr algn="l"/>
                      <a:r>
                        <a:rPr sz="950" b="0">
                          <a:solidFill>
                            <a:srgbClr val="1E2833"/>
                          </a:solidFill>
                          <a:latin typeface="Segoe UI"/>
                        </a:rPr>
                        <a:t>Battery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antiSpark → platform</a:t>
                      </a:r>
                    </a:p>
                  </a:txBody>
                  <a:tcPr marL="54864" marR="54864" marT="18288" marB="18288" anchor="ctr">
                    <a:solidFill>
                      <a:srgbClr val="FFFFFF"/>
                    </a:solidFill>
                  </a:tcPr>
                </a:tc>
                <a:tc>
                  <a:txBody>
                    <a:bodyPr wrap="square"/>
                    <a:lstStyle/>
                    <a:p>
                      <a:pPr algn="l"/>
                      <a:r>
                        <a:rPr sz="950" b="0">
                          <a:solidFill>
                            <a:srgbClr val="1E2833"/>
                          </a:solidFill>
                          <a:latin typeface="Segoe UI"/>
                        </a:rPr>
                        <a:t>XT60, 6S</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Thermal video</a:t>
                      </a:r>
                    </a:p>
                  </a:txBody>
                  <a:tcPr marL="54864" marR="54864" marT="18288" marB="18288" anchor="ctr">
                    <a:solidFill>
                      <a:srgbClr val="F6F8FA"/>
                    </a:solidFill>
                  </a:tcPr>
                </a:tc>
                <a:tc>
                  <a:txBody>
                    <a:bodyPr wrap="square"/>
                    <a:lstStyle/>
                    <a:p>
                      <a:pPr algn="l"/>
                      <a:r>
                        <a:rPr sz="950" b="0">
                          <a:solidFill>
                            <a:srgbClr val="1E2833"/>
                          </a:solidFill>
                          <a:latin typeface="Segoe UI"/>
                        </a:rPr>
                        <a:t>camera → sbc</a:t>
                      </a:r>
                    </a:p>
                  </a:txBody>
                  <a:tcPr marL="54864" marR="54864" marT="18288" marB="18288" anchor="ctr">
                    <a:solidFill>
                      <a:srgbClr val="F6F8FA"/>
                    </a:solidFill>
                  </a:tcPr>
                </a:tc>
                <a:tc>
                  <a:txBody>
                    <a:bodyPr wrap="square"/>
                    <a:lstStyle/>
                    <a:p>
                      <a:pPr algn="l"/>
                      <a:r>
                        <a:rPr sz="950" b="0">
                          <a:solidFill>
                            <a:srgbClr val="1E2833"/>
                          </a:solidFill>
                          <a:latin typeface="Segoe UI"/>
                        </a:rPr>
                        <a:t>USB-UVC</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Autonomy data</a:t>
                      </a:r>
                    </a:p>
                  </a:txBody>
                  <a:tcPr marL="54864" marR="54864" marT="18288" marB="18288" anchor="ctr">
                    <a:solidFill>
                      <a:srgbClr val="FFFFFF"/>
                    </a:solidFill>
                  </a:tcPr>
                </a:tc>
                <a:tc>
                  <a:txBody>
                    <a:bodyPr wrap="square"/>
                    <a:lstStyle/>
                    <a:p>
                      <a:pPr algn="l"/>
                      <a:r>
                        <a:rPr sz="950" b="0">
                          <a:solidFill>
                            <a:srgbClr val="1E2833"/>
                          </a:solidFill>
                          <a:latin typeface="Segoe UI"/>
                        </a:rPr>
                        <a:t>sbc ↔ FC</a:t>
                      </a:r>
                    </a:p>
                  </a:txBody>
                  <a:tcPr marL="54864" marR="54864" marT="18288" marB="18288" anchor="ctr">
                    <a:solidFill>
                      <a:srgbClr val="FFFFFF"/>
                    </a:solidFill>
                  </a:tcPr>
                </a:tc>
                <a:tc>
                  <a:txBody>
                    <a:bodyPr wrap="square"/>
                    <a:lstStyle/>
                    <a:p>
                      <a:pPr algn="l"/>
                      <a:r>
                        <a:rPr sz="950" b="0">
                          <a:solidFill>
                            <a:srgbClr val="1E2833"/>
                          </a:solidFill>
                          <a:latin typeface="Segoe UI"/>
                        </a:rPr>
                        <a:t>MAVLink / 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FPV video</a:t>
                      </a:r>
                    </a:p>
                  </a:txBody>
                  <a:tcPr marL="54864" marR="54864" marT="18288" marB="18288" anchor="ctr">
                    <a:solidFill>
                      <a:srgbClr val="F6F8FA"/>
                    </a:solidFill>
                  </a:tcPr>
                </a:tc>
                <a:tc>
                  <a:txBody>
                    <a:bodyPr wrap="square"/>
                    <a:lstStyle/>
                    <a:p>
                      <a:pPr algn="l"/>
                      <a:r>
                        <a:rPr sz="950" b="0">
                          <a:solidFill>
                            <a:srgbClr val="1E2833"/>
                          </a:solidFill>
                          <a:latin typeface="Segoe UI"/>
                        </a:rPr>
                        <a:t>fpvCam → vtx</a:t>
                      </a:r>
                    </a:p>
                  </a:txBody>
                  <a:tcPr marL="54864" marR="54864" marT="18288" marB="18288" anchor="ctr">
                    <a:solidFill>
                      <a:srgbClr val="F6F8FA"/>
                    </a:solidFill>
                  </a:tcPr>
                </a:tc>
                <a:tc>
                  <a:txBody>
                    <a:bodyPr wrap="square"/>
                    <a:lstStyle/>
                    <a:p>
                      <a:pPr algn="l"/>
                      <a:r>
                        <a:rPr sz="950" b="0">
                          <a:solidFill>
                            <a:srgbClr val="1E2833"/>
                          </a:solidFill>
                          <a:latin typeface="Segoe UI"/>
                        </a:rPr>
                        <a:t>Analog CVBS</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Navigation</a:t>
                      </a:r>
                    </a:p>
                  </a:txBody>
                  <a:tcPr marL="54864" marR="54864" marT="18288" marB="18288" anchor="ctr">
                    <a:solidFill>
                      <a:srgbClr val="FFFFFF"/>
                    </a:solidFill>
                  </a:tcPr>
                </a:tc>
                <a:tc>
                  <a:txBody>
                    <a:bodyPr wrap="square"/>
                    <a:lstStyle/>
                    <a:p>
                      <a:pPr algn="l"/>
                      <a:r>
                        <a:rPr sz="950" b="0">
                          <a:solidFill>
                            <a:srgbClr val="1E2833"/>
                          </a:solidFill>
                          <a:latin typeface="Segoe UI"/>
                        </a:rPr>
                        <a:t>gps → FC</a:t>
                      </a:r>
                    </a:p>
                  </a:txBody>
                  <a:tcPr marL="54864" marR="54864" marT="18288" marB="18288" anchor="ctr">
                    <a:solidFill>
                      <a:srgbClr val="FFFFFF"/>
                    </a:solidFill>
                  </a:tcPr>
                </a:tc>
                <a:tc>
                  <a:txBody>
                    <a:bodyPr wrap="square"/>
                    <a:lstStyle/>
                    <a:p>
                      <a:pPr algn="l"/>
                      <a:r>
                        <a:rPr sz="950" b="0">
                          <a:solidFill>
                            <a:srgbClr val="1E2833"/>
                          </a:solidFill>
                          <a:latin typeface="Segoe UI"/>
                        </a:rPr>
                        <a:t>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Control data</a:t>
                      </a:r>
                    </a:p>
                  </a:txBody>
                  <a:tcPr marL="54864" marR="54864" marT="18288" marB="18288" anchor="ctr">
                    <a:solidFill>
                      <a:srgbClr val="F6F8FA"/>
                    </a:solidFill>
                  </a:tcPr>
                </a:tc>
                <a:tc>
                  <a:txBody>
                    <a:bodyPr wrap="square"/>
                    <a:lstStyle/>
                    <a:p>
                      <a:pPr algn="l"/>
                      <a:r>
                        <a:rPr sz="950" b="0">
                          <a:solidFill>
                            <a:srgbClr val="1E2833"/>
                          </a:solidFill>
                          <a:latin typeface="Segoe UI"/>
                        </a:rPr>
                        <a:t>rx → FC</a:t>
                      </a:r>
                    </a:p>
                  </a:txBody>
                  <a:tcPr marL="54864" marR="54864" marT="18288" marB="18288" anchor="ctr">
                    <a:solidFill>
                      <a:srgbClr val="F6F8FA"/>
                    </a:solidFill>
                  </a:tcPr>
                </a:tc>
                <a:tc>
                  <a:txBody>
                    <a:bodyPr wrap="square"/>
                    <a:lstStyle/>
                    <a:p>
                      <a:pPr algn="l"/>
                      <a:r>
                        <a:rPr sz="950" b="0">
                          <a:solidFill>
                            <a:srgbClr val="1E2833"/>
                          </a:solidFill>
                          <a:latin typeface="Segoe UI"/>
                        </a:rPr>
                        <a:t>CRSF</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SBC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UBEC → sbc</a:t>
                      </a:r>
                    </a:p>
                  </a:txBody>
                  <a:tcPr marL="54864" marR="54864" marT="18288" marB="18288" anchor="ctr">
                    <a:solidFill>
                      <a:srgbClr val="FFFFFF"/>
                    </a:solidFill>
                  </a:tcPr>
                </a:tc>
                <a:tc>
                  <a:txBody>
                    <a:bodyPr wrap="square"/>
                    <a:lstStyle/>
                    <a:p>
                      <a:pPr algn="l"/>
                      <a:r>
                        <a:rPr sz="950" b="0">
                          <a:solidFill>
                            <a:srgbClr val="1E2833"/>
                          </a:solidFill>
                          <a:latin typeface="Segoe UI"/>
                        </a:rPr>
                        <a:t>12 V / USB-C</a:t>
                      </a:r>
                    </a:p>
                  </a:txBody>
                  <a:tcPr marL="54864" marR="54864" marT="18288" marB="18288" anchor="ctr">
                    <a:solidFill>
                      <a:srgbClr val="FFFFFF"/>
                    </a:solidFill>
                  </a:tcPr>
                </a:tc>
              </a:tr>
            </a:tbl>
          </a:graphicData>
        </a:graphic>
      </p:graphicFrame>
      <p:sp>
        <p:nvSpPr>
          <p:cNvPr id="11" name="TextBox 10"/>
          <p:cNvSpPr txBox="1"/>
          <p:nvPr/>
        </p:nvSpPr>
        <p:spPr>
          <a:xfrm>
            <a:off x="6309360" y="1170432"/>
            <a:ext cx="530352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EXTERNAL (WIRELESS) INTERFACES</a:t>
            </a:r>
          </a:p>
        </p:txBody>
      </p:sp>
      <p:graphicFrame>
        <p:nvGraphicFramePr>
          <p:cNvPr id="12" name="Table 11"/>
          <p:cNvGraphicFramePr>
            <a:graphicFrameLocks noGrp="1"/>
          </p:cNvGraphicFramePr>
          <p:nvPr/>
        </p:nvGraphicFramePr>
        <p:xfrm>
          <a:off x="6309360" y="1481328"/>
          <a:ext cx="5303520" cy="1956816"/>
        </p:xfrm>
        <a:graphic>
          <a:graphicData uri="http://schemas.openxmlformats.org/drawingml/2006/table">
            <a:tbl>
              <a:tblPr>
                <a:tableStyleId>{5C22544A-7EE6-4342-B048-85BDC9FD1C3A}</a:tableStyleId>
              </a:tblPr>
              <a:tblGrid>
                <a:gridCol w="2011680"/>
                <a:gridCol w="1737360"/>
                <a:gridCol w="1554480"/>
              </a:tblGrid>
              <a:tr h="310896">
                <a:tc>
                  <a:txBody>
                    <a:bodyPr wrap="square"/>
                    <a:lstStyle/>
                    <a:p>
                      <a:pPr algn="l"/>
                      <a:r>
                        <a:rPr sz="1000" b="1">
                          <a:solidFill>
                            <a:srgbClr val="FFFFFF"/>
                          </a:solidFill>
                          <a:latin typeface="Segoe UI"/>
                        </a:rPr>
                        <a:t>Link</a:t>
                      </a:r>
                    </a:p>
                  </a:txBody>
                  <a:tcPr marL="54864" marR="54864" marT="18288" marB="18288" anchor="ctr">
                    <a:solidFill>
                      <a:srgbClr val="0F2540"/>
                    </a:solidFill>
                  </a:tcPr>
                </a:tc>
                <a:tc>
                  <a:txBody>
                    <a:bodyPr wrap="square"/>
                    <a:lstStyle/>
                    <a:p>
                      <a:pPr algn="l"/>
                      <a:r>
                        <a:rPr sz="1000" b="1">
                          <a:solidFill>
                            <a:srgbClr val="FFFFFF"/>
                          </a:solidFill>
                          <a:latin typeface="Segoe UI"/>
                        </a:rPr>
                        <a:t>Band</a:t>
                      </a:r>
                    </a:p>
                  </a:txBody>
                  <a:tcPr marL="54864" marR="54864" marT="18288" marB="18288" anchor="ctr">
                    <a:solidFill>
                      <a:srgbClr val="0F2540"/>
                    </a:solidFill>
                  </a:tcPr>
                </a:tc>
                <a:tc>
                  <a:txBody>
                    <a:bodyPr wrap="square"/>
                    <a:lstStyle/>
                    <a:p>
                      <a:pPr algn="l"/>
                      <a:r>
                        <a:rPr sz="1000" b="1">
                          <a:solidFill>
                            <a:srgbClr val="FFFFFF"/>
                          </a:solidFill>
                          <a:latin typeface="Segoe UI"/>
                        </a:rPr>
                        <a:t>Role</a:t>
                      </a:r>
                    </a:p>
                  </a:txBody>
                  <a:tcPr marL="54864" marR="54864" marT="18288" marB="18288" anchor="ctr">
                    <a:solidFill>
                      <a:srgbClr val="0F2540"/>
                    </a:solidFill>
                  </a:tcPr>
                </a:tc>
              </a:tr>
              <a:tr h="329184">
                <a:tc>
                  <a:txBody>
                    <a:bodyPr wrap="square"/>
                    <a:lstStyle/>
                    <a:p>
                      <a:pPr algn="l"/>
                      <a:r>
                        <a:rPr sz="950" b="0">
                          <a:solidFill>
                            <a:srgbClr val="1E2833"/>
                          </a:solidFill>
                          <a:latin typeface="Segoe UI"/>
                        </a:rPr>
                        <a:t>Control uplink</a:t>
                      </a:r>
                    </a:p>
                  </a:txBody>
                  <a:tcPr marL="54864" marR="54864" marT="18288" marB="18288" anchor="ctr">
                    <a:solidFill>
                      <a:srgbClr val="FFFFFF"/>
                    </a:solidFill>
                  </a:tcPr>
                </a:tc>
                <a:tc>
                  <a:txBody>
                    <a:bodyPr wrap="square"/>
                    <a:lstStyle/>
                    <a:p>
                      <a:pPr algn="l"/>
                      <a:r>
                        <a:rPr sz="950" b="0">
                          <a:solidFill>
                            <a:srgbClr val="1E2833"/>
                          </a:solidFill>
                          <a:latin typeface="Segoe UI"/>
                        </a:rPr>
                        <a:t>2.4 GHz ELRS</a:t>
                      </a:r>
                    </a:p>
                  </a:txBody>
                  <a:tcPr marL="54864" marR="54864" marT="18288" marB="18288" anchor="ctr">
                    <a:solidFill>
                      <a:srgbClr val="FFFFFF"/>
                    </a:solidFill>
                  </a:tcPr>
                </a:tc>
                <a:tc>
                  <a:txBody>
                    <a:bodyPr wrap="square"/>
                    <a:lstStyle/>
                    <a:p>
                      <a:pPr algn="l"/>
                      <a:r>
                        <a:rPr sz="950" b="0">
                          <a:solidFill>
                            <a:srgbClr val="1E2833"/>
                          </a:solidFill>
                          <a:latin typeface="Segoe UI"/>
                        </a:rPr>
                        <a:t>RC + failsafe</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Telemetry downlink</a:t>
                      </a:r>
                    </a:p>
                  </a:txBody>
                  <a:tcPr marL="54864" marR="54864" marT="18288" marB="18288" anchor="ctr">
                    <a:solidFill>
                      <a:srgbClr val="F6F8FA"/>
                    </a:solidFill>
                  </a:tcPr>
                </a:tc>
                <a:tc>
                  <a:txBody>
                    <a:bodyPr wrap="square"/>
                    <a:lstStyle/>
                    <a:p>
                      <a:pPr algn="l"/>
                      <a:r>
                        <a:rPr sz="950" b="0">
                          <a:solidFill>
                            <a:srgbClr val="1E2833"/>
                          </a:solidFill>
                          <a:latin typeface="Segoe UI"/>
                        </a:rPr>
                        <a:t>2.4 GHz ELRS</a:t>
                      </a:r>
                    </a:p>
                  </a:txBody>
                  <a:tcPr marL="54864" marR="54864" marT="18288" marB="18288" anchor="ctr">
                    <a:solidFill>
                      <a:srgbClr val="F6F8FA"/>
                    </a:solidFill>
                  </a:tcPr>
                </a:tc>
                <a:tc>
                  <a:txBody>
                    <a:bodyPr wrap="square"/>
                    <a:lstStyle/>
                    <a:p>
                      <a:pPr algn="l"/>
                      <a:r>
                        <a:rPr sz="950" b="0">
                          <a:solidFill>
                            <a:srgbClr val="1E2833"/>
                          </a:solidFill>
                          <a:latin typeface="Segoe UI"/>
                        </a:rPr>
                        <a:t>MAVLink status</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FPV video</a:t>
                      </a:r>
                    </a:p>
                  </a:txBody>
                  <a:tcPr marL="54864" marR="54864" marT="18288" marB="18288" anchor="ctr">
                    <a:solidFill>
                      <a:srgbClr val="FFFFFF"/>
                    </a:solidFill>
                  </a:tcPr>
                </a:tc>
                <a:tc>
                  <a:txBody>
                    <a:bodyPr wrap="square"/>
                    <a:lstStyle/>
                    <a:p>
                      <a:pPr algn="l"/>
                      <a:r>
                        <a:rPr sz="950" b="0">
                          <a:solidFill>
                            <a:srgbClr val="1E2833"/>
                          </a:solidFill>
                          <a:latin typeface="Segoe UI"/>
                        </a:rPr>
                        <a:t>5.8 GHz analog</a:t>
                      </a:r>
                    </a:p>
                  </a:txBody>
                  <a:tcPr marL="54864" marR="54864" marT="18288" marB="18288" anchor="ctr">
                    <a:solidFill>
                      <a:srgbClr val="FFFFFF"/>
                    </a:solidFill>
                  </a:tcPr>
                </a:tc>
                <a:tc>
                  <a:txBody>
                    <a:bodyPr wrap="square"/>
                    <a:lstStyle/>
                    <a:p>
                      <a:pPr algn="l"/>
                      <a:r>
                        <a:rPr sz="950" b="0">
                          <a:solidFill>
                            <a:srgbClr val="1E2833"/>
                          </a:solidFill>
                          <a:latin typeface="Segoe UI"/>
                        </a:rPr>
                        <a:t>Piloting video</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GNSS</a:t>
                      </a:r>
                    </a:p>
                  </a:txBody>
                  <a:tcPr marL="54864" marR="54864" marT="18288" marB="18288" anchor="ctr">
                    <a:solidFill>
                      <a:srgbClr val="F6F8FA"/>
                    </a:solidFill>
                  </a:tcPr>
                </a:tc>
                <a:tc>
                  <a:txBody>
                    <a:bodyPr wrap="square"/>
                    <a:lstStyle/>
                    <a:p>
                      <a:pPr algn="l"/>
                      <a:r>
                        <a:rPr sz="950" b="0">
                          <a:solidFill>
                            <a:srgbClr val="1E2833"/>
                          </a:solidFill>
                          <a:latin typeface="Segoe UI"/>
                        </a:rPr>
                        <a:t>1.575 GHz</a:t>
                      </a:r>
                    </a:p>
                  </a:txBody>
                  <a:tcPr marL="54864" marR="54864" marT="18288" marB="18288" anchor="ctr">
                    <a:solidFill>
                      <a:srgbClr val="F6F8FA"/>
                    </a:solidFill>
                  </a:tcPr>
                </a:tc>
                <a:tc>
                  <a:txBody>
                    <a:bodyPr wrap="square"/>
                    <a:lstStyle/>
                    <a:p>
                      <a:pPr algn="l"/>
                      <a:r>
                        <a:rPr sz="950" b="0">
                          <a:solidFill>
                            <a:srgbClr val="1E2833"/>
                          </a:solidFill>
                          <a:latin typeface="Segoe UI"/>
                        </a:rPr>
                        <a:t>Position (Rx only)</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Thermal downlink*</a:t>
                      </a:r>
                    </a:p>
                  </a:txBody>
                  <a:tcPr marL="54864" marR="54864" marT="18288" marB="18288" anchor="ctr">
                    <a:solidFill>
                      <a:srgbClr val="FFFFFF"/>
                    </a:solidFill>
                  </a:tcPr>
                </a:tc>
                <a:tc>
                  <a:txBody>
                    <a:bodyPr wrap="square"/>
                    <a:lstStyle/>
                    <a:p>
                      <a:pPr algn="l"/>
                      <a:r>
                        <a:rPr sz="950" b="0">
                          <a:solidFill>
                            <a:srgbClr val="1E2833"/>
                          </a:solidFill>
                          <a:latin typeface="Segoe UI"/>
                        </a:rPr>
                        <a:t>5.8 GHz OpenHD</a:t>
                      </a:r>
                    </a:p>
                  </a:txBody>
                  <a:tcPr marL="54864" marR="54864" marT="18288" marB="18288" anchor="ctr">
                    <a:solidFill>
                      <a:srgbClr val="FFFFFF"/>
                    </a:solidFill>
                  </a:tcPr>
                </a:tc>
                <a:tc>
                  <a:txBody>
                    <a:bodyPr wrap="square"/>
                    <a:lstStyle/>
                    <a:p>
                      <a:pPr algn="l"/>
                      <a:r>
                        <a:rPr sz="950" b="0">
                          <a:solidFill>
                            <a:srgbClr val="1E2833"/>
                          </a:solidFill>
                          <a:latin typeface="Segoe UI"/>
                        </a:rPr>
                        <a:t>Phase 4 (deferred)</a:t>
                      </a:r>
                    </a:p>
                  </a:txBody>
                  <a:tcPr marL="54864" marR="54864" marT="18288" marB="18288" anchor="ctr">
                    <a:solidFill>
                      <a:srgbClr val="FFFFFF"/>
                    </a:solidFill>
                  </a:tcPr>
                </a:tc>
              </a:tr>
            </a:tbl>
          </a:graphicData>
        </a:graphic>
      </p:graphicFrame>
      <p:sp>
        <p:nvSpPr>
          <p:cNvPr id="13" name="Rounded Rectangle 12"/>
          <p:cNvSpPr/>
          <p:nvPr/>
        </p:nvSpPr>
        <p:spPr>
          <a:xfrm>
            <a:off x="566928" y="4160520"/>
            <a:ext cx="11055096" cy="1874519"/>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97680"/>
            <a:ext cx="106070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0F2540"/>
                </a:solidFill>
                <a:latin typeface="Segoe UI"/>
              </a:rPr>
              <a:t>FORMAL COMPATIBILITY RULES  (modeled as SysML v2 constraints; enforced by the configuration sweep)</a:t>
            </a:r>
          </a:p>
        </p:txBody>
      </p:sp>
      <p:sp>
        <p:nvSpPr>
          <p:cNvPr id="15" name="TextBox 14"/>
          <p:cNvSpPr txBox="1"/>
          <p:nvPr/>
        </p:nvSpPr>
        <p:spPr>
          <a:xfrm>
            <a:off x="777240" y="4681728"/>
            <a:ext cx="539496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P1  Cell-count.  </a:t>
            </a:r>
            <a:r>
              <a:rPr sz="1200" b="0">
                <a:solidFill>
                  <a:srgbClr val="1E2833"/>
                </a:solidFill>
                <a:latin typeface="Segoe UI"/>
              </a:rPr>
              <a:t>Battery cells must lie within airframe min/max (e.g. no 4S pack on a 6S-only frame).</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V1–V4  Video chain.  </a:t>
            </a:r>
            <a:r>
              <a:rPr sz="1200" b="0">
                <a:solidFill>
                  <a:srgbClr val="1E2833"/>
                </a:solidFill>
                <a:latin typeface="Segoe UI"/>
              </a:rPr>
              <a:t>Camera output format must match VTX / ground-receiver format end-to-end.</a:t>
            </a:r>
          </a:p>
        </p:txBody>
      </p:sp>
      <p:sp>
        <p:nvSpPr>
          <p:cNvPr id="16" name="TextBox 15"/>
          <p:cNvSpPr txBox="1"/>
          <p:nvPr/>
        </p:nvSpPr>
        <p:spPr>
          <a:xfrm>
            <a:off x="6355080" y="4681728"/>
            <a:ext cx="512064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R1–R2  RF band.  </a:t>
            </a:r>
            <a:r>
              <a:rPr sz="1200" b="0">
                <a:solidFill>
                  <a:srgbClr val="1E2833"/>
                </a:solidFill>
                <a:latin typeface="Segoe UI"/>
              </a:rPr>
              <a:t>Air/ground radio bands must match per link.</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Connector.  </a:t>
            </a:r>
            <a:r>
              <a:rPr sz="1200" b="0">
                <a:solidFill>
                  <a:srgbClr val="1E2833"/>
                </a:solidFill>
                <a:latin typeface="Segoe UI"/>
              </a:rPr>
              <a:t>Whole power chain standardized on XT60 (battery → filter → airframe).</a:t>
            </a:r>
          </a:p>
        </p:txBody>
      </p:sp>
      <p:sp>
        <p:nvSpPr>
          <p:cNvPr id="17" name="TextBox 16"/>
          <p:cNvSpPr txBox="1"/>
          <p:nvPr/>
        </p:nvSpPr>
        <p:spPr>
          <a:xfrm>
            <a:off x="6309360" y="3383280"/>
            <a:ext cx="5303520" cy="54864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 Phase 4 downlink is a deferred future capability, shown for completeness; not part of the committed Phase 1–3 system.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3</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Functional &amp; Behavioral Design</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The functional architecture: a flight-mode state machine with failsafes, and the autonomous detect–investigate–classify loop that runs on the onboard computer during a sortie.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Flight-Mode State Machine &amp; Failsafes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19</a:t>
            </a:r>
          </a:p>
        </p:txBody>
      </p:sp>
      <p:sp>
        <p:nvSpPr>
          <p:cNvPr id="9" name="Rectangle 8"/>
          <p:cNvSpPr/>
          <p:nvPr/>
        </p:nvSpPr>
        <p:spPr>
          <a:xfrm>
            <a:off x="638700" y="1280160"/>
            <a:ext cx="6531576" cy="47091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state_diagram.png"/>
          <p:cNvPicPr>
            <a:picLocks noChangeAspect="1"/>
          </p:cNvPicPr>
          <p:nvPr/>
        </p:nvPicPr>
        <p:blipFill>
          <a:blip r:embed="rId2"/>
          <a:stretch>
            <a:fillRect/>
          </a:stretch>
        </p:blipFill>
        <p:spPr>
          <a:xfrm>
            <a:off x="693564" y="1335024"/>
            <a:ext cx="6421848" cy="4599432"/>
          </a:xfrm>
          <a:prstGeom prst="rect">
            <a:avLst/>
          </a:prstGeom>
        </p:spPr>
      </p:pic>
      <p:sp>
        <p:nvSpPr>
          <p:cNvPr id="11" name="TextBox 10"/>
          <p:cNvSpPr txBox="1"/>
          <p:nvPr/>
        </p:nvSpPr>
        <p:spPr>
          <a:xfrm>
            <a:off x="566928" y="6035040"/>
            <a:ext cx="667512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FlightMode state machine — disarmed · armed · flying · returnToLaunch · land</a:t>
            </a:r>
          </a:p>
        </p:txBody>
      </p:sp>
      <p:sp>
        <p:nvSpPr>
          <p:cNvPr id="12" name="TextBox 11"/>
          <p:cNvSpPr txBox="1"/>
          <p:nvPr/>
        </p:nvSpPr>
        <p:spPr>
          <a:xfrm>
            <a:off x="7452360" y="1371600"/>
            <a:ext cx="416052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Nominal path.  </a:t>
            </a:r>
            <a:r>
              <a:rPr sz="1350" b="0">
                <a:solidFill>
                  <a:srgbClr val="1E2833"/>
                </a:solidFill>
                <a:latin typeface="Segoe UI"/>
              </a:rPr>
              <a:t>disarmed → armed → flying (route execution) → returnToLaunch → land (touchdown &amp; disarm).</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Failsafe transitions (safety design):</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Link loss.  </a:t>
            </a:r>
            <a:r>
              <a:rPr sz="1250" b="0">
                <a:solidFill>
                  <a:srgbClr val="1E2833"/>
                </a:solidFill>
                <a:latin typeface="Segoe UI"/>
              </a:rPr>
              <a:t>flying → RTL when ELRS is lost past the FC failsafe timeout (R7_BHV_LINKLOSS_RTL).</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Low battery.  </a:t>
            </a:r>
            <a:r>
              <a:rPr sz="1250" b="0">
                <a:solidFill>
                  <a:srgbClr val="1E2833"/>
                </a:solidFill>
                <a:latin typeface="Segoe UI"/>
              </a:rPr>
              <a:t>→ RTL when usable energy hits the return reserve (R6_BHV_RTL_RESERVE).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Realization.  </a:t>
            </a:r>
            <a:r>
              <a:rPr sz="1350" b="0">
                <a:solidFill>
                  <a:srgbClr val="1E2833"/>
                </a:solidFill>
                <a:latin typeface="Segoe UI"/>
              </a:rPr>
              <a:t>Transitions map to ArduPilot FS_* / BATT_* failsafe parameters; executeRtl / touchDownAndDisarm are modeled actions.</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Open policy.  </a:t>
            </a:r>
            <a:r>
              <a:rPr sz="1250" b="0">
                <a:solidFill>
                  <a:srgbClr val="1E2833"/>
                </a:solidFill>
                <a:latin typeface="Segoe UI"/>
              </a:rPr>
              <a:t>RTL reserve-energy threshold value is TBD (tracked as an open item).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Autonomous Detect · Investigate · Classify Loop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20</a:t>
            </a:r>
          </a:p>
        </p:txBody>
      </p:sp>
      <p:sp>
        <p:nvSpPr>
          <p:cNvPr id="9" name="Rectangle 8"/>
          <p:cNvSpPr/>
          <p:nvPr/>
        </p:nvSpPr>
        <p:spPr>
          <a:xfrm>
            <a:off x="646023" y="1234440"/>
            <a:ext cx="2905050"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weep_and_detect_action_flow.png"/>
          <p:cNvPicPr>
            <a:picLocks noChangeAspect="1"/>
          </p:cNvPicPr>
          <p:nvPr/>
        </p:nvPicPr>
        <p:blipFill>
          <a:blip r:embed="rId2"/>
          <a:stretch>
            <a:fillRect/>
          </a:stretch>
        </p:blipFill>
        <p:spPr>
          <a:xfrm>
            <a:off x="700887" y="1289304"/>
            <a:ext cx="2795322" cy="4507992"/>
          </a:xfrm>
          <a:prstGeom prst="rect">
            <a:avLst/>
          </a:prstGeom>
        </p:spPr>
      </p:pic>
      <p:sp>
        <p:nvSpPr>
          <p:cNvPr id="11" name="TextBox 10"/>
          <p:cNvSpPr txBox="1"/>
          <p:nvPr/>
        </p:nvSpPr>
        <p:spPr>
          <a:xfrm>
            <a:off x="566928" y="5897880"/>
            <a:ext cx="30632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SweepAndDetect (UC-5a)</a:t>
            </a:r>
          </a:p>
        </p:txBody>
      </p:sp>
      <p:sp>
        <p:nvSpPr>
          <p:cNvPr id="12" name="Rectangle 11"/>
          <p:cNvSpPr/>
          <p:nvPr/>
        </p:nvSpPr>
        <p:spPr>
          <a:xfrm>
            <a:off x="3887188" y="1234440"/>
            <a:ext cx="3381304"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nvestigate_and_classify_action_flow.png"/>
          <p:cNvPicPr>
            <a:picLocks noChangeAspect="1"/>
          </p:cNvPicPr>
          <p:nvPr/>
        </p:nvPicPr>
        <p:blipFill>
          <a:blip r:embed="rId3"/>
          <a:stretch>
            <a:fillRect/>
          </a:stretch>
        </p:blipFill>
        <p:spPr>
          <a:xfrm>
            <a:off x="3942052" y="1289304"/>
            <a:ext cx="3271576" cy="4507992"/>
          </a:xfrm>
          <a:prstGeom prst="rect">
            <a:avLst/>
          </a:prstGeom>
        </p:spPr>
      </p:pic>
      <p:sp>
        <p:nvSpPr>
          <p:cNvPr id="14" name="TextBox 13"/>
          <p:cNvSpPr txBox="1"/>
          <p:nvPr/>
        </p:nvSpPr>
        <p:spPr>
          <a:xfrm>
            <a:off x="3794760" y="5897880"/>
            <a:ext cx="35661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InvestigateAndClassify (UC-5b)</a:t>
            </a:r>
          </a:p>
        </p:txBody>
      </p:sp>
      <p:sp>
        <p:nvSpPr>
          <p:cNvPr id="15" name="Rounded Rectangle 14"/>
          <p:cNvSpPr/>
          <p:nvPr/>
        </p:nvSpPr>
        <p:spPr>
          <a:xfrm>
            <a:off x="7635240" y="1280160"/>
            <a:ext cx="3977639" cy="45720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6576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HOW THE LOOP RUNS</a:t>
            </a:r>
          </a:p>
        </p:txBody>
      </p:sp>
      <p:sp>
        <p:nvSpPr>
          <p:cNvPr id="17" name="TextBox 16"/>
          <p:cNvSpPr txBox="1"/>
          <p:nvPr/>
        </p:nvSpPr>
        <p:spPr>
          <a:xfrm>
            <a:off x="7818120" y="1810512"/>
            <a:ext cx="361188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Detect.  </a:t>
            </a:r>
            <a:r>
              <a:rPr sz="1250" b="0">
                <a:solidFill>
                  <a:srgbClr val="1E2833"/>
                </a:solidFill>
                <a:latin typeface="Segoe UI"/>
              </a:rPr>
              <a:t>Per-frame onboard inference; when detectionConfidence ≥ threshold → mark POI, alert operator, emit targetDetectedEvt.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Investigate.  </a:t>
            </a:r>
            <a:r>
              <a:rPr sz="1250" b="0">
                <a:solidFill>
                  <a:srgbClr val="1E2833"/>
                </a:solidFill>
                <a:latin typeface="Segoe UI"/>
              </a:rPr>
              <a:t>Reroute to target; classify in a loop until classificationConfidence ≥ threshold, else adjust orbit and retry.</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Resume.  </a:t>
            </a:r>
            <a:r>
              <a:rPr sz="1250" b="0">
                <a:solidFill>
                  <a:srgbClr val="1E2833"/>
                </a:solidFill>
                <a:latin typeface="Segoe UI"/>
              </a:rPr>
              <a:t>Report classification, resume the survey route, emit investigationCompleteEvt.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Seam.  </a:t>
            </a:r>
            <a:r>
              <a:rPr sz="1250" b="0">
                <a:solidFill>
                  <a:srgbClr val="1E2833"/>
                </a:solidFill>
                <a:latin typeface="Segoe UI"/>
              </a:rPr>
              <a:t>Both halves formally send their events to missionContext — the receiver that ties functions to the system.</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Allocation.  </a:t>
            </a:r>
            <a:r>
              <a:rPr sz="1250" b="0">
                <a:solidFill>
                  <a:srgbClr val="1E2833"/>
                </a:solidFill>
                <a:latin typeface="Segoe UI"/>
              </a:rPr>
              <a:t>Runs on the SBC (missionApp + rknnRuntime); routes commanded to the FC over MAVLink.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4</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Engineering Analyses</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Four quantitative analyses verify the design against the driving requirements — endurance, thermal detection, RF link budget, and cost / physical integration — each with its method and fidelity stated.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Detailed Design — Selected Configuration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Components down-selected from ~110 real market candidates via trade studies; selections are version-controlled and machine-enforced in the analysis.</a:t>
            </a:r>
          </a:p>
        </p:txBody>
      </p:sp>
      <p:graphicFrame>
        <p:nvGraphicFramePr>
          <p:cNvPr id="10" name="Table 9"/>
          <p:cNvGraphicFramePr>
            <a:graphicFrameLocks noGrp="1"/>
          </p:cNvGraphicFramePr>
          <p:nvPr/>
        </p:nvGraphicFramePr>
        <p:xfrm>
          <a:off x="566928" y="1600200"/>
          <a:ext cx="11055096" cy="3529584"/>
        </p:xfrm>
        <a:graphic>
          <a:graphicData uri="http://schemas.openxmlformats.org/drawingml/2006/table">
            <a:tbl>
              <a:tblPr>
                <a:tableStyleId>{5C22544A-7EE6-4342-B048-85BDC9FD1C3A}</a:tableStyleId>
              </a:tblPr>
              <a:tblGrid>
                <a:gridCol w="2148840"/>
                <a:gridCol w="4023360"/>
                <a:gridCol w="4882896"/>
              </a:tblGrid>
              <a:tr h="310896">
                <a:tc>
                  <a:txBody>
                    <a:bodyPr wrap="square"/>
                    <a:lstStyle/>
                    <a:p>
                      <a:pPr algn="l"/>
                      <a:r>
                        <a:rPr sz="1100" b="1">
                          <a:solidFill>
                            <a:srgbClr val="FFFFFF"/>
                          </a:solidFill>
                          <a:latin typeface="Segoe UI"/>
                        </a:rPr>
                        <a:t>Role</a:t>
                      </a:r>
                    </a:p>
                  </a:txBody>
                  <a:tcPr marL="54864" marR="54864" marT="18288" marB="18288" anchor="ctr">
                    <a:solidFill>
                      <a:srgbClr val="0F2540"/>
                    </a:solidFill>
                  </a:tcPr>
                </a:tc>
                <a:tc>
                  <a:txBody>
                    <a:bodyPr wrap="square"/>
                    <a:lstStyle/>
                    <a:p>
                      <a:pPr algn="l"/>
                      <a:r>
                        <a:rPr sz="1100" b="1">
                          <a:solidFill>
                            <a:srgbClr val="FFFFFF"/>
                          </a:solidFill>
                          <a:latin typeface="Segoe UI"/>
                        </a:rPr>
                        <a:t>Selected component</a:t>
                      </a:r>
                    </a:p>
                  </a:txBody>
                  <a:tcPr marL="54864" marR="54864" marT="18288" marB="18288" anchor="ctr">
                    <a:solidFill>
                      <a:srgbClr val="0F2540"/>
                    </a:solidFill>
                  </a:tcPr>
                </a:tc>
                <a:tc>
                  <a:txBody>
                    <a:bodyPr wrap="square"/>
                    <a:lstStyle/>
                    <a:p>
                      <a:pPr algn="l"/>
                      <a:r>
                        <a:rPr sz="1100" b="1">
                          <a:solidFill>
                            <a:srgbClr val="FFFFFF"/>
                          </a:solidFill>
                          <a:latin typeface="Segoe UI"/>
                        </a:rPr>
                        <a:t>Basis</a:t>
                      </a:r>
                    </a:p>
                  </a:txBody>
                  <a:tcPr marL="54864" marR="54864" marT="18288" marB="18288" anchor="ctr">
                    <a:solidFill>
                      <a:srgbClr val="0F2540"/>
                    </a:solidFill>
                  </a:tcPr>
                </a:tc>
              </a:tr>
              <a:tr h="402336">
                <a:tc>
                  <a:txBody>
                    <a:bodyPr wrap="square"/>
                    <a:lstStyle/>
                    <a:p>
                      <a:pPr algn="l"/>
                      <a:r>
                        <a:rPr sz="1050" b="0">
                          <a:solidFill>
                            <a:srgbClr val="1E2833"/>
                          </a:solidFill>
                          <a:latin typeface="Segoe UI"/>
                        </a:rPr>
                        <a:t>Airframe</a:t>
                      </a:r>
                    </a:p>
                  </a:txBody>
                  <a:tcPr marL="54864" marR="54864" marT="18288" marB="18288" anchor="ctr">
                    <a:solidFill>
                      <a:srgbClr val="FFFFFF"/>
                    </a:solidFill>
                  </a:tcPr>
                </a:tc>
                <a:tc>
                  <a:txBody>
                    <a:bodyPr wrap="square"/>
                    <a:lstStyle/>
                    <a:p>
                      <a:pPr algn="l"/>
                      <a:r>
                        <a:rPr sz="1050" b="0">
                          <a:solidFill>
                            <a:srgbClr val="1E2833"/>
                          </a:solidFill>
                          <a:latin typeface="Segoe UI"/>
                        </a:rPr>
                        <a:t>iFlight Chimera9 ECO 9" (PNP)</a:t>
                      </a:r>
                    </a:p>
                  </a:txBody>
                  <a:tcPr marL="54864" marR="54864" marT="18288" marB="18288" anchor="ctr">
                    <a:solidFill>
                      <a:srgbClr val="FFFFFF"/>
                    </a:solidFill>
                  </a:tcPr>
                </a:tc>
                <a:tc>
                  <a:txBody>
                    <a:bodyPr wrap="square"/>
                    <a:lstStyle/>
                    <a:p>
                      <a:pPr algn="l"/>
                      <a:r>
                        <a:rPr sz="1050" b="0">
                          <a:solidFill>
                            <a:srgbClr val="1E2833"/>
                          </a:solidFill>
                          <a:latin typeface="Segoe UI"/>
                        </a:rPr>
                        <a:t>Best endurance/$ of SBC-capable frames; SBC fits deck</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Battery (flight)</a:t>
                      </a:r>
                    </a:p>
                  </a:txBody>
                  <a:tcPr marL="54864" marR="54864" marT="18288" marB="18288" anchor="ctr">
                    <a:solidFill>
                      <a:srgbClr val="F6F8FA"/>
                    </a:solidFill>
                  </a:tcPr>
                </a:tc>
                <a:tc>
                  <a:txBody>
                    <a:bodyPr wrap="square"/>
                    <a:lstStyle/>
                    <a:p>
                      <a:pPr algn="l"/>
                      <a:r>
                        <a:rPr sz="1050" b="0">
                          <a:solidFill>
                            <a:srgbClr val="1E2833"/>
                          </a:solidFill>
                          <a:latin typeface="Segoe UI"/>
                        </a:rPr>
                        <a:t>Upgrade Energy 6S 12 Ah Amprius</a:t>
                      </a:r>
                    </a:p>
                  </a:txBody>
                  <a:tcPr marL="54864" marR="54864" marT="18288" marB="18288" anchor="ctr">
                    <a:solidFill>
                      <a:srgbClr val="F6F8FA"/>
                    </a:solidFill>
                  </a:tcPr>
                </a:tc>
                <a:tc>
                  <a:txBody>
                    <a:bodyPr wrap="square"/>
                    <a:lstStyle/>
                    <a:p>
                      <a:pPr algn="l"/>
                      <a:r>
                        <a:rPr sz="1050" b="0">
                          <a:solidFill>
                            <a:srgbClr val="1E2833"/>
                          </a:solidFill>
                          <a:latin typeface="Segoe UI"/>
                        </a:rPr>
                        <a:t>57 min hover; XT60; in-stock Amprius</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Thermal camera</a:t>
                      </a:r>
                    </a:p>
                  </a:txBody>
                  <a:tcPr marL="54864" marR="54864" marT="18288" marB="18288" anchor="ctr">
                    <a:solidFill>
                      <a:srgbClr val="FFFFFF"/>
                    </a:solidFill>
                  </a:tcPr>
                </a:tc>
                <a:tc>
                  <a:txBody>
                    <a:bodyPr wrap="square"/>
                    <a:lstStyle/>
                    <a:p>
                      <a:pPr algn="l"/>
                      <a:r>
                        <a:rPr sz="1050" b="0">
                          <a:solidFill>
                            <a:srgbClr val="1E2833"/>
                          </a:solidFill>
                          <a:latin typeface="Segoe UI"/>
                        </a:rPr>
                        <a:t>PurpleRiver Mini 640 (640×512, 12 µm)</a:t>
                      </a:r>
                    </a:p>
                  </a:txBody>
                  <a:tcPr marL="54864" marR="54864" marT="18288" marB="18288" anchor="ctr">
                    <a:solidFill>
                      <a:srgbClr val="FFFFFF"/>
                    </a:solidFill>
                  </a:tcPr>
                </a:tc>
                <a:tc>
                  <a:txBody>
                    <a:bodyPr wrap="square"/>
                    <a:lstStyle/>
                    <a:p>
                      <a:pPr algn="l"/>
                      <a:r>
                        <a:rPr sz="1050" b="0">
                          <a:solidFill>
                            <a:srgbClr val="1E2833"/>
                          </a:solidFill>
                          <a:latin typeface="Segoe UI"/>
                        </a:rPr>
                        <a:t>Meets Johnson detect/recognize; USB-UVC</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Onboard compute</a:t>
                      </a:r>
                    </a:p>
                  </a:txBody>
                  <a:tcPr marL="54864" marR="54864" marT="18288" marB="18288" anchor="ctr">
                    <a:solidFill>
                      <a:srgbClr val="F6F8FA"/>
                    </a:solidFill>
                  </a:tcPr>
                </a:tc>
                <a:tc>
                  <a:txBody>
                    <a:bodyPr wrap="square"/>
                    <a:lstStyle/>
                    <a:p>
                      <a:pPr algn="l"/>
                      <a:r>
                        <a:rPr sz="1050" b="0">
                          <a:solidFill>
                            <a:srgbClr val="1E2833"/>
                          </a:solidFill>
                          <a:latin typeface="Segoe UI"/>
                        </a:rPr>
                        <a:t>NanoPi M5 (RK3576, 6 TOPS)</a:t>
                      </a:r>
                    </a:p>
                  </a:txBody>
                  <a:tcPr marL="54864" marR="54864" marT="18288" marB="18288" anchor="ctr">
                    <a:solidFill>
                      <a:srgbClr val="F6F8FA"/>
                    </a:solidFill>
                  </a:tcPr>
                </a:tc>
                <a:tc>
                  <a:txBody>
                    <a:bodyPr wrap="square"/>
                    <a:lstStyle/>
                    <a:p>
                      <a:pPr algn="l"/>
                      <a:r>
                        <a:rPr sz="1050" b="0">
                          <a:solidFill>
                            <a:srgbClr val="1E2833"/>
                          </a:solidFill>
                          <a:latin typeface="Segoe UI"/>
                        </a:rPr>
                        <a:t>Mature RKNN toolchain; ≤10 W passive</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Control link</a:t>
                      </a:r>
                    </a:p>
                  </a:txBody>
                  <a:tcPr marL="54864" marR="54864" marT="18288" marB="18288" anchor="ctr">
                    <a:solidFill>
                      <a:srgbClr val="FFFFFF"/>
                    </a:solidFill>
                  </a:tcPr>
                </a:tc>
                <a:tc>
                  <a:txBody>
                    <a:bodyPr wrap="square"/>
                    <a:lstStyle/>
                    <a:p>
                      <a:pPr algn="l"/>
                      <a:r>
                        <a:rPr sz="1050" b="0">
                          <a:solidFill>
                            <a:srgbClr val="1E2833"/>
                          </a:solidFill>
                          <a:latin typeface="Segoe UI"/>
                        </a:rPr>
                        <a:t>iFlight TD ELRS + TX12 MkII + Hermes</a:t>
                      </a:r>
                    </a:p>
                  </a:txBody>
                  <a:tcPr marL="54864" marR="54864" marT="18288" marB="18288" anchor="ctr">
                    <a:solidFill>
                      <a:srgbClr val="FFFFFF"/>
                    </a:solidFill>
                  </a:tcPr>
                </a:tc>
                <a:tc>
                  <a:txBody>
                    <a:bodyPr wrap="square"/>
                    <a:lstStyle/>
                    <a:p>
                      <a:pPr algn="l"/>
                      <a:r>
                        <a:rPr sz="1050" b="0">
                          <a:solidFill>
                            <a:srgbClr val="1E2833"/>
                          </a:solidFill>
                          <a:latin typeface="Segoe UI"/>
                        </a:rPr>
                        <a:t>True-diversity 2.4 GHz; huge link margin</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Video (ground)</a:t>
                      </a:r>
                    </a:p>
                  </a:txBody>
                  <a:tcPr marL="54864" marR="54864" marT="18288" marB="18288" anchor="ctr">
                    <a:solidFill>
                      <a:srgbClr val="F6F8FA"/>
                    </a:solidFill>
                  </a:tcPr>
                </a:tc>
                <a:tc>
                  <a:txBody>
                    <a:bodyPr wrap="square"/>
                    <a:lstStyle/>
                    <a:p>
                      <a:pPr algn="l"/>
                      <a:r>
                        <a:rPr sz="1050" b="0">
                          <a:solidFill>
                            <a:srgbClr val="1E2833"/>
                          </a:solidFill>
                          <a:latin typeface="Segoe UI"/>
                        </a:rPr>
                        <a:t>Skydroid UVC RX + TrueRC X-AIR patch</a:t>
                      </a:r>
                    </a:p>
                  </a:txBody>
                  <a:tcPr marL="54864" marR="54864" marT="18288" marB="18288" anchor="ctr">
                    <a:solidFill>
                      <a:srgbClr val="F6F8FA"/>
                    </a:solidFill>
                  </a:tcPr>
                </a:tc>
                <a:tc>
                  <a:txBody>
                    <a:bodyPr wrap="square"/>
                    <a:lstStyle/>
                    <a:p>
                      <a:pPr algn="l"/>
                      <a:r>
                        <a:rPr sz="1050" b="0">
                          <a:solidFill>
                            <a:srgbClr val="1E2833"/>
                          </a:solidFill>
                          <a:latin typeface="Segoe UI"/>
                        </a:rPr>
                        <a:t>Closes 2.8 km analog link with margin</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FC firmware</a:t>
                      </a:r>
                    </a:p>
                  </a:txBody>
                  <a:tcPr marL="54864" marR="54864" marT="18288" marB="18288" anchor="ctr">
                    <a:solidFill>
                      <a:srgbClr val="FFFFFF"/>
                    </a:solidFill>
                  </a:tcPr>
                </a:tc>
                <a:tc>
                  <a:txBody>
                    <a:bodyPr wrap="square"/>
                    <a:lstStyle/>
                    <a:p>
                      <a:pPr algn="l"/>
                      <a:r>
                        <a:rPr sz="1050" b="0">
                          <a:solidFill>
                            <a:srgbClr val="1E2833"/>
                          </a:solidFill>
                          <a:latin typeface="Segoe UI"/>
                        </a:rPr>
                        <a:t>ArduPilot ArduCopter ≥ 4.5</a:t>
                      </a:r>
                    </a:p>
                  </a:txBody>
                  <a:tcPr marL="54864" marR="54864" marT="18288" marB="18288" anchor="ctr">
                    <a:solidFill>
                      <a:srgbClr val="FFFFFF"/>
                    </a:solidFill>
                  </a:tcPr>
                </a:tc>
                <a:tc>
                  <a:txBody>
                    <a:bodyPr wrap="square"/>
                    <a:lstStyle/>
                    <a:p>
                      <a:pPr algn="l"/>
                      <a:r>
                        <a:rPr sz="1050" b="0">
                          <a:solidFill>
                            <a:srgbClr val="1E2833"/>
                          </a:solidFill>
                          <a:latin typeface="Segoe UI"/>
                        </a:rPr>
                        <a:t>AUTO/GUIDED + FS_/BATT_ failsafes ($0)</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GCS app</a:t>
                      </a:r>
                    </a:p>
                  </a:txBody>
                  <a:tcPr marL="54864" marR="54864" marT="18288" marB="18288" anchor="ctr">
                    <a:solidFill>
                      <a:srgbClr val="F6F8FA"/>
                    </a:solidFill>
                  </a:tcPr>
                </a:tc>
                <a:tc>
                  <a:txBody>
                    <a:bodyPr wrap="square"/>
                    <a:lstStyle/>
                    <a:p>
                      <a:pPr algn="l"/>
                      <a:r>
                        <a:rPr sz="1050" b="0">
                          <a:solidFill>
                            <a:srgbClr val="1E2833"/>
                          </a:solidFill>
                          <a:latin typeface="Segoe UI"/>
                        </a:rPr>
                        <a:t>QGroundControl 4.4+</a:t>
                      </a:r>
                    </a:p>
                  </a:txBody>
                  <a:tcPr marL="54864" marR="54864" marT="18288" marB="18288" anchor="ctr">
                    <a:solidFill>
                      <a:srgbClr val="F6F8FA"/>
                    </a:solidFill>
                  </a:tcPr>
                </a:tc>
                <a:tc>
                  <a:txBody>
                    <a:bodyPr wrap="square"/>
                    <a:lstStyle/>
                    <a:p>
                      <a:pPr algn="l"/>
                      <a:r>
                        <a:rPr sz="1050" b="0">
                          <a:solidFill>
                            <a:srgbClr val="1E2833"/>
                          </a:solidFill>
                          <a:latin typeface="Segoe UI"/>
                        </a:rPr>
                        <a:t>All laptop functions; macOS-compatible ($0)</a:t>
                      </a:r>
                    </a:p>
                  </a:txBody>
                  <a:tcPr marL="54864" marR="54864" marT="18288" marB="18288" anchor="ctr">
                    <a:solidFill>
                      <a:srgbClr val="F6F8FA"/>
                    </a:solidFill>
                  </a:tcPr>
                </a:tc>
              </a:tr>
            </a:tbl>
          </a:graphicData>
        </a:graphic>
      </p:graphicFrame>
      <p:sp>
        <p:nvSpPr>
          <p:cNvPr id="11" name="TextBox 10"/>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0F2540"/>
                </a:solidFill>
                <a:latin typeface="Segoe UI"/>
              </a:rPr>
              <a:t>Reference build: </a:t>
            </a:r>
            <a:r>
              <a:rPr sz="1050" b="0" i="0">
                <a:solidFill>
                  <a:srgbClr val="1E2833"/>
                </a:solidFill>
                <a:latin typeface="Segoe UI"/>
              </a:rPr>
              <a:t>Chimera9 ECO + 6S 12 Ah Amprius + Mini 640 + NanoPi M5 → ≈ 58 min hover, ≈ $1,850 committed system cost (≤ $2,500 R4), SBC fits the deck.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Air Vehicle &amp; Payload</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23</a:t>
            </a:r>
          </a:p>
        </p:txBody>
      </p:sp>
      <p:sp>
        <p:nvSpPr>
          <p:cNvPr id="9" name="Rounded Rectangle 8"/>
          <p:cNvSpPr/>
          <p:nvPr/>
        </p:nvSpPr>
        <p:spPr>
          <a:xfrm>
            <a:off x="566928"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rframe.png"/>
          <p:cNvPicPr>
            <a:picLocks noChangeAspect="1"/>
          </p:cNvPicPr>
          <p:nvPr/>
        </p:nvPicPr>
        <p:blipFill>
          <a:blip r:embed="rId2"/>
          <a:stretch>
            <a:fillRect/>
          </a:stretch>
        </p:blipFill>
        <p:spPr>
          <a:xfrm>
            <a:off x="1600962" y="1371600"/>
            <a:ext cx="1421892" cy="1421892"/>
          </a:xfrm>
          <a:prstGeom prst="rect">
            <a:avLst/>
          </a:prstGeom>
        </p:spPr>
      </p:pic>
      <p:sp>
        <p:nvSpPr>
          <p:cNvPr id="11" name="Rectangle 10"/>
          <p:cNvSpPr/>
          <p:nvPr/>
        </p:nvSpPr>
        <p:spPr>
          <a:xfrm>
            <a:off x="676656"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Chimera9 ECO 9"</a:t>
            </a:r>
          </a:p>
        </p:txBody>
      </p:sp>
      <p:sp>
        <p:nvSpPr>
          <p:cNvPr id="13" name="TextBox 12"/>
          <p:cNvSpPr txBox="1"/>
          <p:nvPr/>
        </p:nvSpPr>
        <p:spPr>
          <a:xfrm>
            <a:off x="676656"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PNP airframe · 729 g · 6S · XING-E 2809</a:t>
            </a:r>
          </a:p>
        </p:txBody>
      </p:sp>
      <p:sp>
        <p:nvSpPr>
          <p:cNvPr id="14" name="Rounded Rectangle 13"/>
          <p:cNvSpPr/>
          <p:nvPr/>
        </p:nvSpPr>
        <p:spPr>
          <a:xfrm>
            <a:off x="4349496"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ttery.png"/>
          <p:cNvPicPr>
            <a:picLocks noChangeAspect="1"/>
          </p:cNvPicPr>
          <p:nvPr/>
        </p:nvPicPr>
        <p:blipFill>
          <a:blip r:embed="rId3"/>
          <a:stretch>
            <a:fillRect/>
          </a:stretch>
        </p:blipFill>
        <p:spPr>
          <a:xfrm>
            <a:off x="5146548" y="1371600"/>
            <a:ext cx="1895856" cy="1421892"/>
          </a:xfrm>
          <a:prstGeom prst="rect">
            <a:avLst/>
          </a:prstGeom>
        </p:spPr>
      </p:pic>
      <p:sp>
        <p:nvSpPr>
          <p:cNvPr id="16" name="Rectangle 15"/>
          <p:cNvSpPr/>
          <p:nvPr/>
        </p:nvSpPr>
        <p:spPr>
          <a:xfrm>
            <a:off x="4459224"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Upgrade Energy 6S 12 Ah</a:t>
            </a:r>
          </a:p>
        </p:txBody>
      </p:sp>
      <p:sp>
        <p:nvSpPr>
          <p:cNvPr id="18" name="TextBox 17"/>
          <p:cNvSpPr txBox="1"/>
          <p:nvPr/>
        </p:nvSpPr>
        <p:spPr>
          <a:xfrm>
            <a:off x="4459224"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Amprius Si-anode Li-ion · XT60 · ~57 min</a:t>
            </a:r>
          </a:p>
        </p:txBody>
      </p:sp>
      <p:sp>
        <p:nvSpPr>
          <p:cNvPr id="19" name="Rounded Rectangle 18"/>
          <p:cNvSpPr/>
          <p:nvPr/>
        </p:nvSpPr>
        <p:spPr>
          <a:xfrm>
            <a:off x="8132064"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hermal.png"/>
          <p:cNvPicPr>
            <a:picLocks noChangeAspect="1"/>
          </p:cNvPicPr>
          <p:nvPr/>
        </p:nvPicPr>
        <p:blipFill>
          <a:blip r:embed="rId4"/>
          <a:stretch>
            <a:fillRect/>
          </a:stretch>
        </p:blipFill>
        <p:spPr>
          <a:xfrm>
            <a:off x="9166098" y="1371600"/>
            <a:ext cx="1421892" cy="1421892"/>
          </a:xfrm>
          <a:prstGeom prst="rect">
            <a:avLst/>
          </a:prstGeom>
        </p:spPr>
      </p:pic>
      <p:sp>
        <p:nvSpPr>
          <p:cNvPr id="21" name="Rectangle 20"/>
          <p:cNvSpPr/>
          <p:nvPr/>
        </p:nvSpPr>
        <p:spPr>
          <a:xfrm>
            <a:off x="8241792"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PurpleRiver Mini 640</a:t>
            </a:r>
          </a:p>
        </p:txBody>
      </p:sp>
      <p:sp>
        <p:nvSpPr>
          <p:cNvPr id="23" name="TextBox 22"/>
          <p:cNvSpPr txBox="1"/>
          <p:nvPr/>
        </p:nvSpPr>
        <p:spPr>
          <a:xfrm>
            <a:off x="8241792"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640×512 · 12 µm · 13 mm · USB-UVC</a:t>
            </a:r>
          </a:p>
        </p:txBody>
      </p:sp>
      <p:sp>
        <p:nvSpPr>
          <p:cNvPr id="24" name="Rounded Rectangle 23"/>
          <p:cNvSpPr/>
          <p:nvPr/>
        </p:nvSpPr>
        <p:spPr>
          <a:xfrm>
            <a:off x="566928"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bc.png"/>
          <p:cNvPicPr>
            <a:picLocks noChangeAspect="1"/>
          </p:cNvPicPr>
          <p:nvPr/>
        </p:nvPicPr>
        <p:blipFill>
          <a:blip r:embed="rId5"/>
          <a:stretch>
            <a:fillRect/>
          </a:stretch>
        </p:blipFill>
        <p:spPr>
          <a:xfrm>
            <a:off x="990937" y="3872484"/>
            <a:ext cx="2641942" cy="1421892"/>
          </a:xfrm>
          <a:prstGeom prst="rect">
            <a:avLst/>
          </a:prstGeom>
        </p:spPr>
      </p:pic>
      <p:sp>
        <p:nvSpPr>
          <p:cNvPr id="26" name="Rectangle 25"/>
          <p:cNvSpPr/>
          <p:nvPr/>
        </p:nvSpPr>
        <p:spPr>
          <a:xfrm>
            <a:off x="676656"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NanoPi M5 (RK3576)</a:t>
            </a:r>
          </a:p>
        </p:txBody>
      </p:sp>
      <p:sp>
        <p:nvSpPr>
          <p:cNvPr id="28" name="TextBox 27"/>
          <p:cNvSpPr txBox="1"/>
          <p:nvPr/>
        </p:nvSpPr>
        <p:spPr>
          <a:xfrm>
            <a:off x="676656"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 TOPS NPU · ≤10 W passive · 90×62 mm</a:t>
            </a:r>
          </a:p>
        </p:txBody>
      </p:sp>
      <p:sp>
        <p:nvSpPr>
          <p:cNvPr id="29" name="Rounded Rectangle 28"/>
          <p:cNvSpPr/>
          <p:nvPr/>
        </p:nvSpPr>
        <p:spPr>
          <a:xfrm>
            <a:off x="4349496"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ceiver.png"/>
          <p:cNvPicPr>
            <a:picLocks noChangeAspect="1"/>
          </p:cNvPicPr>
          <p:nvPr/>
        </p:nvPicPr>
        <p:blipFill>
          <a:blip r:embed="rId6"/>
          <a:stretch>
            <a:fillRect/>
          </a:stretch>
        </p:blipFill>
        <p:spPr>
          <a:xfrm>
            <a:off x="5383530" y="3872484"/>
            <a:ext cx="1421892" cy="1421892"/>
          </a:xfrm>
          <a:prstGeom prst="rect">
            <a:avLst/>
          </a:prstGeom>
        </p:spPr>
      </p:pic>
      <p:sp>
        <p:nvSpPr>
          <p:cNvPr id="31" name="Rectangle 30"/>
          <p:cNvSpPr/>
          <p:nvPr/>
        </p:nvSpPr>
        <p:spPr>
          <a:xfrm>
            <a:off x="4459224"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59224"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True-Diversity ELRS</a:t>
            </a:r>
          </a:p>
        </p:txBody>
      </p:sp>
      <p:sp>
        <p:nvSpPr>
          <p:cNvPr id="33" name="TextBox 32"/>
          <p:cNvSpPr txBox="1"/>
          <p:nvPr/>
        </p:nvSpPr>
        <p:spPr>
          <a:xfrm>
            <a:off x="4459224"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2.4 GHz · dual-antenna · 250 mW</a:t>
            </a:r>
          </a:p>
        </p:txBody>
      </p:sp>
      <p:sp>
        <p:nvSpPr>
          <p:cNvPr id="34" name="Rounded Rectangle 33"/>
          <p:cNvSpPr/>
          <p:nvPr/>
        </p:nvSpPr>
        <p:spPr>
          <a:xfrm>
            <a:off x="8132064"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ntispark.png"/>
          <p:cNvPicPr>
            <a:picLocks noChangeAspect="1"/>
          </p:cNvPicPr>
          <p:nvPr/>
        </p:nvPicPr>
        <p:blipFill>
          <a:blip r:embed="rId7"/>
          <a:stretch>
            <a:fillRect/>
          </a:stretch>
        </p:blipFill>
        <p:spPr>
          <a:xfrm>
            <a:off x="9166098" y="3872484"/>
            <a:ext cx="1421892" cy="1421892"/>
          </a:xfrm>
          <a:prstGeom prst="rect">
            <a:avLst/>
          </a:prstGeom>
        </p:spPr>
      </p:pic>
      <p:sp>
        <p:nvSpPr>
          <p:cNvPr id="36" name="Rectangle 35"/>
          <p:cNvSpPr/>
          <p:nvPr/>
        </p:nvSpPr>
        <p:spPr>
          <a:xfrm>
            <a:off x="8241792"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1792"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Anti-Spark Filter</a:t>
            </a:r>
          </a:p>
        </p:txBody>
      </p:sp>
      <p:sp>
        <p:nvSpPr>
          <p:cNvPr id="38" name="TextBox 37"/>
          <p:cNvSpPr txBox="1"/>
          <p:nvPr/>
        </p:nvSpPr>
        <p:spPr>
          <a:xfrm>
            <a:off x="8241792"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XT60 · 6S · 150 A · inrush limiter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Ground Control &amp; Support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24</a:t>
            </a:r>
          </a:p>
        </p:txBody>
      </p:sp>
      <p:sp>
        <p:nvSpPr>
          <p:cNvPr id="9" name="Rounded Rectangle 8"/>
          <p:cNvSpPr/>
          <p:nvPr/>
        </p:nvSpPr>
        <p:spPr>
          <a:xfrm>
            <a:off x="566928"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adio.png"/>
          <p:cNvPicPr>
            <a:picLocks noChangeAspect="1"/>
          </p:cNvPicPr>
          <p:nvPr/>
        </p:nvPicPr>
        <p:blipFill>
          <a:blip r:embed="rId2"/>
          <a:stretch>
            <a:fillRect/>
          </a:stretch>
        </p:blipFill>
        <p:spPr>
          <a:xfrm>
            <a:off x="1516380" y="2377440"/>
            <a:ext cx="1591056" cy="1591056"/>
          </a:xfrm>
          <a:prstGeom prst="rect">
            <a:avLst/>
          </a:prstGeom>
        </p:spPr>
      </p:pic>
      <p:sp>
        <p:nvSpPr>
          <p:cNvPr id="11" name="Rectangle 10"/>
          <p:cNvSpPr/>
          <p:nvPr/>
        </p:nvSpPr>
        <p:spPr>
          <a:xfrm>
            <a:off x="676656"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RadioMaster TX12 Mark II</a:t>
            </a:r>
          </a:p>
        </p:txBody>
      </p:sp>
      <p:sp>
        <p:nvSpPr>
          <p:cNvPr id="13" name="TextBox 12"/>
          <p:cNvSpPr txBox="1"/>
          <p:nvPr/>
        </p:nvSpPr>
        <p:spPr>
          <a:xfrm>
            <a:off x="676656"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ELRS 2.4 GHz · EdgeTX · hall gimbals</a:t>
            </a:r>
          </a:p>
        </p:txBody>
      </p:sp>
      <p:sp>
        <p:nvSpPr>
          <p:cNvPr id="14" name="Rounded Rectangle 13"/>
          <p:cNvSpPr/>
          <p:nvPr/>
        </p:nvSpPr>
        <p:spPr>
          <a:xfrm>
            <a:off x="4349496"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png"/>
          <p:cNvPicPr>
            <a:picLocks noChangeAspect="1"/>
          </p:cNvPicPr>
          <p:nvPr/>
        </p:nvPicPr>
        <p:blipFill>
          <a:blip r:embed="rId3"/>
          <a:stretch>
            <a:fillRect/>
          </a:stretch>
        </p:blipFill>
        <p:spPr>
          <a:xfrm>
            <a:off x="5298948" y="2377440"/>
            <a:ext cx="1591056" cy="1591056"/>
          </a:xfrm>
          <a:prstGeom prst="rect">
            <a:avLst/>
          </a:prstGeom>
        </p:spPr>
      </p:pic>
      <p:sp>
        <p:nvSpPr>
          <p:cNvPr id="16" name="Rectangle 15"/>
          <p:cNvSpPr/>
          <p:nvPr/>
        </p:nvSpPr>
        <p:spPr>
          <a:xfrm>
            <a:off x="4459224"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TrueRC X-AIR 5.8 MK II</a:t>
            </a:r>
          </a:p>
        </p:txBody>
      </p:sp>
      <p:sp>
        <p:nvSpPr>
          <p:cNvPr id="18" name="TextBox 17"/>
          <p:cNvSpPr txBox="1"/>
          <p:nvPr/>
        </p:nvSpPr>
        <p:spPr>
          <a:xfrm>
            <a:off x="4459224"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10 dBic patch · 120° · RHCP (ground)</a:t>
            </a:r>
          </a:p>
        </p:txBody>
      </p:sp>
      <p:sp>
        <p:nvSpPr>
          <p:cNvPr id="19" name="Rounded Rectangle 18"/>
          <p:cNvSpPr/>
          <p:nvPr/>
        </p:nvSpPr>
        <p:spPr>
          <a:xfrm>
            <a:off x="8132064"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ger.png"/>
          <p:cNvPicPr>
            <a:picLocks noChangeAspect="1"/>
          </p:cNvPicPr>
          <p:nvPr/>
        </p:nvPicPr>
        <p:blipFill>
          <a:blip r:embed="rId4"/>
          <a:stretch>
            <a:fillRect/>
          </a:stretch>
        </p:blipFill>
        <p:spPr>
          <a:xfrm>
            <a:off x="9081516" y="2377440"/>
            <a:ext cx="1591056" cy="1591056"/>
          </a:xfrm>
          <a:prstGeom prst="rect">
            <a:avLst/>
          </a:prstGeom>
        </p:spPr>
      </p:pic>
      <p:sp>
        <p:nvSpPr>
          <p:cNvPr id="21" name="Rectangle 20"/>
          <p:cNvSpPr/>
          <p:nvPr/>
        </p:nvSpPr>
        <p:spPr>
          <a:xfrm>
            <a:off x="8241792"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HOTA D6 Pro</a:t>
            </a:r>
          </a:p>
        </p:txBody>
      </p:sp>
      <p:sp>
        <p:nvSpPr>
          <p:cNvPr id="23" name="TextBox 22"/>
          <p:cNvSpPr txBox="1"/>
          <p:nvPr/>
        </p:nvSpPr>
        <p:spPr>
          <a:xfrm>
            <a:off x="8241792"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AC 200 / DC 650 W · dual · Li-ion + LiPo</a:t>
            </a:r>
          </a:p>
        </p:txBody>
      </p:sp>
      <p:sp>
        <p:nvSpPr>
          <p:cNvPr id="24" name="Rounded Rectangle 23"/>
          <p:cNvSpPr/>
          <p:nvPr/>
        </p:nvSpPr>
        <p:spPr>
          <a:xfrm>
            <a:off x="566928" y="5943600"/>
            <a:ext cx="11055096" cy="5486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943600"/>
            <a:ext cx="10689336" cy="548640"/>
          </a:xfrm>
          <a:prstGeom prst="rect">
            <a:avLst/>
          </a:prstGeom>
          <a:noFill/>
        </p:spPr>
        <p:txBody>
          <a:bodyPr wrap="square" anchor="ctr" lIns="0" rIns="0" tIns="0" bIns="0">
            <a:spAutoFit/>
          </a:bodyPr>
          <a:lstStyle/>
          <a:p>
            <a:pPr algn="l">
              <a:lnSpc>
                <a:spcPct val="105000"/>
              </a:lnSpc>
              <a:spcBef>
                <a:spcPts val="0"/>
              </a:spcBef>
              <a:spcAft>
                <a:spcPts val="400"/>
              </a:spcAft>
            </a:pPr>
            <a:r>
              <a:rPr sz="1100" b="1" i="0">
                <a:solidFill>
                  <a:srgbClr val="0F2540"/>
                </a:solidFill>
                <a:latin typeface="Segoe UI"/>
              </a:rPr>
              <a:t>Also in the ground / support kit:  </a:t>
            </a:r>
            <a:r>
              <a:rPr sz="1100" b="0" i="0">
                <a:solidFill>
                  <a:srgbClr val="1E2833"/>
                </a:solidFill>
                <a:latin typeface="Segoe UI"/>
              </a:rPr>
              <a:t>Skydroid 150CH 5.8 GHz UVC video receiver ($44)  ·  HGLRC Hermes ELRS USB telemetry dongle ($16)  ·  GPS (iFlight BLITZ M10, bundled with the airframe)  ·  MacBook Air GCS (existing).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1 — Endurance (Flight Time)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25</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Momentum / actuator-disk (blade-element) model with a forward-flight parasitic-drag term — the same physics family as eCalc. Holistic sweep crosses airframe × battery × payload, filtered by the compatibility rules. </a:t>
            </a:r>
            <a:r>
              <a:rPr sz="1050" b="1" i="0">
                <a:solidFill>
                  <a:srgbClr val="C12727"/>
                </a:solidFill>
                <a:latin typeface="Segoe UI"/>
              </a:rPr>
              <a:t>Fidelity: first-order comparative; FoM 0.65, η 0.80, ρ 1.225, C_d 1.0. Not yet validated against measured hover current.</a:t>
            </a:r>
          </a:p>
        </p:txBody>
      </p:sp>
      <p:sp>
        <p:nvSpPr>
          <p:cNvPr id="12" name="TextBox 11"/>
          <p:cNvSpPr txBox="1"/>
          <p:nvPr/>
        </p:nvSpPr>
        <p:spPr>
          <a:xfrm>
            <a:off x="566928" y="2788920"/>
            <a:ext cx="5532120" cy="32004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Requirements verified.  </a:t>
            </a:r>
            <a:r>
              <a:rPr sz="1300" b="0">
                <a:solidFill>
                  <a:srgbClr val="1E2833"/>
                </a:solidFill>
                <a:latin typeface="Segoe UI"/>
              </a:rPr>
              <a:t>R6 (≥ 30 min) and R8 stretch (≥ 60 min); R4 cost checked per config.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Scope.  </a:t>
            </a:r>
            <a:r>
              <a:rPr sz="1300" b="0">
                <a:solidFill>
                  <a:srgbClr val="1E2833"/>
                </a:solidFill>
                <a:latin typeface="Segoe UI"/>
              </a:rPr>
              <a:t>34 compatible configs (airframe × battery × VTX crossed; T13 + NanoPi M5 fixed) — filtered by the cell-count rule (P1).</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 baseline.  </a:t>
            </a:r>
            <a:r>
              <a:rPr sz="1300" b="0">
                <a:solidFill>
                  <a:srgbClr val="1E2833"/>
                </a:solidFill>
                <a:latin typeface="Segoe UI"/>
              </a:rPr>
              <a:t>Chimera9 ECO + 6S 12 Ah Amprius → 58.4 min hover at ~15% throttle (16.85 W payload), 1,751 g AUW.</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Power bucket.  </a:t>
            </a:r>
            <a:r>
              <a:rPr sz="1300" b="0">
                <a:solidFill>
                  <a:srgbClr val="1E2833"/>
                </a:solidFill>
                <a:latin typeface="Segoe UI"/>
              </a:rPr>
              <a:t>Slow cruise (2.23 m/s) can exceed hover via translational lift — cruise ≈ 60 min, modeled explicitly.</a:t>
            </a:r>
          </a:p>
        </p:txBody>
      </p:sp>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58.4 min</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Baseline hover endurance</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15 %</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Hover throttle (large margin)</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R6 ✓ / R8 ✗</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30 min met; 60 min stretch not</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34</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Compatible configs swept</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INTEGRATED WITH THE MODEL</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5000"/>
              </a:lnSpc>
              <a:spcBef>
                <a:spcPts val="0"/>
              </a:spcBef>
              <a:spcAft>
                <a:spcPts val="400"/>
              </a:spcAft>
            </a:pPr>
            <a:r>
              <a:rPr sz="1050" b="0" i="0">
                <a:solidFill>
                  <a:srgbClr val="1E2833"/>
                </a:solidFill>
                <a:latin typeface="Segoe UI"/>
              </a:rPr>
              <a:t>The script reads component + battery data directly from candidates.sysml, applies the model's compatibility rules, and writes back ranked results (CSV + a SysML v2 instance table) — a closed loop, not a standalone spreadsheet.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Endurance vs. Cost — Full Configuration Trade Space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26</a:t>
            </a:r>
          </a:p>
        </p:txBody>
      </p:sp>
      <p:sp>
        <p:nvSpPr>
          <p:cNvPr id="9" name="Rectangle 8"/>
          <p:cNvSpPr/>
          <p:nvPr/>
        </p:nvSpPr>
        <p:spPr>
          <a:xfrm>
            <a:off x="709012" y="1234440"/>
            <a:ext cx="7396792"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st_vs_flighttime.png"/>
          <p:cNvPicPr>
            <a:picLocks noChangeAspect="1"/>
          </p:cNvPicPr>
          <p:nvPr/>
        </p:nvPicPr>
        <p:blipFill>
          <a:blip r:embed="rId2"/>
          <a:stretch>
            <a:fillRect/>
          </a:stretch>
        </p:blipFill>
        <p:spPr>
          <a:xfrm>
            <a:off x="763876" y="1289304"/>
            <a:ext cx="7287064" cy="473659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Every compatible real configuration: total system cost vs. flight time, colored by airframe (R4/R6/R8 reference lines)</a:t>
            </a:r>
          </a:p>
        </p:txBody>
      </p:sp>
      <p:sp>
        <p:nvSpPr>
          <p:cNvPr id="12" name="TextBox 11"/>
          <p:cNvSpPr txBox="1"/>
          <p:nvPr/>
        </p:nvSpPr>
        <p:spPr>
          <a:xfrm>
            <a:off x="8275320" y="1371600"/>
            <a:ext cx="333756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Reading it.  </a:t>
            </a:r>
            <a:r>
              <a:rPr sz="1300" b="0">
                <a:solidFill>
                  <a:srgbClr val="1E2833"/>
                </a:solidFill>
                <a:latin typeface="Segoe UI"/>
              </a:rPr>
              <a:t>Each point is a real, purchasable build. Vertical line = $2,500 (R4); horizontals = 30 min (R6) and 60 min (R8).</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a:t>
            </a:r>
            <a:r>
              <a:rPr sz="1300" b="0">
                <a:solidFill>
                  <a:srgbClr val="1E2833"/>
                </a:solidFill>
                <a:latin typeface="Segoe UI"/>
              </a:rPr>
              <a:t>The entire selected trade space sits left of the R4 cap and above R6 — cost is not the binding constraint.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region.  </a:t>
            </a:r>
            <a:r>
              <a:rPr sz="1300" b="0">
                <a:solidFill>
                  <a:srgbClr val="1E2833"/>
                </a:solidFill>
                <a:latin typeface="Segoe UI"/>
              </a:rPr>
              <a:t>The reference build lands at ≈ $1,850 / 58 min — comfortable margin on both axes.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Stretch (R8).  </a:t>
            </a:r>
            <a:r>
              <a:rPr sz="1300" b="0">
                <a:solidFill>
                  <a:srgbClr val="1E2833"/>
                </a:solidFill>
                <a:latin typeface="Segoe UI"/>
              </a:rPr>
              <a:t>60 min hover is not reached by any config with the fixed T13 + NanoPi M5 payload; cruise endurance approaches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2 — Thermal Detection (Johnson Criteria)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27</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2000"/>
              </a:lnSpc>
              <a:spcBef>
                <a:spcPts val="0"/>
              </a:spcBef>
              <a:spcAft>
                <a:spcPts val="400"/>
              </a:spcAft>
            </a:pPr>
            <a:r>
              <a:rPr sz="1050" b="0" i="0">
                <a:solidFill>
                  <a:srgbClr val="1E2833"/>
                </a:solidFill>
                <a:latin typeface="Segoe UI"/>
              </a:rPr>
              <a:t>Geometric optics: ground sample distance (GSD) from sensor pitch, lens, altitude → pixels-on-target vs. Johnson criteria (detect ≥ 1.5 px, recognize ≥ 4 px across the target's minimum dimension). </a:t>
            </a:r>
            <a:r>
              <a:rPr sz="1050" b="1" i="0">
                <a:solidFill>
                  <a:srgbClr val="C12727"/>
                </a:solidFill>
                <a:latin typeface="Segoe UI"/>
              </a:rPr>
              <a:t>Fidelity: deterministic; assumes ≥ 5 °C target-to-background thermal contrast (daytime IR signature). Species-level classification ultimately relies on the trained AI model (Phase 3) — field capture pending.</a:t>
            </a:r>
          </a:p>
        </p:txBody>
      </p:sp>
      <p:graphicFrame>
        <p:nvGraphicFramePr>
          <p:cNvPr id="12" name="Table 11"/>
          <p:cNvGraphicFramePr>
            <a:graphicFrameLocks noGrp="1"/>
          </p:cNvGraphicFramePr>
          <p:nvPr/>
        </p:nvGraphicFramePr>
        <p:xfrm>
          <a:off x="566928" y="2788920"/>
          <a:ext cx="5532120" cy="2395728"/>
        </p:xfrm>
        <a:graphic>
          <a:graphicData uri="http://schemas.openxmlformats.org/drawingml/2006/table">
            <a:tbl>
              <a:tblPr>
                <a:tableStyleId>{5C22544A-7EE6-4342-B048-85BDC9FD1C3A}</a:tableStyleId>
              </a:tblPr>
              <a:tblGrid>
                <a:gridCol w="3063240"/>
                <a:gridCol w="1005840"/>
                <a:gridCol w="1463040"/>
              </a:tblGrid>
              <a:tr h="310896">
                <a:tc>
                  <a:txBody>
                    <a:bodyPr wrap="square"/>
                    <a:lstStyle/>
                    <a:p>
                      <a:pPr algn="l"/>
                      <a:r>
                        <a:rPr sz="1050" b="1">
                          <a:solidFill>
                            <a:srgbClr val="FFFFFF"/>
                          </a:solidFill>
                          <a:latin typeface="Segoe UI"/>
                        </a:rPr>
                        <a:t>Target @ altitude</a:t>
                      </a:r>
                    </a:p>
                  </a:txBody>
                  <a:tcPr marL="54864" marR="54864" marT="18288" marB="18288" anchor="ctr">
                    <a:solidFill>
                      <a:srgbClr val="0F2540"/>
                    </a:solidFill>
                  </a:tcPr>
                </a:tc>
                <a:tc>
                  <a:txBody>
                    <a:bodyPr wrap="square"/>
                    <a:lstStyle/>
                    <a:p>
                      <a:pPr algn="ctr"/>
                      <a:r>
                        <a:rPr sz="1050" b="1">
                          <a:solidFill>
                            <a:srgbClr val="FFFFFF"/>
                          </a:solidFill>
                          <a:latin typeface="Segoe UI"/>
                        </a:rPr>
                        <a:t>Min px</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347472">
                <a:tc>
                  <a:txBody>
                    <a:bodyPr wrap="square"/>
                    <a:lstStyle/>
                    <a:p>
                      <a:pPr algn="l"/>
                      <a:r>
                        <a:rPr sz="1050" b="0">
                          <a:solidFill>
                            <a:srgbClr val="1E2833"/>
                          </a:solidFill>
                          <a:latin typeface="Segoe UI"/>
                        </a:rPr>
                        <a:t>0.5 m target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Recognize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0.5 m target @ 120 m</a:t>
                      </a:r>
                    </a:p>
                  </a:txBody>
                  <a:tcPr marL="54864" marR="54864" marT="18288" marB="18288" anchor="ctr">
                    <a:solidFill>
                      <a:srgbClr val="F6F8FA"/>
                    </a:solidFill>
                  </a:tcPr>
                </a:tc>
                <a:tc>
                  <a:txBody>
                    <a:bodyPr wrap="square"/>
                    <a:lstStyle/>
                    <a:p>
                      <a:pPr algn="ctr"/>
                      <a:r>
                        <a:rPr sz="1050" b="0">
                          <a:solidFill>
                            <a:srgbClr val="1E2833"/>
                          </a:solidFill>
                          <a:latin typeface="Segoe UI"/>
                        </a:rPr>
                        <a:t>4.5</a:t>
                      </a:r>
                    </a:p>
                  </a:txBody>
                  <a:tcPr marL="54864" marR="54864" marT="18288" marB="18288" anchor="ctr">
                    <a:solidFill>
                      <a:srgbClr val="F6F8FA"/>
                    </a:solidFill>
                  </a:tcPr>
                </a:tc>
                <a:tc>
                  <a:txBody>
                    <a:bodyPr wrap="square"/>
                    <a:lstStyle/>
                    <a:p>
                      <a:pPr algn="ctr"/>
                      <a:r>
                        <a:rPr sz="1050" b="0">
                          <a:solidFill>
                            <a:srgbClr val="2E7D32"/>
                          </a:solidFill>
                          <a:latin typeface="Segoe UI"/>
                        </a:rPr>
                        <a:t>Recognize ✓</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Deer @ 120 m (R3.1)</a:t>
                      </a:r>
                    </a:p>
                  </a:txBody>
                  <a:tcPr marL="54864" marR="54864" marT="18288" marB="18288" anchor="ctr">
                    <a:solidFill>
                      <a:srgbClr val="FFFFFF"/>
                    </a:solidFill>
                  </a:tcPr>
                </a:tc>
                <a:tc>
                  <a:txBody>
                    <a:bodyPr wrap="square"/>
                    <a:lstStyle/>
                    <a:p>
                      <a:pPr algn="ctr"/>
                      <a:r>
                        <a:rPr sz="1050" b="0">
                          <a:solidFill>
                            <a:srgbClr val="1E2833"/>
                          </a:solidFill>
                          <a:latin typeface="Segoe UI"/>
                        </a:rPr>
                        <a:t>4.5</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Deer @ 90 m</a:t>
                      </a:r>
                    </a:p>
                  </a:txBody>
                  <a:tcPr marL="54864" marR="54864" marT="18288" marB="18288" anchor="ctr">
                    <a:solidFill>
                      <a:srgbClr val="F6F8FA"/>
                    </a:solidFill>
                  </a:tcPr>
                </a:tc>
                <a:tc>
                  <a:txBody>
                    <a:bodyPr wrap="square"/>
                    <a:lstStyle/>
                    <a:p>
                      <a:pPr algn="ctr"/>
                      <a:r>
                        <a:rPr sz="1050" b="0">
                          <a:solidFill>
                            <a:srgbClr val="1E2833"/>
                          </a:solidFill>
                          <a:latin typeface="Segoe UI"/>
                        </a:rPr>
                        <a:t>6.0</a:t>
                      </a:r>
                    </a:p>
                  </a:txBody>
                  <a:tcPr marL="54864" marR="54864" marT="18288" marB="18288" anchor="ctr">
                    <a:solidFill>
                      <a:srgbClr val="F6F8FA"/>
                    </a:solidFill>
                  </a:tcPr>
                </a:tc>
                <a:tc>
                  <a:txBody>
                    <a:bodyPr wrap="square"/>
                    <a:lstStyle/>
                    <a:p>
                      <a:pPr algn="ctr"/>
                      <a:r>
                        <a:rPr sz="1050" b="0">
                          <a:solidFill>
                            <a:srgbClr val="D9821E"/>
                          </a:solidFill>
                          <a:latin typeface="Segoe UI"/>
                        </a:rPr>
                        <a:t>Detect / recog.</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Human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Turkey @ 120 m</a:t>
                      </a:r>
                    </a:p>
                  </a:txBody>
                  <a:tcPr marL="54864" marR="54864" marT="18288" marB="18288" anchor="ctr">
                    <a:solidFill>
                      <a:srgbClr val="F6F8FA"/>
                    </a:solidFill>
                  </a:tcPr>
                </a:tc>
                <a:tc>
                  <a:txBody>
                    <a:bodyPr wrap="square"/>
                    <a:lstStyle/>
                    <a:p>
                      <a:pPr algn="ctr"/>
                      <a:r>
                        <a:rPr sz="1050" b="0">
                          <a:solidFill>
                            <a:srgbClr val="1E2833"/>
                          </a:solidFill>
                          <a:latin typeface="Segoe UI"/>
                        </a:rPr>
                        <a:t>2.7</a:t>
                      </a:r>
                    </a:p>
                  </a:txBody>
                  <a:tcPr marL="54864" marR="54864" marT="18288" marB="18288" anchor="ctr">
                    <a:solidFill>
                      <a:srgbClr val="F6F8FA"/>
                    </a:solidFill>
                  </a:tcPr>
                </a:tc>
                <a:tc>
                  <a:txBody>
                    <a:bodyPr wrap="square"/>
                    <a:lstStyle/>
                    <a:p>
                      <a:pPr algn="ctr"/>
                      <a:r>
                        <a:rPr sz="1050" b="0">
                          <a:solidFill>
                            <a:srgbClr val="D9821E"/>
                          </a:solidFill>
                          <a:latin typeface="Segoe UI"/>
                        </a:rPr>
                        <a:t>Marginal</a:t>
                      </a:r>
                    </a:p>
                  </a:txBody>
                  <a:tcPr marL="54864" marR="54864" marT="18288" marB="18288" anchor="ctr">
                    <a:solidFill>
                      <a:srgbClr val="F6F8FA"/>
                    </a:solidFill>
                  </a:tcPr>
                </a:tc>
              </a:tr>
            </a:tbl>
          </a:graphicData>
        </a:graphic>
      </p:graphicFrame>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8.3 cm</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90 m</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11.1 cm</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120 m</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640×512</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Sensor, 12 µm pitch, 13 mm lens</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R3.1 ✓</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Deer detection @ 120 m</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INTERPRETATION</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Optics deliver detection-grade pixels-on-target for deer/human across 90–120 m and recognition-grade for a 0.5 m target. Robust species classification (R3.2) is the AI model's job and the key validation risk — confirmed by field thermal capture, not geometry alone.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3 — RF Link Budget (2.8 km / R7)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28</a:t>
            </a:r>
          </a:p>
        </p:txBody>
      </p:sp>
      <p:sp>
        <p:nvSpPr>
          <p:cNvPr id="9" name="TextBox 8"/>
          <p:cNvSpPr txBox="1"/>
          <p:nvPr/>
        </p:nvSpPr>
        <p:spPr>
          <a:xfrm>
            <a:off x="566928" y="1170432"/>
            <a:ext cx="11055096" cy="5029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&amp; fidelity:  </a:t>
            </a:r>
            <a:r>
              <a:rPr sz="1150" b="0" i="0">
                <a:solidFill>
                  <a:srgbClr val="1E2833"/>
                </a:solidFill>
                <a:latin typeface="Segoe UI"/>
              </a:rPr>
              <a:t>free-space path loss (FSPL) at each link's frequency, design target ≥ 10 dB fade margin at 2.8 km. Fidelity: free-space model; the fade margin absorbs foliage / multipath / polarization loss. Not yet range-tested.</a:t>
            </a:r>
          </a:p>
        </p:txBody>
      </p:sp>
      <p:graphicFrame>
        <p:nvGraphicFramePr>
          <p:cNvPr id="10" name="Table 9"/>
          <p:cNvGraphicFramePr>
            <a:graphicFrameLocks noGrp="1"/>
          </p:cNvGraphicFramePr>
          <p:nvPr/>
        </p:nvGraphicFramePr>
        <p:xfrm>
          <a:off x="566928" y="1874519"/>
          <a:ext cx="11055096" cy="1993392"/>
        </p:xfrm>
        <a:graphic>
          <a:graphicData uri="http://schemas.openxmlformats.org/drawingml/2006/table">
            <a:tbl>
              <a:tblPr>
                <a:tableStyleId>{5C22544A-7EE6-4342-B048-85BDC9FD1C3A}</a:tableStyleId>
              </a:tblPr>
              <a:tblGrid>
                <a:gridCol w="4572000"/>
                <a:gridCol w="1280160"/>
                <a:gridCol w="2194560"/>
                <a:gridCol w="1737360"/>
                <a:gridCol w="1271016"/>
              </a:tblGrid>
              <a:tr h="310896">
                <a:tc>
                  <a:txBody>
                    <a:bodyPr wrap="square"/>
                    <a:lstStyle/>
                    <a:p>
                      <a:pPr algn="l"/>
                      <a:r>
                        <a:rPr sz="1050" b="1">
                          <a:solidFill>
                            <a:srgbClr val="FFFFFF"/>
                          </a:solidFill>
                          <a:latin typeface="Segoe UI"/>
                        </a:rPr>
                        <a:t>RF link</a:t>
                      </a:r>
                    </a:p>
                  </a:txBody>
                  <a:tcPr marL="54864" marR="54864" marT="18288" marB="18288" anchor="ctr">
                    <a:solidFill>
                      <a:srgbClr val="0F2540"/>
                    </a:solidFill>
                  </a:tcPr>
                </a:tc>
                <a:tc>
                  <a:txBody>
                    <a:bodyPr wrap="square"/>
                    <a:lstStyle/>
                    <a:p>
                      <a:pPr algn="ctr"/>
                      <a:r>
                        <a:rPr sz="1050" b="1">
                          <a:solidFill>
                            <a:srgbClr val="FFFFFF"/>
                          </a:solidFill>
                          <a:latin typeface="Segoe UI"/>
                        </a:rPr>
                        <a:t>TX</a:t>
                      </a:r>
                    </a:p>
                  </a:txBody>
                  <a:tcPr marL="54864" marR="54864" marT="18288" marB="18288" anchor="ctr">
                    <a:solidFill>
                      <a:srgbClr val="0F2540"/>
                    </a:solidFill>
                  </a:tcPr>
                </a:tc>
                <a:tc>
                  <a:txBody>
                    <a:bodyPr wrap="square"/>
                    <a:lstStyle/>
                    <a:p>
                      <a:pPr algn="ctr"/>
                      <a:r>
                        <a:rPr sz="1050" b="1">
                          <a:solidFill>
                            <a:srgbClr val="FFFFFF"/>
                          </a:solidFill>
                          <a:latin typeface="Segoe UI"/>
                        </a:rPr>
                        <a:t>Margin @ 2.8 km</a:t>
                      </a:r>
                    </a:p>
                  </a:txBody>
                  <a:tcPr marL="54864" marR="54864" marT="18288" marB="18288" anchor="ctr">
                    <a:solidFill>
                      <a:srgbClr val="0F2540"/>
                    </a:solidFill>
                  </a:tcPr>
                </a:tc>
                <a:tc>
                  <a:txBody>
                    <a:bodyPr wrap="square"/>
                    <a:lstStyle/>
                    <a:p>
                      <a:pPr algn="ctr"/>
                      <a:r>
                        <a:rPr sz="1050" b="1">
                          <a:solidFill>
                            <a:srgbClr val="FFFFFF"/>
                          </a:solidFill>
                          <a:latin typeface="Segoe UI"/>
                        </a:rPr>
                        <a:t>Reliable range</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420624">
                <a:tc>
                  <a:txBody>
                    <a:bodyPr wrap="square"/>
                    <a:lstStyle/>
                    <a:p>
                      <a:pPr algn="l"/>
                      <a:r>
                        <a:rPr sz="1100" b="0">
                          <a:solidFill>
                            <a:srgbClr val="1E2833"/>
                          </a:solidFill>
                          <a:latin typeface="Segoe UI"/>
                        </a:rPr>
                        <a:t>Analog FPV video (5.8 GHz + patch)</a:t>
                      </a:r>
                    </a:p>
                  </a:txBody>
                  <a:tcPr marL="54864" marR="54864" marT="18288" marB="18288" anchor="ctr">
                    <a:solidFill>
                      <a:srgbClr val="FFFFFF"/>
                    </a:solidFill>
                  </a:tcPr>
                </a:tc>
                <a:tc>
                  <a:txBody>
                    <a:bodyPr wrap="square"/>
                    <a:lstStyle/>
                    <a:p>
                      <a:pPr algn="ctr"/>
                      <a:r>
                        <a:rPr sz="1100" b="0">
                          <a:solidFill>
                            <a:srgbClr val="1E2833"/>
                          </a:solidFill>
                          <a:latin typeface="Segoe UI"/>
                        </a:rPr>
                        <a:t>32 dBm</a:t>
                      </a:r>
                    </a:p>
                  </a:txBody>
                  <a:tcPr marL="54864" marR="54864" marT="18288" marB="18288" anchor="ctr">
                    <a:solidFill>
                      <a:srgbClr val="FFFFFF"/>
                    </a:solidFill>
                  </a:tcPr>
                </a:tc>
                <a:tc>
                  <a:txBody>
                    <a:bodyPr wrap="square"/>
                    <a:lstStyle/>
                    <a:p>
                      <a:pPr algn="ctr"/>
                      <a:r>
                        <a:rPr sz="1100" b="0">
                          <a:solidFill>
                            <a:srgbClr val="2E7D32"/>
                          </a:solidFill>
                          <a:latin typeface="Segoe UI"/>
                        </a:rPr>
                        <a:t>+15.3 dB</a:t>
                      </a:r>
                    </a:p>
                  </a:txBody>
                  <a:tcPr marL="54864" marR="54864" marT="18288" marB="18288" anchor="ctr">
                    <a:solidFill>
                      <a:srgbClr val="FFFFFF"/>
                    </a:solidFill>
                  </a:tcPr>
                </a:tc>
                <a:tc>
                  <a:txBody>
                    <a:bodyPr wrap="square"/>
                    <a:lstStyle/>
                    <a:p>
                      <a:pPr algn="ctr"/>
                      <a:r>
                        <a:rPr sz="1100" b="0">
                          <a:solidFill>
                            <a:srgbClr val="1E2833"/>
                          </a:solidFill>
                          <a:latin typeface="Segoe UI"/>
                        </a:rPr>
                        <a:t>5.2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Control uplink (2.4 GHz ELRS)</a:t>
                      </a:r>
                    </a:p>
                  </a:txBody>
                  <a:tcPr marL="54864" marR="54864" marT="18288" marB="18288" anchor="ctr">
                    <a:solidFill>
                      <a:srgbClr val="F6F8FA"/>
                    </a:solidFill>
                  </a:tcPr>
                </a:tc>
                <a:tc>
                  <a:txBody>
                    <a:bodyPr wrap="square"/>
                    <a:lstStyle/>
                    <a:p>
                      <a:pPr algn="ctr"/>
                      <a:r>
                        <a:rPr sz="1100" b="0">
                          <a:solidFill>
                            <a:srgbClr val="1E2833"/>
                          </a:solidFill>
                          <a:latin typeface="Segoe UI"/>
                        </a:rPr>
                        <a:t>24 dBm</a:t>
                      </a:r>
                    </a:p>
                  </a:txBody>
                  <a:tcPr marL="54864" marR="54864" marT="18288" marB="18288" anchor="ctr">
                    <a:solidFill>
                      <a:srgbClr val="F6F8FA"/>
                    </a:solidFill>
                  </a:tcPr>
                </a:tc>
                <a:tc>
                  <a:txBody>
                    <a:bodyPr wrap="square"/>
                    <a:lstStyle/>
                    <a:p>
                      <a:pPr algn="ctr"/>
                      <a:r>
                        <a:rPr sz="1100" b="0">
                          <a:solidFill>
                            <a:srgbClr val="2E7D32"/>
                          </a:solidFill>
                          <a:latin typeface="Segoe UI"/>
                        </a:rPr>
                        <a:t>+23.0 dB</a:t>
                      </a:r>
                    </a:p>
                  </a:txBody>
                  <a:tcPr marL="54864" marR="54864" marT="18288" marB="18288" anchor="ctr">
                    <a:solidFill>
                      <a:srgbClr val="F6F8FA"/>
                    </a:solidFill>
                  </a:tcPr>
                </a:tc>
                <a:tc>
                  <a:txBody>
                    <a:bodyPr wrap="square"/>
                    <a:lstStyle/>
                    <a:p>
                      <a:pPr algn="ctr"/>
                      <a:r>
                        <a:rPr sz="1100" b="0">
                          <a:solidFill>
                            <a:srgbClr val="1E2833"/>
                          </a:solidFill>
                          <a:latin typeface="Segoe UI"/>
                        </a:rPr>
                        <a:t>12.5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r h="420624">
                <a:tc>
                  <a:txBody>
                    <a:bodyPr wrap="square"/>
                    <a:lstStyle/>
                    <a:p>
                      <a:pPr algn="l"/>
                      <a:r>
                        <a:rPr sz="1100" b="0">
                          <a:solidFill>
                            <a:srgbClr val="1E2833"/>
                          </a:solidFill>
                          <a:latin typeface="Segoe UI"/>
                        </a:rPr>
                        <a:t>Telemetry downlink (2.4 GHz ELRS)</a:t>
                      </a:r>
                    </a:p>
                  </a:txBody>
                  <a:tcPr marL="54864" marR="54864" marT="18288" marB="18288" anchor="ctr">
                    <a:solidFill>
                      <a:srgbClr val="FFFFFF"/>
                    </a:solidFill>
                  </a:tcPr>
                </a:tc>
                <a:tc>
                  <a:txBody>
                    <a:bodyPr wrap="square"/>
                    <a:lstStyle/>
                    <a:p>
                      <a:pPr algn="ctr"/>
                      <a:r>
                        <a:rPr sz="1100" b="0">
                          <a:solidFill>
                            <a:srgbClr val="1E2833"/>
                          </a:solidFill>
                          <a:latin typeface="Segoe UI"/>
                        </a:rPr>
                        <a:t>20 dBm</a:t>
                      </a:r>
                    </a:p>
                  </a:txBody>
                  <a:tcPr marL="54864" marR="54864" marT="18288" marB="18288" anchor="ctr">
                    <a:solidFill>
                      <a:srgbClr val="FFFFFF"/>
                    </a:solidFill>
                  </a:tcPr>
                </a:tc>
                <a:tc>
                  <a:txBody>
                    <a:bodyPr wrap="square"/>
                    <a:lstStyle/>
                    <a:p>
                      <a:pPr algn="ctr"/>
                      <a:r>
                        <a:rPr sz="1100" b="0">
                          <a:solidFill>
                            <a:srgbClr val="2E7D32"/>
                          </a:solidFill>
                          <a:latin typeface="Segoe UI"/>
                        </a:rPr>
                        <a:t>+19.0 dB</a:t>
                      </a:r>
                    </a:p>
                  </a:txBody>
                  <a:tcPr marL="54864" marR="54864" marT="18288" marB="18288" anchor="ctr">
                    <a:solidFill>
                      <a:srgbClr val="FFFFFF"/>
                    </a:solidFill>
                  </a:tcPr>
                </a:tc>
                <a:tc>
                  <a:txBody>
                    <a:bodyPr wrap="square"/>
                    <a:lstStyle/>
                    <a:p>
                      <a:pPr algn="ctr"/>
                      <a:r>
                        <a:rPr sz="1100" b="0">
                          <a:solidFill>
                            <a:srgbClr val="1E2833"/>
                          </a:solidFill>
                          <a:latin typeface="Segoe UI"/>
                        </a:rPr>
                        <a:t>7.9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OpenHD thermal video (5.8 GHz)*</a:t>
                      </a:r>
                    </a:p>
                  </a:txBody>
                  <a:tcPr marL="54864" marR="54864" marT="18288" marB="18288" anchor="ctr">
                    <a:solidFill>
                      <a:srgbClr val="F6F8FA"/>
                    </a:solidFill>
                  </a:tcPr>
                </a:tc>
                <a:tc>
                  <a:txBody>
                    <a:bodyPr wrap="square"/>
                    <a:lstStyle/>
                    <a:p>
                      <a:pPr algn="ctr"/>
                      <a:r>
                        <a:rPr sz="1100" b="0">
                          <a:solidFill>
                            <a:srgbClr val="1E2833"/>
                          </a:solidFill>
                          <a:latin typeface="Segoe UI"/>
                        </a:rPr>
                        <a:t>29 dBm</a:t>
                      </a:r>
                    </a:p>
                  </a:txBody>
                  <a:tcPr marL="54864" marR="54864" marT="18288" marB="18288" anchor="ctr">
                    <a:solidFill>
                      <a:srgbClr val="F6F8FA"/>
                    </a:solidFill>
                  </a:tcPr>
                </a:tc>
                <a:tc>
                  <a:txBody>
                    <a:bodyPr wrap="square"/>
                    <a:lstStyle/>
                    <a:p>
                      <a:pPr algn="ctr"/>
                      <a:r>
                        <a:rPr sz="1100" b="0">
                          <a:solidFill>
                            <a:srgbClr val="2E7D32"/>
                          </a:solidFill>
                          <a:latin typeface="Segoe UI"/>
                        </a:rPr>
                        <a:t>+11.3 dB</a:t>
                      </a:r>
                    </a:p>
                  </a:txBody>
                  <a:tcPr marL="54864" marR="54864" marT="18288" marB="18288" anchor="ctr">
                    <a:solidFill>
                      <a:srgbClr val="F6F8FA"/>
                    </a:solidFill>
                  </a:tcPr>
                </a:tc>
                <a:tc>
                  <a:txBody>
                    <a:bodyPr wrap="square"/>
                    <a:lstStyle/>
                    <a:p>
                      <a:pPr algn="ctr"/>
                      <a:r>
                        <a:rPr sz="1100" b="0">
                          <a:solidFill>
                            <a:srgbClr val="1E2833"/>
                          </a:solidFill>
                          <a:latin typeface="Segoe UI"/>
                        </a:rPr>
                        <a:t>3.3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bl>
          </a:graphicData>
        </a:graphic>
      </p:graphicFrame>
      <p:sp>
        <p:nvSpPr>
          <p:cNvPr id="11" name="TextBox 10"/>
          <p:cNvSpPr txBox="1"/>
          <p:nvPr/>
        </p:nvSpPr>
        <p:spPr>
          <a:xfrm>
            <a:off x="566928" y="4160520"/>
            <a:ext cx="6766560" cy="18288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All links pass 2.8 km with ≥ 10 dB margin.  </a:t>
            </a:r>
            <a:r>
              <a:rPr sz="1300" b="0">
                <a:solidFill>
                  <a:srgbClr val="1E2833"/>
                </a:solidFill>
                <a:latin typeface="Segoe UI"/>
              </a:rPr>
              <a:t>Control/telemetry (ELRS) close the range many times over and are never limiting.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link.  </a:t>
            </a:r>
            <a:r>
              <a:rPr sz="1300" b="0">
                <a:solidFill>
                  <a:srgbClr val="1E2833"/>
                </a:solidFill>
                <a:latin typeface="Segoe UI"/>
              </a:rPr>
              <a:t>Analog FPV video — the TrueRC X-AIR patch antenna (10 dBic) is the enabling component; the stock omni would fail the 10 dB target.</a:t>
            </a:r>
          </a:p>
          <a:p>
            <a:pPr>
              <a:lnSpc>
                <a:spcPct val="104000"/>
              </a:lnSpc>
              <a:spcBef>
                <a:spcPts val="300"/>
              </a:spcBef>
              <a:spcAft>
                <a:spcPts val="300"/>
              </a:spcAft>
            </a:pPr>
            <a:r>
              <a:rPr sz="1400" b="1">
                <a:solidFill>
                  <a:srgbClr val="2E86AB"/>
                </a:solidFill>
                <a:latin typeface="Segoe UI"/>
              </a:rPr>
              <a:t>▸  </a:t>
            </a:r>
            <a:r>
              <a:rPr sz="1250" b="0">
                <a:solidFill>
                  <a:srgbClr val="5C6B7A"/>
                </a:solidFill>
                <a:latin typeface="Segoe UI"/>
              </a:rPr>
              <a:t>* Phase 4 (deferred). OpenHD thermal downlink shown for completeness; dual-diversity Foxeer panels give +11.3 dB.</a:t>
            </a:r>
          </a:p>
        </p:txBody>
      </p:sp>
      <p:sp>
        <p:nvSpPr>
          <p:cNvPr id="12" name="Rounded Rectangle 11"/>
          <p:cNvSpPr/>
          <p:nvPr/>
        </p:nvSpPr>
        <p:spPr>
          <a:xfrm>
            <a:off x="758952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160520"/>
            <a:ext cx="82296" cy="17373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4 / 4</a:t>
            </a:r>
          </a:p>
        </p:txBody>
      </p:sp>
      <p:sp>
        <p:nvSpPr>
          <p:cNvPr id="15" name="TextBox 14"/>
          <p:cNvSpPr txBox="1"/>
          <p:nvPr/>
        </p:nvSpPr>
        <p:spPr>
          <a:xfrm>
            <a:off x="777240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RF links pass R7</a:t>
            </a:r>
          </a:p>
        </p:txBody>
      </p:sp>
      <p:sp>
        <p:nvSpPr>
          <p:cNvPr id="16" name="Rounded Rectangle 15"/>
          <p:cNvSpPr/>
          <p:nvPr/>
        </p:nvSpPr>
        <p:spPr>
          <a:xfrm>
            <a:off x="969264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92640" y="4160520"/>
            <a:ext cx="82296" cy="17373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+10 dB</a:t>
            </a:r>
          </a:p>
        </p:txBody>
      </p:sp>
      <p:sp>
        <p:nvSpPr>
          <p:cNvPr id="19" name="TextBox 18"/>
          <p:cNvSpPr txBox="1"/>
          <p:nvPr/>
        </p:nvSpPr>
        <p:spPr>
          <a:xfrm>
            <a:off x="987552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Fade-margin design target</a:t>
            </a:r>
          </a:p>
        </p:txBody>
      </p:sp>
      <p:sp>
        <p:nvSpPr>
          <p:cNvPr id="20" name="TextBox 19"/>
          <p:cNvSpPr txBox="1"/>
          <p:nvPr/>
        </p:nvSpPr>
        <p:spPr>
          <a:xfrm>
            <a:off x="566928" y="6108192"/>
            <a:ext cx="6766560" cy="384048"/>
          </a:xfrm>
          <a:prstGeom prst="rect">
            <a:avLst/>
          </a:prstGeom>
          <a:noFill/>
        </p:spPr>
        <p:txBody>
          <a:bodyPr wrap="square" anchor="t" lIns="0" rIns="0" tIns="0" bIns="0">
            <a:spAutoFit/>
          </a:bodyPr>
          <a:lstStyle/>
          <a:p>
            <a:pPr algn="l">
              <a:lnSpc>
                <a:spcPct val="100000"/>
              </a:lnSpc>
              <a:spcBef>
                <a:spcPts val="0"/>
              </a:spcBef>
              <a:spcAft>
                <a:spcPts val="400"/>
              </a:spcAft>
            </a:pPr>
            <a:r>
              <a:rPr sz="950" b="1" i="0">
                <a:solidFill>
                  <a:srgbClr val="0F2540"/>
                </a:solidFill>
                <a:latin typeface="Segoe UI"/>
              </a:rPr>
              <a:t>Fade margin = </a:t>
            </a:r>
            <a:r>
              <a:rPr sz="950" b="0" i="0">
                <a:solidFill>
                  <a:srgbClr val="5C6B7A"/>
                </a:solidFill>
                <a:latin typeface="Segoe UI"/>
              </a:rPr>
              <a:t>dB of received-signal headroom above the reliable-link minimum. The ≥ 10 dB target is a ~10× power cushion so the link holds through momentary signal fades (multipath, foliage, bank angle).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4 — Physical Integration (“Does It Fit?”)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29</a:t>
            </a:r>
          </a:p>
        </p:txBody>
      </p:sp>
      <p:sp>
        <p:nvSpPr>
          <p:cNvPr id="9" name="Rounded Rectangle 8"/>
          <p:cNvSpPr/>
          <p:nvPr/>
        </p:nvSpPr>
        <p:spPr>
          <a:xfrm>
            <a:off x="566928" y="1188720"/>
            <a:ext cx="553212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1143000"/>
          </a:xfrm>
          <a:prstGeom prst="rect">
            <a:avLst/>
          </a:prstGeom>
          <a:noFill/>
        </p:spPr>
        <p:txBody>
          <a:bodyPr wrap="square" anchor="t" lIns="0" rIns="0" tIns="0" bIns="0">
            <a:spAutoFit/>
          </a:bodyPr>
          <a:lstStyle/>
          <a:p>
            <a:pPr algn="l">
              <a:lnSpc>
                <a:spcPct val="100000"/>
              </a:lnSpc>
              <a:spcBef>
                <a:spcPts val="0"/>
              </a:spcBef>
              <a:spcAft>
                <a:spcPts val="400"/>
              </a:spcAft>
            </a:pPr>
            <a:r>
              <a:rPr sz="1050" b="0" i="0">
                <a:solidFill>
                  <a:srgbClr val="1E2833"/>
                </a:solidFill>
                <a:latin typeface="Segoe UI"/>
              </a:rPr>
              <a:t>Dimensional model: parses each airframe's usable deck footprint and each battery / SBC envelope, then emits a 3-tier fit verdict (fits / marginal / no-fit, ±12 mm tolerance) with deck-margin. </a:t>
            </a:r>
            <a:r>
              <a:rPr sz="1050" b="1" i="0">
                <a:solidFill>
                  <a:srgbClr val="C12727"/>
                </a:solidFill>
                <a:latin typeface="Segoe UI"/>
              </a:rPr>
              <a:t>Fidelity: deck dimensions are mostly ESTIMATES (≈ 0.27 × wheelbase); battery envelopes validated against the one confirmed pack. Confirm the selected frame's real deck before build.</a:t>
            </a:r>
          </a:p>
        </p:txBody>
      </p:sp>
      <p:sp>
        <p:nvSpPr>
          <p:cNvPr id="12" name="TextBox 11"/>
          <p:cNvSpPr txBox="1"/>
          <p:nvPr/>
        </p:nvSpPr>
        <p:spPr>
          <a:xfrm>
            <a:off x="566928" y="2971800"/>
            <a:ext cx="5532120" cy="30175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constraint.  </a:t>
            </a:r>
            <a:r>
              <a:rPr sz="1300" b="0">
                <a:solidFill>
                  <a:srgbClr val="1E2833"/>
                </a:solidFill>
                <a:latin typeface="Segoe UI"/>
              </a:rPr>
              <a:t>The NanoPi M5 footprint (90 × 62 mm) — the thermal camera is nose-mounted and never an issue.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frame.  </a:t>
            </a:r>
            <a:r>
              <a:rPr sz="1300" b="0">
                <a:solidFill>
                  <a:srgbClr val="1E2833"/>
                </a:solidFill>
                <a:latin typeface="Segoe UI"/>
              </a:rPr>
              <a:t>Chimera9 ECO deck ≈ 110 × 70 mm → SBC fits with ~8 mm spare (a key reason it was chosen over the endurance leader).</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General pattern.  </a:t>
            </a:r>
            <a:r>
              <a:rPr sz="1300" b="0">
                <a:solidFill>
                  <a:srgbClr val="1E2833"/>
                </a:solidFill>
                <a:latin typeface="Segoe UI"/>
              </a:rPr>
              <a:t>9–10" frames fit cleanly; 7.5–9" are marginal (custom deck); the pure endurance winner (DarwinFPV 129) is NO-FIT.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Status.  </a:t>
            </a:r>
            <a:r>
              <a:rPr sz="1300" b="0">
                <a:solidFill>
                  <a:srgbClr val="1E2833"/>
                </a:solidFill>
                <a:latin typeface="Segoe UI"/>
              </a:rPr>
              <a:t>Informational — configs are flagged, never dropped. Fit drove the airframe lock.</a:t>
            </a:r>
          </a:p>
        </p:txBody>
      </p:sp>
      <p:sp>
        <p:nvSpPr>
          <p:cNvPr id="13" name="Rounded Rectangle 12"/>
          <p:cNvSpPr/>
          <p:nvPr/>
        </p:nvSpPr>
        <p:spPr>
          <a:xfrm>
            <a:off x="640080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46304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90×62 mm</a:t>
            </a:r>
          </a:p>
        </p:txBody>
      </p:sp>
      <p:sp>
        <p:nvSpPr>
          <p:cNvPr id="16" name="TextBox 15"/>
          <p:cNvSpPr txBox="1"/>
          <p:nvPr/>
        </p:nvSpPr>
        <p:spPr>
          <a:xfrm>
            <a:off x="658368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footprint (binding)</a:t>
            </a:r>
          </a:p>
        </p:txBody>
      </p:sp>
      <p:sp>
        <p:nvSpPr>
          <p:cNvPr id="17" name="Rounded Rectangle 16"/>
          <p:cNvSpPr/>
          <p:nvPr/>
        </p:nvSpPr>
        <p:spPr>
          <a:xfrm>
            <a:off x="909828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 mm</a:t>
            </a:r>
          </a:p>
        </p:txBody>
      </p:sp>
      <p:sp>
        <p:nvSpPr>
          <p:cNvPr id="20" name="TextBox 19"/>
          <p:cNvSpPr txBox="1"/>
          <p:nvPr/>
        </p:nvSpPr>
        <p:spPr>
          <a:xfrm>
            <a:off x="928116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Deck spare on selected frame</a:t>
            </a:r>
          </a:p>
        </p:txBody>
      </p:sp>
      <p:sp>
        <p:nvSpPr>
          <p:cNvPr id="21" name="Rounded Rectangle 20"/>
          <p:cNvSpPr/>
          <p:nvPr/>
        </p:nvSpPr>
        <p:spPr>
          <a:xfrm>
            <a:off x="640080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83464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Fits ✓</a:t>
            </a:r>
          </a:p>
        </p:txBody>
      </p:sp>
      <p:sp>
        <p:nvSpPr>
          <p:cNvPr id="24" name="TextBox 23"/>
          <p:cNvSpPr txBox="1"/>
          <p:nvPr/>
        </p:nvSpPr>
        <p:spPr>
          <a:xfrm>
            <a:off x="658368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Chimera9 ECO (110×70 deck)</a:t>
            </a:r>
          </a:p>
        </p:txBody>
      </p:sp>
      <p:sp>
        <p:nvSpPr>
          <p:cNvPr id="25" name="Rounded Rectangle 24"/>
          <p:cNvSpPr/>
          <p:nvPr/>
        </p:nvSpPr>
        <p:spPr>
          <a:xfrm>
            <a:off x="909828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834640"/>
            <a:ext cx="82296" cy="14630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3D-print</a:t>
            </a:r>
          </a:p>
        </p:txBody>
      </p:sp>
      <p:sp>
        <p:nvSpPr>
          <p:cNvPr id="28" name="TextBox 27"/>
          <p:cNvSpPr txBox="1"/>
          <p:nvPr/>
        </p:nvSpPr>
        <p:spPr>
          <a:xfrm>
            <a:off x="928116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mount + 30 mm fan (Phase 2)</a:t>
            </a:r>
          </a:p>
        </p:txBody>
      </p:sp>
      <p:sp>
        <p:nvSpPr>
          <p:cNvPr id="29" name="Rounded Rectangle 28"/>
          <p:cNvSpPr/>
          <p:nvPr/>
        </p:nvSpPr>
        <p:spPr>
          <a:xfrm>
            <a:off x="6400800" y="4434840"/>
            <a:ext cx="521208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55371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WHY IT MATTERS</a:t>
            </a:r>
          </a:p>
        </p:txBody>
      </p:sp>
      <p:sp>
        <p:nvSpPr>
          <p:cNvPr id="31" name="TextBox 30"/>
          <p:cNvSpPr txBox="1"/>
          <p:nvPr/>
        </p:nvSpPr>
        <p:spPr>
          <a:xfrm>
            <a:off x="6583680" y="4846320"/>
            <a:ext cx="4937760" cy="100584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Endurance and fit trade against each other: the lightest/longest-flying frames are too small to carry the compute. The selected frame is the best endurance-per-dollar option that physically integrates the payload.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5 — Cost &amp; Budget (R4 ≤ $2,500)</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30</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t>
            </a:r>
            <a:r>
              <a:rPr sz="1150" b="0" i="0">
                <a:solidFill>
                  <a:srgbClr val="1E2833"/>
                </a:solidFill>
                <a:latin typeface="Segoe UI"/>
              </a:rPr>
              <a:t>phased bill of materials rolled up from candidates.sysml with actual quoted prices for locked parts; laptop (existing) and reusable support gear (dev packs, charger) excluded from the R4 integrated-system figure.</a:t>
            </a:r>
          </a:p>
        </p:txBody>
      </p:sp>
      <p:graphicFrame>
        <p:nvGraphicFramePr>
          <p:cNvPr id="10" name="Table 9"/>
          <p:cNvGraphicFramePr>
            <a:graphicFrameLocks noGrp="1"/>
          </p:cNvGraphicFramePr>
          <p:nvPr/>
        </p:nvGraphicFramePr>
        <p:xfrm>
          <a:off x="566928" y="1691640"/>
          <a:ext cx="6675120" cy="2615184"/>
        </p:xfrm>
        <a:graphic>
          <a:graphicData uri="http://schemas.openxmlformats.org/drawingml/2006/table">
            <a:tbl>
              <a:tblPr>
                <a:tableStyleId>{5C22544A-7EE6-4342-B048-85BDC9FD1C3A}</a:tableStyleId>
              </a:tblPr>
              <a:tblGrid>
                <a:gridCol w="2011680"/>
                <a:gridCol w="3383280"/>
                <a:gridCol w="1280160"/>
              </a:tblGrid>
              <a:tr h="310896">
                <a:tc>
                  <a:txBody>
                    <a:bodyPr wrap="square"/>
                    <a:lstStyle/>
                    <a:p>
                      <a:pPr algn="l"/>
                      <a:r>
                        <a:rPr sz="1100" b="1">
                          <a:solidFill>
                            <a:srgbClr val="FFFFFF"/>
                          </a:solidFill>
                          <a:latin typeface="Segoe UI"/>
                        </a:rPr>
                        <a:t>Build phase</a:t>
                      </a:r>
                    </a:p>
                  </a:txBody>
                  <a:tcPr marL="54864" marR="54864" marT="18288" marB="18288" anchor="ctr">
                    <a:solidFill>
                      <a:srgbClr val="0F2540"/>
                    </a:solidFill>
                  </a:tcPr>
                </a:tc>
                <a:tc>
                  <a:txBody>
                    <a:bodyPr wrap="square"/>
                    <a:lstStyle/>
                    <a:p>
                      <a:pPr algn="l"/>
                      <a:r>
                        <a:rPr sz="1100" b="1">
                          <a:solidFill>
                            <a:srgbClr val="FFFFFF"/>
                          </a:solidFill>
                          <a:latin typeface="Segoe UI"/>
                        </a:rPr>
                        <a:t>Scope</a:t>
                      </a:r>
                    </a:p>
                  </a:txBody>
                  <a:tcPr marL="54864" marR="54864" marT="18288" marB="18288" anchor="ctr">
                    <a:solidFill>
                      <a:srgbClr val="0F2540"/>
                    </a:solidFill>
                  </a:tcPr>
                </a:tc>
                <a:tc>
                  <a:txBody>
                    <a:bodyPr wrap="square"/>
                    <a:lstStyle/>
                    <a:p>
                      <a:pPr algn="r"/>
                      <a:r>
                        <a:rPr sz="1100" b="1">
                          <a:solidFill>
                            <a:srgbClr val="FFFFFF"/>
                          </a:solidFill>
                          <a:latin typeface="Segoe UI"/>
                        </a:rPr>
                        <a:t>Subtotal</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Phase 1</a:t>
                      </a:r>
                    </a:p>
                  </a:txBody>
                  <a:tcPr marL="54864" marR="54864" marT="18288" marB="18288" anchor="ctr">
                    <a:solidFill>
                      <a:srgbClr val="FFFFFF"/>
                    </a:solidFill>
                  </a:tcPr>
                </a:tc>
                <a:tc>
                  <a:txBody>
                    <a:bodyPr wrap="square"/>
                    <a:lstStyle/>
                    <a:p>
                      <a:pPr algn="l"/>
                      <a:r>
                        <a:rPr sz="1100" b="0">
                          <a:solidFill>
                            <a:srgbClr val="1E2833"/>
                          </a:solidFill>
                          <a:latin typeface="Segoe UI"/>
                        </a:rPr>
                        <a:t>Flight + FPV downlink + waypoints</a:t>
                      </a:r>
                    </a:p>
                  </a:txBody>
                  <a:tcPr marL="54864" marR="54864" marT="18288" marB="18288" anchor="ctr">
                    <a:solidFill>
                      <a:srgbClr val="FFFFFF"/>
                    </a:solidFill>
                  </a:tcPr>
                </a:tc>
                <a:tc>
                  <a:txBody>
                    <a:bodyPr wrap="square"/>
                    <a:lstStyle/>
                    <a:p>
                      <a:pPr algn="r"/>
                      <a:r>
                        <a:rPr sz="1100" b="0">
                          <a:solidFill>
                            <a:srgbClr val="1E2833"/>
                          </a:solidFill>
                          <a:latin typeface="Segoe UI"/>
                        </a:rPr>
                        <a:t>$1,371</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2</a:t>
                      </a:r>
                    </a:p>
                  </a:txBody>
                  <a:tcPr marL="54864" marR="54864" marT="18288" marB="18288" anchor="ctr">
                    <a:solidFill>
                      <a:srgbClr val="F6F8FA"/>
                    </a:solidFill>
                  </a:tcPr>
                </a:tc>
                <a:tc>
                  <a:txBody>
                    <a:bodyPr wrap="square"/>
                    <a:lstStyle/>
                    <a:p>
                      <a:pPr algn="l"/>
                      <a:r>
                        <a:rPr sz="1100" b="0">
                          <a:solidFill>
                            <a:srgbClr val="1E2833"/>
                          </a:solidFill>
                          <a:latin typeface="Segoe UI"/>
                        </a:rPr>
                        <a:t>Thermal camera + onboard SBC</a:t>
                      </a:r>
                    </a:p>
                  </a:txBody>
                  <a:tcPr marL="54864" marR="54864" marT="18288" marB="18288" anchor="ctr">
                    <a:solidFill>
                      <a:srgbClr val="F6F8FA"/>
                    </a:solidFill>
                  </a:tcPr>
                </a:tc>
                <a:tc>
                  <a:txBody>
                    <a:bodyPr wrap="square"/>
                    <a:lstStyle/>
                    <a:p>
                      <a:pPr algn="r"/>
                      <a:r>
                        <a:rPr sz="1100" b="0">
                          <a:solidFill>
                            <a:srgbClr val="1E2833"/>
                          </a:solidFill>
                          <a:latin typeface="Segoe UI"/>
                        </a:rPr>
                        <a:t>$809</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Phase 3</a:t>
                      </a:r>
                    </a:p>
                  </a:txBody>
                  <a:tcPr marL="54864" marR="54864" marT="18288" marB="18288" anchor="ctr">
                    <a:solidFill>
                      <a:srgbClr val="FFFFFF"/>
                    </a:solidFill>
                  </a:tcPr>
                </a:tc>
                <a:tc>
                  <a:txBody>
                    <a:bodyPr wrap="square"/>
                    <a:lstStyle/>
                    <a:p>
                      <a:pPr algn="l"/>
                      <a:r>
                        <a:rPr sz="1100" b="0">
                          <a:solidFill>
                            <a:srgbClr val="1E2833"/>
                          </a:solidFill>
                          <a:latin typeface="Segoe UI"/>
                        </a:rPr>
                        <a:t>AI detection + autonomy (software only)</a:t>
                      </a:r>
                    </a:p>
                  </a:txBody>
                  <a:tcPr marL="54864" marR="54864" marT="18288" marB="18288" anchor="ctr">
                    <a:solidFill>
                      <a:srgbClr val="FFFFFF"/>
                    </a:solidFill>
                  </a:tcPr>
                </a:tc>
                <a:tc>
                  <a:txBody>
                    <a:bodyPr wrap="square"/>
                    <a:lstStyle/>
                    <a:p>
                      <a:pPr algn="r"/>
                      <a:r>
                        <a:rPr sz="1100" b="0">
                          <a:solidFill>
                            <a:srgbClr val="1E2833"/>
                          </a:solidFill>
                          <a:latin typeface="Segoe UI"/>
                        </a:rPr>
                        <a:t>$0</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Committed (1–3)</a:t>
                      </a:r>
                    </a:p>
                  </a:txBody>
                  <a:tcPr marL="54864" marR="54864" marT="18288" marB="18288" anchor="ctr">
                    <a:solidFill>
                      <a:srgbClr val="F6F8FA"/>
                    </a:solidFill>
                  </a:tcPr>
                </a:tc>
                <a:tc>
                  <a:txBody>
                    <a:bodyPr wrap="square"/>
                    <a:lstStyle/>
                    <a:p>
                      <a:pPr algn="l"/>
                      <a:r>
                        <a:rPr sz="1100" b="0">
                          <a:solidFill>
                            <a:srgbClr val="1E2833"/>
                          </a:solidFill>
                          <a:latin typeface="Segoe UI"/>
                        </a:rPr>
                        <a:t>As-flown system</a:t>
                      </a:r>
                    </a:p>
                  </a:txBody>
                  <a:tcPr marL="54864" marR="54864" marT="18288" marB="18288" anchor="ctr">
                    <a:solidFill>
                      <a:srgbClr val="F6F8FA"/>
                    </a:solidFill>
                  </a:tcPr>
                </a:tc>
                <a:tc>
                  <a:txBody>
                    <a:bodyPr wrap="square"/>
                    <a:lstStyle/>
                    <a:p>
                      <a:pPr algn="r"/>
                      <a:r>
                        <a:rPr sz="1100" b="0">
                          <a:solidFill>
                            <a:srgbClr val="1E2833"/>
                          </a:solidFill>
                          <a:latin typeface="Segoe UI"/>
                        </a:rPr>
                        <a:t>$2,180</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R4 integrated</a:t>
                      </a:r>
                    </a:p>
                  </a:txBody>
                  <a:tcPr marL="54864" marR="54864" marT="18288" marB="18288" anchor="ctr">
                    <a:solidFill>
                      <a:srgbClr val="FFFFFF"/>
                    </a:solidFill>
                  </a:tcPr>
                </a:tc>
                <a:tc>
                  <a:txBody>
                    <a:bodyPr wrap="square"/>
                    <a:lstStyle/>
                    <a:p>
                      <a:pPr algn="l"/>
                      <a:r>
                        <a:rPr sz="1100" b="0">
                          <a:solidFill>
                            <a:srgbClr val="1E2833"/>
                          </a:solidFill>
                          <a:latin typeface="Segoe UI"/>
                        </a:rPr>
                        <a:t>Excl. reusable dev packs + charger</a:t>
                      </a:r>
                    </a:p>
                  </a:txBody>
                  <a:tcPr marL="54864" marR="54864" marT="18288" marB="18288" anchor="ctr">
                    <a:solidFill>
                      <a:srgbClr val="FFFFFF"/>
                    </a:solidFill>
                  </a:tcPr>
                </a:tc>
                <a:tc>
                  <a:txBody>
                    <a:bodyPr wrap="square"/>
                    <a:lstStyle/>
                    <a:p>
                      <a:pPr algn="r"/>
                      <a:r>
                        <a:rPr sz="1100" b="0">
                          <a:solidFill>
                            <a:srgbClr val="1E2833"/>
                          </a:solidFill>
                          <a:latin typeface="Segoe UI"/>
                        </a:rPr>
                        <a:t>≈ $1,848</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4 (deferred)</a:t>
                      </a:r>
                    </a:p>
                  </a:txBody>
                  <a:tcPr marL="54864" marR="54864" marT="18288" marB="18288" anchor="ctr">
                    <a:solidFill>
                      <a:srgbClr val="F6F8FA"/>
                    </a:solidFill>
                  </a:tcPr>
                </a:tc>
                <a:tc>
                  <a:txBody>
                    <a:bodyPr wrap="square"/>
                    <a:lstStyle/>
                    <a:p>
                      <a:pPr algn="l"/>
                      <a:r>
                        <a:rPr sz="1100" b="0">
                          <a:solidFill>
                            <a:srgbClr val="1E2833"/>
                          </a:solidFill>
                          <a:latin typeface="Segoe UI"/>
                        </a:rPr>
                        <a:t>OpenHD digital downlink</a:t>
                      </a:r>
                    </a:p>
                  </a:txBody>
                  <a:tcPr marL="54864" marR="54864" marT="18288" marB="18288" anchor="ctr">
                    <a:solidFill>
                      <a:srgbClr val="F6F8FA"/>
                    </a:solidFill>
                  </a:tcPr>
                </a:tc>
                <a:tc>
                  <a:txBody>
                    <a:bodyPr wrap="square"/>
                    <a:lstStyle/>
                    <a:p>
                      <a:pPr algn="r"/>
                      <a:r>
                        <a:rPr sz="1100" b="0">
                          <a:solidFill>
                            <a:srgbClr val="1E2833"/>
                          </a:solidFill>
                          <a:latin typeface="Segoe UI"/>
                        </a:rPr>
                        <a:t>$159</a:t>
                      </a:r>
                    </a:p>
                  </a:txBody>
                  <a:tcPr marL="54864" marR="54864" marT="18288" marB="18288" anchor="ctr">
                    <a:solidFill>
                      <a:srgbClr val="F6F8FA"/>
                    </a:solidFill>
                  </a:tcPr>
                </a:tc>
              </a:tr>
            </a:tbl>
          </a:graphicData>
        </a:graphic>
      </p:graphicFrame>
      <p:sp>
        <p:nvSpPr>
          <p:cNvPr id="11" name="Rounded Rectangle 10"/>
          <p:cNvSpPr/>
          <p:nvPr/>
        </p:nvSpPr>
        <p:spPr>
          <a:xfrm>
            <a:off x="7452360" y="16916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16916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013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$1,848</a:t>
            </a:r>
          </a:p>
        </p:txBody>
      </p:sp>
      <p:sp>
        <p:nvSpPr>
          <p:cNvPr id="14" name="TextBox 13"/>
          <p:cNvSpPr txBox="1"/>
          <p:nvPr/>
        </p:nvSpPr>
        <p:spPr>
          <a:xfrm>
            <a:off x="7635240" y="22402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Committed system cost (R4 basis)</a:t>
            </a:r>
          </a:p>
        </p:txBody>
      </p:sp>
      <p:sp>
        <p:nvSpPr>
          <p:cNvPr id="15" name="Rounded Rectangle 14"/>
          <p:cNvSpPr/>
          <p:nvPr/>
        </p:nvSpPr>
        <p:spPr>
          <a:xfrm>
            <a:off x="7452360" y="30632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30632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31729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26 %</a:t>
            </a:r>
          </a:p>
        </p:txBody>
      </p:sp>
      <p:sp>
        <p:nvSpPr>
          <p:cNvPr id="18" name="TextBox 17"/>
          <p:cNvSpPr txBox="1"/>
          <p:nvPr/>
        </p:nvSpPr>
        <p:spPr>
          <a:xfrm>
            <a:off x="7635240" y="36118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Margin under the $2,500 R4 cap</a:t>
            </a:r>
          </a:p>
        </p:txBody>
      </p:sp>
      <p:sp>
        <p:nvSpPr>
          <p:cNvPr id="19" name="Rounded Rectangle 18"/>
          <p:cNvSpPr/>
          <p:nvPr/>
        </p:nvSpPr>
        <p:spPr>
          <a:xfrm>
            <a:off x="7452360" y="4434840"/>
            <a:ext cx="416052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4553712"/>
            <a:ext cx="384048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R4 VERDICT</a:t>
            </a:r>
          </a:p>
        </p:txBody>
      </p:sp>
      <p:sp>
        <p:nvSpPr>
          <p:cNvPr id="21" name="TextBox 20"/>
          <p:cNvSpPr txBox="1"/>
          <p:nvPr/>
        </p:nvSpPr>
        <p:spPr>
          <a:xfrm>
            <a:off x="7635240" y="4846320"/>
            <a:ext cx="3840480" cy="1005840"/>
          </a:xfrm>
          <a:prstGeom prst="rect">
            <a:avLst/>
          </a:prstGeom>
          <a:noFill/>
        </p:spPr>
        <p:txBody>
          <a:bodyPr wrap="square" anchor="t" lIns="0" rIns="0" tIns="0" bIns="0">
            <a:spAutoFit/>
          </a:bodyPr>
          <a:lstStyle/>
          <a:p>
            <a:pPr algn="l">
              <a:lnSpc>
                <a:spcPct val="103000"/>
              </a:lnSpc>
              <a:spcBef>
                <a:spcPts val="0"/>
              </a:spcBef>
              <a:spcAft>
                <a:spcPts val="400"/>
              </a:spcAft>
            </a:pPr>
            <a:r>
              <a:rPr sz="1100" b="1" i="0">
                <a:solidFill>
                  <a:srgbClr val="2E7D32"/>
                </a:solidFill>
                <a:latin typeface="Segoe UI"/>
              </a:rPr>
              <a:t>PASS. </a:t>
            </a:r>
            <a:r>
              <a:rPr sz="1050" b="0" i="0">
                <a:solidFill>
                  <a:srgbClr val="1E2833"/>
                </a:solidFill>
                <a:latin typeface="Segoe UI"/>
              </a:rPr>
              <a:t>Committed system (≈ $1,848) and all four phases (≈ $2,007) are both under $2,500. Thermal camera ($650) is the single largest line.</a:t>
            </a:r>
          </a:p>
        </p:txBody>
      </p:sp>
      <p:sp>
        <p:nvSpPr>
          <p:cNvPr id="22" name="TextBox 21"/>
          <p:cNvSpPr txBox="1"/>
          <p:nvPr/>
        </p:nvSpPr>
        <p:spPr>
          <a:xfrm>
            <a:off x="566928" y="5897880"/>
            <a:ext cx="6583680" cy="36576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The endurance sweep reports ≈ $1,674 using cost-representative radio/RX; the BOM figure uses the actual selected parts, hence higher.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5</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Verification, Risk &amp; Closure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How each requirement will be verified, the manufacturing approach, the risk posture, remaining open items, and the CDR exit assessment.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Verification Cross-Reference Matrix (VCRM)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At CDR, design compliance is shown by analysis; demonstration/test are planned and gated at the Test Readiness Review.</a:t>
            </a:r>
          </a:p>
        </p:txBody>
      </p:sp>
      <p:graphicFrame>
        <p:nvGraphicFramePr>
          <p:cNvPr id="10" name="Table 9"/>
          <p:cNvGraphicFramePr>
            <a:graphicFrameLocks noGrp="1"/>
          </p:cNvGraphicFramePr>
          <p:nvPr/>
        </p:nvGraphicFramePr>
        <p:xfrm>
          <a:off x="566928" y="1572768"/>
          <a:ext cx="11055096" cy="3931920"/>
        </p:xfrm>
        <a:graphic>
          <a:graphicData uri="http://schemas.openxmlformats.org/drawingml/2006/table">
            <a:tbl>
              <a:tblPr>
                <a:tableStyleId>{5C22544A-7EE6-4342-B048-85BDC9FD1C3A}</a:tableStyleId>
              </a:tblPr>
              <a:tblGrid>
                <a:gridCol w="822960"/>
                <a:gridCol w="2743200"/>
                <a:gridCol w="1051560"/>
                <a:gridCol w="3657600"/>
                <a:gridCol w="2779776"/>
              </a:tblGrid>
              <a:tr h="310896">
                <a:tc>
                  <a:txBody>
                    <a:bodyPr wrap="square"/>
                    <a:lstStyle/>
                    <a:p>
                      <a:pPr algn="ctr"/>
                      <a:r>
                        <a:rPr sz="1050" b="1">
                          <a:solidFill>
                            <a:srgbClr val="FFFFFF"/>
                          </a:solidFill>
                          <a:latin typeface="Segoe UI"/>
                        </a:rPr>
                        <a:t>Req</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ctr"/>
                      <a:r>
                        <a:rPr sz="1050" b="1">
                          <a:solidFill>
                            <a:srgbClr val="FFFFFF"/>
                          </a:solidFill>
                          <a:latin typeface="Segoe UI"/>
                        </a:rPr>
                        <a:t>Method</a:t>
                      </a:r>
                    </a:p>
                  </a:txBody>
                  <a:tcPr marL="54864" marR="54864" marT="18288" marB="18288" anchor="ctr">
                    <a:solidFill>
                      <a:srgbClr val="0F2540"/>
                    </a:solidFill>
                  </a:tcPr>
                </a:tc>
                <a:tc>
                  <a:txBody>
                    <a:bodyPr wrap="square"/>
                    <a:lstStyle/>
                    <a:p>
                      <a:pPr algn="l"/>
                      <a:r>
                        <a:rPr sz="1050" b="1">
                          <a:solidFill>
                            <a:srgbClr val="FFFFFF"/>
                          </a:solidFill>
                          <a:latin typeface="Segoe UI"/>
                        </a:rPr>
                        <a:t>Verification approach</a:t>
                      </a:r>
                    </a:p>
                  </a:txBody>
                  <a:tcPr marL="54864" marR="54864" marT="18288" marB="18288" anchor="ctr">
                    <a:solidFill>
                      <a:srgbClr val="0F2540"/>
                    </a:solidFill>
                  </a:tcPr>
                </a:tc>
                <a:tc>
                  <a:txBody>
                    <a:bodyPr wrap="square"/>
                    <a:lstStyle/>
                    <a:p>
                      <a:pPr algn="l"/>
                      <a:r>
                        <a:rPr sz="1050" b="1">
                          <a:solidFill>
                            <a:srgbClr val="FFFFFF"/>
                          </a:solidFill>
                          <a:latin typeface="Segoe UI"/>
                        </a:rPr>
                        <a:t>Status @ CDR</a:t>
                      </a:r>
                    </a:p>
                  </a:txBody>
                  <a:tcPr marL="54864" marR="54864" marT="18288" marB="18288" anchor="ctr">
                    <a:solidFill>
                      <a:srgbClr val="0F2540"/>
                    </a:solidFill>
                  </a:tcPr>
                </a:tc>
              </a:tr>
              <a:tr h="402336">
                <a:tc>
                  <a:txBody>
                    <a:bodyPr wrap="square"/>
                    <a:lstStyle/>
                    <a:p>
                      <a:pPr algn="ctr"/>
                      <a:r>
                        <a:rPr sz="1000" b="0">
                          <a:solidFill>
                            <a:srgbClr val="1E2833"/>
                          </a:solidFill>
                          <a:latin typeface="Segoe UI"/>
                        </a:rPr>
                        <a:t>R1</a:t>
                      </a:r>
                    </a:p>
                  </a:txBody>
                  <a:tcPr marL="54864" marR="54864" marT="18288" marB="18288" anchor="ctr">
                    <a:solidFill>
                      <a:srgbClr val="FFFFFF"/>
                    </a:solidFill>
                  </a:tcPr>
                </a:tc>
                <a:tc>
                  <a:txBody>
                    <a:bodyPr wrap="square"/>
                    <a:lstStyle/>
                    <a:p>
                      <a:pPr algn="l"/>
                      <a:r>
                        <a:rPr sz="1000" b="0">
                          <a:solidFill>
                            <a:srgbClr val="1E2833"/>
                          </a:solidFill>
                          <a:latin typeface="Segoe UI"/>
                        </a:rPr>
                        <a:t>90–120 m AGL altitude hold</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Control-loop analysis; logged flight test</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R2</a:t>
                      </a:r>
                    </a:p>
                  </a:txBody>
                  <a:tcPr marL="54864" marR="54864" marT="18288" marB="18288" anchor="ctr">
                    <a:solidFill>
                      <a:srgbClr val="F6F8FA"/>
                    </a:solidFill>
                  </a:tcPr>
                </a:tc>
                <a:tc>
                  <a:txBody>
                    <a:bodyPr wrap="square"/>
                    <a:lstStyle/>
                    <a:p>
                      <a:pPr algn="l"/>
                      <a:r>
                        <a:rPr sz="1000" b="0">
                          <a:solidFill>
                            <a:srgbClr val="1E2833"/>
                          </a:solidFill>
                          <a:latin typeface="Segoe UI"/>
                        </a:rPr>
                        <a:t>2.23 m/s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Analysis; logged flight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R3.1</a:t>
                      </a:r>
                    </a:p>
                  </a:txBody>
                  <a:tcPr marL="54864" marR="54864" marT="18288" marB="18288" anchor="ctr">
                    <a:solidFill>
                      <a:srgbClr val="FFFFFF"/>
                    </a:solidFill>
                  </a:tcPr>
                </a:tc>
                <a:tc>
                  <a:txBody>
                    <a:bodyPr wrap="square"/>
                    <a:lstStyle/>
                    <a:p>
                      <a:pPr algn="l"/>
                      <a:r>
                        <a:rPr sz="1000" b="0">
                          <a:solidFill>
                            <a:srgbClr val="1E2833"/>
                          </a:solidFill>
                          <a:latin typeface="Segoe UI"/>
                        </a:rPr>
                        <a:t>Detect target @ 120 m</a:t>
                      </a:r>
                    </a:p>
                  </a:txBody>
                  <a:tcPr marL="54864" marR="54864" marT="18288" marB="18288" anchor="ctr">
                    <a:solidFill>
                      <a:srgbClr val="FFFFFF"/>
                    </a:solidFill>
                  </a:tcPr>
                </a:tc>
                <a:tc>
                  <a:txBody>
                    <a:bodyPr wrap="square"/>
                    <a:lstStyle/>
                    <a:p>
                      <a:pPr algn="ctr"/>
                      <a:r>
                        <a:rPr sz="1000" b="0">
                          <a:solidFill>
                            <a:srgbClr val="1E2833"/>
                          </a:solidFill>
                          <a:latin typeface="Segoe UI"/>
                        </a:rPr>
                        <a:t>A, D</a:t>
                      </a:r>
                    </a:p>
                  </a:txBody>
                  <a:tcPr marL="54864" marR="54864" marT="18288" marB="18288" anchor="ctr">
                    <a:solidFill>
                      <a:srgbClr val="FFFFFF"/>
                    </a:solidFill>
                  </a:tcPr>
                </a:tc>
                <a:tc>
                  <a:txBody>
                    <a:bodyPr wrap="square"/>
                    <a:lstStyle/>
                    <a:p>
                      <a:pPr algn="l"/>
                      <a:r>
                        <a:rPr sz="1000" b="0">
                          <a:solidFill>
                            <a:srgbClr val="1E2833"/>
                          </a:solidFill>
                          <a:latin typeface="Segoe UI"/>
                        </a:rPr>
                        <a:t>Johnson-criteria analysis; field thermal demo</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Demo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R3.2</a:t>
                      </a:r>
                    </a:p>
                  </a:txBody>
                  <a:tcPr marL="54864" marR="54864" marT="18288" marB="18288" anchor="ctr">
                    <a:solidFill>
                      <a:srgbClr val="F6F8FA"/>
                    </a:solidFill>
                  </a:tcPr>
                </a:tc>
                <a:tc>
                  <a:txBody>
                    <a:bodyPr wrap="square"/>
                    <a:lstStyle/>
                    <a:p>
                      <a:pPr algn="l"/>
                      <a:r>
                        <a:rPr sz="1000" b="0">
                          <a:solidFill>
                            <a:srgbClr val="1E2833"/>
                          </a:solidFill>
                          <a:latin typeface="Segoe UI"/>
                        </a:rPr>
                        <a:t>Classify species @ 90 m</a:t>
                      </a:r>
                    </a:p>
                  </a:txBody>
                  <a:tcPr marL="54864" marR="54864" marT="18288" marB="18288" anchor="ctr">
                    <a:solidFill>
                      <a:srgbClr val="F6F8FA"/>
                    </a:solidFill>
                  </a:tcPr>
                </a:tc>
                <a:tc>
                  <a:txBody>
                    <a:bodyPr wrap="square"/>
                    <a:lstStyle/>
                    <a:p>
                      <a:pPr algn="ctr"/>
                      <a:r>
                        <a:rPr sz="1000" b="0">
                          <a:solidFill>
                            <a:srgbClr val="1E2833"/>
                          </a:solidFill>
                          <a:latin typeface="Segoe UI"/>
                        </a:rPr>
                        <a:t>A, D, T</a:t>
                      </a:r>
                    </a:p>
                  </a:txBody>
                  <a:tcPr marL="54864" marR="54864" marT="18288" marB="18288" anchor="ctr">
                    <a:solidFill>
                      <a:srgbClr val="F6F8FA"/>
                    </a:solidFill>
                  </a:tcPr>
                </a:tc>
                <a:tc>
                  <a:txBody>
                    <a:bodyPr wrap="square"/>
                    <a:lstStyle/>
                    <a:p>
                      <a:pPr algn="l"/>
                      <a:r>
                        <a:rPr sz="1000" b="0">
                          <a:solidFill>
                            <a:srgbClr val="1E2833"/>
                          </a:solidFill>
                          <a:latin typeface="Segoe UI"/>
                        </a:rPr>
                        <a:t>AI-model eval + field capture</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AI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R4</a:t>
                      </a:r>
                    </a:p>
                  </a:txBody>
                  <a:tcPr marL="54864" marR="54864" marT="18288" marB="18288" anchor="ctr">
                    <a:solidFill>
                      <a:srgbClr val="FFFFFF"/>
                    </a:solidFill>
                  </a:tcPr>
                </a:tc>
                <a:tc>
                  <a:txBody>
                    <a:bodyPr wrap="square"/>
                    <a:lstStyle/>
                    <a:p>
                      <a:pPr algn="l"/>
                      <a:r>
                        <a:rPr sz="1000" b="0">
                          <a:solidFill>
                            <a:srgbClr val="1E2833"/>
                          </a:solidFill>
                          <a:latin typeface="Segoe UI"/>
                        </a:rPr>
                        <a:t>System cost ≤ $2,500</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c>
                  <a:txBody>
                    <a:bodyPr wrap="square"/>
                    <a:lstStyle/>
                    <a:p>
                      <a:pPr algn="l"/>
                      <a:r>
                        <a:rPr sz="1000" b="0">
                          <a:solidFill>
                            <a:srgbClr val="1E2833"/>
                          </a:solidFill>
                          <a:latin typeface="Segoe UI"/>
                        </a:rPr>
                        <a:t>BOM inspection</a:t>
                      </a:r>
                    </a:p>
                  </a:txBody>
                  <a:tcPr marL="54864" marR="54864" marT="18288" marB="18288" anchor="ctr">
                    <a:solidFill>
                      <a:srgbClr val="FFFFFF"/>
                    </a:solidFill>
                  </a:tcPr>
                </a:tc>
                <a:tc>
                  <a:txBody>
                    <a:bodyPr wrap="square"/>
                    <a:lstStyle/>
                    <a:p>
                      <a:pPr algn="l"/>
                      <a:r>
                        <a:rPr sz="1000" b="0">
                          <a:solidFill>
                            <a:srgbClr val="2E7D32"/>
                          </a:solidFill>
                          <a:latin typeface="Segoe UI"/>
                        </a:rPr>
                        <a:t>Verified ✓</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R5</a:t>
                      </a:r>
                    </a:p>
                  </a:txBody>
                  <a:tcPr marL="54864" marR="54864" marT="18288" marB="18288" anchor="ctr">
                    <a:solidFill>
                      <a:srgbClr val="F6F8FA"/>
                    </a:solidFill>
                  </a:tcPr>
                </a:tc>
                <a:tc>
                  <a:txBody>
                    <a:bodyPr wrap="square"/>
                    <a:lstStyle/>
                    <a:p>
                      <a:pPr algn="l"/>
                      <a:r>
                        <a:rPr sz="1000" b="0">
                          <a:solidFill>
                            <a:srgbClr val="1E2833"/>
                          </a:solidFill>
                          <a:latin typeface="Segoe UI"/>
                        </a:rPr>
                        <a:t>Minimize DIY soldering</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c>
                  <a:txBody>
                    <a:bodyPr wrap="square"/>
                    <a:lstStyle/>
                    <a:p>
                      <a:pPr algn="l"/>
                      <a:r>
                        <a:rPr sz="1000" b="0">
                          <a:solidFill>
                            <a:srgbClr val="1E2833"/>
                          </a:solidFill>
                          <a:latin typeface="Segoe UI"/>
                        </a:rPr>
                        <a:t>Design inspection (PNP / pre-soldered)</a:t>
                      </a:r>
                    </a:p>
                  </a:txBody>
                  <a:tcPr marL="54864" marR="54864" marT="18288" marB="18288" anchor="ctr">
                    <a:solidFill>
                      <a:srgbClr val="F6F8FA"/>
                    </a:solidFill>
                  </a:tcPr>
                </a:tc>
                <a:tc>
                  <a:txBody>
                    <a:bodyPr wrap="square"/>
                    <a:lstStyle/>
                    <a:p>
                      <a:pPr algn="l"/>
                      <a:r>
                        <a:rPr sz="1000" b="0">
                          <a:solidFill>
                            <a:srgbClr val="2E7D32"/>
                          </a:solidFill>
                          <a:latin typeface="Segoe UI"/>
                        </a:rPr>
                        <a:t>Verified ✓</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R6</a:t>
                      </a:r>
                    </a:p>
                  </a:txBody>
                  <a:tcPr marL="54864" marR="54864" marT="18288" marB="18288" anchor="ctr">
                    <a:solidFill>
                      <a:srgbClr val="FFFFFF"/>
                    </a:solidFill>
                  </a:tcPr>
                </a:tc>
                <a:tc>
                  <a:txBody>
                    <a:bodyPr wrap="square"/>
                    <a:lstStyle/>
                    <a:p>
                      <a:pPr algn="l"/>
                      <a:r>
                        <a:rPr sz="1000" b="0">
                          <a:solidFill>
                            <a:srgbClr val="1E2833"/>
                          </a:solidFill>
                          <a:latin typeface="Segoe UI"/>
                        </a:rPr>
                        <a:t>≥ 30 min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 measured hover</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R7</a:t>
                      </a:r>
                    </a:p>
                  </a:txBody>
                  <a:tcPr marL="54864" marR="54864" marT="18288" marB="18288" anchor="ctr">
                    <a:solidFill>
                      <a:srgbClr val="F6F8FA"/>
                    </a:solidFill>
                  </a:tcPr>
                </a:tc>
                <a:tc>
                  <a:txBody>
                    <a:bodyPr wrap="square"/>
                    <a:lstStyle/>
                    <a:p>
                      <a:pPr algn="l"/>
                      <a:r>
                        <a:rPr sz="1000" b="0">
                          <a:solidFill>
                            <a:srgbClr val="1E2833"/>
                          </a:solidFill>
                          <a:latin typeface="Segoe UI"/>
                        </a:rPr>
                        <a:t>2.8 km range in wind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FSPL link budget; range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R8</a:t>
                      </a:r>
                    </a:p>
                  </a:txBody>
                  <a:tcPr marL="54864" marR="54864" marT="18288" marB="18288" anchor="ctr">
                    <a:solidFill>
                      <a:srgbClr val="FFFFFF"/>
                    </a:solidFill>
                  </a:tcPr>
                </a:tc>
                <a:tc>
                  <a:txBody>
                    <a:bodyPr wrap="square"/>
                    <a:lstStyle/>
                    <a:p>
                      <a:pPr algn="l"/>
                      <a:r>
                        <a:rPr sz="1000" b="0">
                          <a:solidFill>
                            <a:srgbClr val="1E2833"/>
                          </a:solidFill>
                          <a:latin typeface="Segoe UI"/>
                        </a:rPr>
                        <a:t>60 min stretch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a:t>
                      </a:r>
                    </a:p>
                  </a:txBody>
                  <a:tcPr marL="54864" marR="54864" marT="18288" marB="18288" anchor="ctr">
                    <a:solidFill>
                      <a:srgbClr val="FFFFFF"/>
                    </a:solidFill>
                  </a:tcPr>
                </a:tc>
                <a:tc>
                  <a:txBody>
                    <a:bodyPr wrap="square"/>
                    <a:lstStyle/>
                    <a:p>
                      <a:pPr algn="l"/>
                      <a:r>
                        <a:rPr sz="1000" b="0">
                          <a:solidFill>
                            <a:srgbClr val="C12727"/>
                          </a:solidFill>
                          <a:latin typeface="Segoe UI"/>
                        </a:rPr>
                        <a:t>Not met (documented)</a:t>
                      </a:r>
                    </a:p>
                  </a:txBody>
                  <a:tcPr marL="54864" marR="54864" marT="18288" marB="18288"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Manufacturing &amp; Producibility</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33</a:t>
            </a:r>
          </a:p>
        </p:txBody>
      </p:sp>
      <p:sp>
        <p:nvSpPr>
          <p:cNvPr id="9" name="TextBox 8"/>
          <p:cNvSpPr txBox="1"/>
          <p:nvPr/>
        </p:nvSpPr>
        <p:spPr>
          <a:xfrm>
            <a:off x="566928" y="1280160"/>
            <a:ext cx="557784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Minimize soldering (R5).  </a:t>
            </a:r>
            <a:r>
              <a:rPr sz="1350" b="0">
                <a:solidFill>
                  <a:srgbClr val="1E2833"/>
                </a:solidFill>
                <a:latin typeface="Segoe UI"/>
              </a:rPr>
              <a:t>PNP airframe ships with pre-soldered power distribution, plug-in connectors, and screw-terminal motors. The only solder joint in the committed build is the SBC UBEC's 12 V leads.</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COTS-first.  </a:t>
            </a:r>
            <a:r>
              <a:rPr sz="1350" b="0">
                <a:solidFill>
                  <a:srgbClr val="1E2833"/>
                </a:solidFill>
                <a:latin typeface="Segoe UI"/>
              </a:rPr>
              <a:t>~110 components traded were all real, purchasable parts; the selected BOM is off-the-shelf except the fabricated SBC mount.</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Fabricated parts.  </a:t>
            </a:r>
            <a:r>
              <a:rPr sz="1350" b="0">
                <a:solidFill>
                  <a:srgbClr val="1E2833"/>
                </a:solidFill>
                <a:latin typeface="Segoe UI"/>
              </a:rPr>
              <a:t>3D-printed SBC deck + 30 mm fan + heat-set hardware (free-CAD pathway documented); ≈ $15.</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Standardization.  </a:t>
            </a:r>
            <a:r>
              <a:rPr sz="1350" b="0">
                <a:solidFill>
                  <a:srgbClr val="1E2833"/>
                </a:solidFill>
                <a:latin typeface="Segoe UI"/>
              </a:rPr>
              <a:t>Whole power chain on XT60; single control ecosystem (ELRS) end-to-end.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Phased integration.  </a:t>
            </a:r>
            <a:r>
              <a:rPr sz="1350" b="0">
                <a:solidFill>
                  <a:srgbClr val="1E2833"/>
                </a:solidFill>
                <a:latin typeface="Segoe UI"/>
              </a:rPr>
              <a:t>Three incremental builds, each independently testable before the next is added.</a:t>
            </a:r>
          </a:p>
        </p:txBody>
      </p:sp>
      <p:sp>
        <p:nvSpPr>
          <p:cNvPr id="10" name="Rounded Rectangle 9"/>
          <p:cNvSpPr/>
          <p:nvPr/>
        </p:nvSpPr>
        <p:spPr>
          <a:xfrm>
            <a:off x="6446520" y="1280160"/>
            <a:ext cx="5166360" cy="4663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44752"/>
            <a:ext cx="47548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2E86AB"/>
                </a:solidFill>
                <a:latin typeface="Segoe UI"/>
              </a:rPr>
              <a:t>PHASED BUILD PLAN</a:t>
            </a:r>
          </a:p>
        </p:txBody>
      </p:sp>
      <p:sp>
        <p:nvSpPr>
          <p:cNvPr id="12" name="TextBox 11"/>
          <p:cNvSpPr txBox="1"/>
          <p:nvPr/>
        </p:nvSpPr>
        <p:spPr>
          <a:xfrm>
            <a:off x="6675120" y="1874519"/>
            <a:ext cx="470916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1.  </a:t>
            </a:r>
            <a:r>
              <a:rPr sz="1300" b="0">
                <a:solidFill>
                  <a:srgbClr val="1E2833"/>
                </a:solidFill>
                <a:latin typeface="Segoe UI"/>
              </a:rPr>
              <a:t>Airframe + ELRS + battery + FPV/GPS → LOS manual flight, waypoint routes, video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2.  </a:t>
            </a:r>
            <a:r>
              <a:rPr sz="1300" b="0">
                <a:solidFill>
                  <a:srgbClr val="1E2833"/>
                </a:solidFill>
                <a:latin typeface="Segoe UI"/>
              </a:rPr>
              <a:t>Thermal camera + NanoPi M5 → live onboard inference feed (no recording, no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3.  </a:t>
            </a:r>
            <a:r>
              <a:rPr sz="1300" b="0">
                <a:solidFill>
                  <a:srgbClr val="1E2833"/>
                </a:solidFill>
                <a:latin typeface="Segoe UI"/>
              </a:rPr>
              <a:t>AI detection + MAVLink autonomous route modification (software only).</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5C6B7A"/>
                </a:solidFill>
                <a:latin typeface="Segoe UI"/>
              </a:rPr>
              <a:t>OpenHD digital thermal downlink to the ground station — future capability.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Risk Assessment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34</a:t>
            </a:r>
          </a:p>
        </p:txBody>
      </p:sp>
      <p:graphicFrame>
        <p:nvGraphicFramePr>
          <p:cNvPr id="9" name="Table 8"/>
          <p:cNvGraphicFramePr>
            <a:graphicFrameLocks noGrp="1"/>
          </p:cNvGraphicFramePr>
          <p:nvPr/>
        </p:nvGraphicFramePr>
        <p:xfrm>
          <a:off x="566928" y="1280160"/>
          <a:ext cx="11055096" cy="4261104"/>
        </p:xfrm>
        <a:graphic>
          <a:graphicData uri="http://schemas.openxmlformats.org/drawingml/2006/table">
            <a:tbl>
              <a:tblPr>
                <a:tableStyleId>{5C22544A-7EE6-4342-B048-85BDC9FD1C3A}</a:tableStyleId>
              </a:tblPr>
              <a:tblGrid>
                <a:gridCol w="457200"/>
                <a:gridCol w="4754880"/>
                <a:gridCol w="868680"/>
                <a:gridCol w="4974336"/>
              </a:tblGrid>
              <a:tr h="310896">
                <a:tc>
                  <a:txBody>
                    <a:bodyPr wrap="square"/>
                    <a:lstStyle/>
                    <a:p>
                      <a:pPr algn="ctr"/>
                      <a:r>
                        <a:rPr sz="1050" b="1">
                          <a:solidFill>
                            <a:srgbClr val="FFFFFF"/>
                          </a:solidFill>
                          <a:latin typeface="Segoe UI"/>
                        </a:rPr>
                        <a:t>#</a:t>
                      </a:r>
                    </a:p>
                  </a:txBody>
                  <a:tcPr marL="54864" marR="54864" marT="18288" marB="18288" anchor="ctr">
                    <a:solidFill>
                      <a:srgbClr val="0F2540"/>
                    </a:solidFill>
                  </a:tcPr>
                </a:tc>
                <a:tc>
                  <a:txBody>
                    <a:bodyPr wrap="square"/>
                    <a:lstStyle/>
                    <a:p>
                      <a:pPr algn="l"/>
                      <a:r>
                        <a:rPr sz="1050" b="1">
                          <a:solidFill>
                            <a:srgbClr val="FFFFFF"/>
                          </a:solidFill>
                          <a:latin typeface="Segoe UI"/>
                        </a:rPr>
                        <a:t>Risk</a:t>
                      </a:r>
                    </a:p>
                  </a:txBody>
                  <a:tcPr marL="54864" marR="54864" marT="18288" marB="18288" anchor="ctr">
                    <a:solidFill>
                      <a:srgbClr val="0F2540"/>
                    </a:solidFill>
                  </a:tcPr>
                </a:tc>
                <a:tc>
                  <a:txBody>
                    <a:bodyPr wrap="square"/>
                    <a:lstStyle/>
                    <a:p>
                      <a:pPr algn="ctr"/>
                      <a:r>
                        <a:rPr sz="1050" b="1">
                          <a:solidFill>
                            <a:srgbClr val="FFFFFF"/>
                          </a:solidFill>
                          <a:latin typeface="Segoe UI"/>
                        </a:rPr>
                        <a:t>Sev.</a:t>
                      </a:r>
                    </a:p>
                  </a:txBody>
                  <a:tcPr marL="54864" marR="54864" marT="18288" marB="18288" anchor="ctr">
                    <a:solidFill>
                      <a:srgbClr val="0F2540"/>
                    </a:solidFill>
                  </a:tcPr>
                </a:tc>
                <a:tc>
                  <a:txBody>
                    <a:bodyPr wrap="square"/>
                    <a:lstStyle/>
                    <a:p>
                      <a:pPr algn="l"/>
                      <a:r>
                        <a:rPr sz="1050" b="1">
                          <a:solidFill>
                            <a:srgbClr val="FFFFFF"/>
                          </a:solidFill>
                          <a:latin typeface="Segoe UI"/>
                        </a:rPr>
                        <a:t>Mitigation</a:t>
                      </a:r>
                    </a:p>
                  </a:txBody>
                  <a:tcPr marL="54864" marR="54864" marT="18288" marB="18288" anchor="ctr">
                    <a:solidFill>
                      <a:srgbClr val="0F2540"/>
                    </a:solidFill>
                  </a:tcPr>
                </a:tc>
              </a:tr>
              <a:tr h="658368">
                <a:tc>
                  <a:txBody>
                    <a:bodyPr wrap="square"/>
                    <a:lstStyle/>
                    <a:p>
                      <a:pPr algn="ctr"/>
                      <a:r>
                        <a:rPr sz="1050" b="0">
                          <a:solidFill>
                            <a:srgbClr val="1E2833"/>
                          </a:solidFill>
                          <a:latin typeface="Segoe UI"/>
                        </a:rPr>
                        <a:t>1</a:t>
                      </a:r>
                    </a:p>
                  </a:txBody>
                  <a:tcPr marL="54864" marR="54864" marT="18288" marB="18288" anchor="ctr">
                    <a:solidFill>
                      <a:srgbClr val="FFFFFF"/>
                    </a:solidFill>
                  </a:tcPr>
                </a:tc>
                <a:tc>
                  <a:txBody>
                    <a:bodyPr wrap="square"/>
                    <a:lstStyle/>
                    <a:p>
                      <a:pPr algn="l"/>
                      <a:r>
                        <a:rPr sz="1050" b="0">
                          <a:solidFill>
                            <a:srgbClr val="1E2833"/>
                          </a:solidFill>
                          <a:latin typeface="Segoe UI"/>
                        </a:rPr>
                        <a:t>Design is modeled, not yet flown — headline numbers are predictions</a:t>
                      </a:r>
                    </a:p>
                  </a:txBody>
                  <a:tcPr marL="54864" marR="54864" marT="18288" marB="18288" anchor="ctr">
                    <a:solidFill>
                      <a:srgbClr val="FFFFFF"/>
                    </a:solidFill>
                  </a:tcPr>
                </a:tc>
                <a:tc>
                  <a:txBody>
                    <a:bodyPr wrap="square"/>
                    <a:lstStyle/>
                    <a:p>
                      <a:pPr algn="ctr"/>
                      <a:r>
                        <a:rPr sz="1050" b="0">
                          <a:solidFill>
                            <a:srgbClr val="C12727"/>
                          </a:solidFill>
                          <a:latin typeface="Segoe UI"/>
                        </a:rPr>
                        <a:t>High</a:t>
                      </a:r>
                    </a:p>
                  </a:txBody>
                  <a:tcPr marL="54864" marR="54864" marT="18288" marB="18288" anchor="ctr">
                    <a:solidFill>
                      <a:srgbClr val="FFFFFF"/>
                    </a:solidFill>
                  </a:tcPr>
                </a:tc>
                <a:tc>
                  <a:txBody>
                    <a:bodyPr wrap="square"/>
                    <a:lstStyle/>
                    <a:p>
                      <a:pPr algn="l"/>
                      <a:r>
                        <a:rPr sz="1050" b="0">
                          <a:solidFill>
                            <a:srgbClr val="1E2833"/>
                          </a:solidFill>
                          <a:latin typeface="Segoe UI"/>
                        </a:rPr>
                        <a:t>Build Phase 1; instrumented hover to correlate endurance model within ±15%</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2</a:t>
                      </a:r>
                    </a:p>
                  </a:txBody>
                  <a:tcPr marL="54864" marR="54864" marT="18288" marB="18288" anchor="ctr">
                    <a:solidFill>
                      <a:srgbClr val="F6F8FA"/>
                    </a:solidFill>
                  </a:tcPr>
                </a:tc>
                <a:tc>
                  <a:txBody>
                    <a:bodyPr wrap="square"/>
                    <a:lstStyle/>
                    <a:p>
                      <a:pPr algn="l"/>
                      <a:r>
                        <a:rPr sz="1050" b="0">
                          <a:solidFill>
                            <a:srgbClr val="1E2833"/>
                          </a:solidFill>
                          <a:latin typeface="Segoe UI"/>
                        </a:rPr>
                        <a:t>Species classification (R3.2) unproven — needs real thermal signatures + trained AI</a:t>
                      </a:r>
                    </a:p>
                  </a:txBody>
                  <a:tcPr marL="54864" marR="54864" marT="18288" marB="18288" anchor="ctr">
                    <a:solidFill>
                      <a:srgbClr val="F6F8FA"/>
                    </a:solidFill>
                  </a:tcPr>
                </a:tc>
                <a:tc>
                  <a:txBody>
                    <a:bodyPr wrap="square"/>
                    <a:lstStyle/>
                    <a:p>
                      <a:pPr algn="ctr"/>
                      <a:r>
                        <a:rPr sz="1050" b="0">
                          <a:solidFill>
                            <a:srgbClr val="C12727"/>
                          </a:solidFill>
                          <a:latin typeface="Segoe UI"/>
                        </a:rPr>
                        <a:t>High</a:t>
                      </a:r>
                    </a:p>
                  </a:txBody>
                  <a:tcPr marL="54864" marR="54864" marT="18288" marB="18288" anchor="ctr">
                    <a:solidFill>
                      <a:srgbClr val="F6F8FA"/>
                    </a:solidFill>
                  </a:tcPr>
                </a:tc>
                <a:tc>
                  <a:txBody>
                    <a:bodyPr wrap="square"/>
                    <a:lstStyle/>
                    <a:p>
                      <a:pPr algn="l"/>
                      <a:r>
                        <a:rPr sz="1050" b="0">
                          <a:solidFill>
                            <a:srgbClr val="1E2833"/>
                          </a:solidFill>
                          <a:latin typeface="Segoe UI"/>
                        </a:rPr>
                        <a:t>Field thermal capture @ 90–120 m; train &amp; validate model before claiming R3.2</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3</a:t>
                      </a:r>
                    </a:p>
                  </a:txBody>
                  <a:tcPr marL="54864" marR="54864" marT="18288" marB="18288" anchor="ctr">
                    <a:solidFill>
                      <a:srgbClr val="FFFFFF"/>
                    </a:solidFill>
                  </a:tcPr>
                </a:tc>
                <a:tc>
                  <a:txBody>
                    <a:bodyPr wrap="square"/>
                    <a:lstStyle/>
                    <a:p>
                      <a:pPr algn="l"/>
                      <a:r>
                        <a:rPr sz="1050" b="0">
                          <a:solidFill>
                            <a:srgbClr val="1E2833"/>
                          </a:solidFill>
                          <a:latin typeface="Segoe UI"/>
                        </a:rPr>
                        <a:t>Regulatory — 2.8 km range is beyond visual line of sight (BVLOS); commercial use needs Part 107</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Operate within VLOS or obtain a BVLOS waiver / fly under Part 108; hold a Part 107 certificate; confirm current FAA rules</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4</a:t>
                      </a:r>
                    </a:p>
                  </a:txBody>
                  <a:tcPr marL="54864" marR="54864" marT="18288" marB="18288" anchor="ctr">
                    <a:solidFill>
                      <a:srgbClr val="F6F8FA"/>
                    </a:solidFill>
                  </a:tcPr>
                </a:tc>
                <a:tc>
                  <a:txBody>
                    <a:bodyPr wrap="square"/>
                    <a:lstStyle/>
                    <a:p>
                      <a:pPr algn="l"/>
                      <a:r>
                        <a:rPr sz="1050" b="0">
                          <a:solidFill>
                            <a:srgbClr val="1E2833"/>
                          </a:solidFill>
                          <a:latin typeface="Segoe UI"/>
                        </a:rPr>
                        <a:t>Flight-battery single-source (Amprius; prior SKU already sold out)</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Qualify GNB 12 Ah fallback; document endurance delta</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5</a:t>
                      </a:r>
                    </a:p>
                  </a:txBody>
                  <a:tcPr marL="54864" marR="54864" marT="18288" marB="18288" anchor="ctr">
                    <a:solidFill>
                      <a:srgbClr val="FFFFFF"/>
                    </a:solidFill>
                  </a:tcPr>
                </a:tc>
                <a:tc>
                  <a:txBody>
                    <a:bodyPr wrap="square"/>
                    <a:lstStyle/>
                    <a:p>
                      <a:pPr algn="l"/>
                      <a:r>
                        <a:rPr sz="1050" b="0">
                          <a:solidFill>
                            <a:srgbClr val="1E2833"/>
                          </a:solidFill>
                          <a:latin typeface="Segoe UI"/>
                        </a:rPr>
                        <a:t>Deck-fit uses estimated dimensions for the selected frame</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Measure real Chimera9 deck / vendor CAD before Phase 2 build</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6</a:t>
                      </a:r>
                    </a:p>
                  </a:txBody>
                  <a:tcPr marL="54864" marR="54864" marT="18288" marB="18288" anchor="ctr">
                    <a:solidFill>
                      <a:srgbClr val="F6F8FA"/>
                    </a:solidFill>
                  </a:tcPr>
                </a:tc>
                <a:tc>
                  <a:txBody>
                    <a:bodyPr wrap="square"/>
                    <a:lstStyle/>
                    <a:p>
                      <a:pPr algn="l"/>
                      <a:r>
                        <a:rPr sz="1050" b="0">
                          <a:solidFill>
                            <a:srgbClr val="1E2833"/>
                          </a:solidFill>
                          <a:latin typeface="Segoe UI"/>
                        </a:rPr>
                        <a:t>Endurance model is first-order (FoM/η/C_d assumed)</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Correlate to measured hover current on first flights</a:t>
                      </a:r>
                    </a:p>
                  </a:txBody>
                  <a:tcPr marL="54864" marR="54864" marT="18288" marB="18288" anchor="ctr">
                    <a:solidFill>
                      <a:srgbClr val="F6F8FA"/>
                    </a:solidFill>
                  </a:tcPr>
                </a:tc>
              </a:tr>
            </a:tbl>
          </a:graphicData>
        </a:graphic>
      </p:graphicFrame>
      <p:sp>
        <p:nvSpPr>
          <p:cNvPr id="10" name="TextBox 9"/>
          <p:cNvSpPr txBox="1"/>
          <p:nvPr/>
        </p:nvSpPr>
        <p:spPr>
          <a:xfrm>
            <a:off x="566928" y="5943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At CDR, “not yet built” is expected — the material risks are the estimates and the external (regulatory / classification) items, all with defined mitigations.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Open Items  (TBD / TBR / Action)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35</a:t>
            </a:r>
          </a:p>
        </p:txBody>
      </p:sp>
      <p:graphicFrame>
        <p:nvGraphicFramePr>
          <p:cNvPr id="9" name="Table 8"/>
          <p:cNvGraphicFramePr>
            <a:graphicFrameLocks noGrp="1"/>
          </p:cNvGraphicFramePr>
          <p:nvPr/>
        </p:nvGraphicFramePr>
        <p:xfrm>
          <a:off x="566928" y="1371600"/>
          <a:ext cx="11055096" cy="4279392"/>
        </p:xfrm>
        <a:graphic>
          <a:graphicData uri="http://schemas.openxmlformats.org/drawingml/2006/table">
            <a:tbl>
              <a:tblPr>
                <a:tableStyleId>{5C22544A-7EE6-4342-B048-85BDC9FD1C3A}</a:tableStyleId>
              </a:tblPr>
              <a:tblGrid>
                <a:gridCol w="5394960"/>
                <a:gridCol w="1005840"/>
                <a:gridCol w="4654296"/>
              </a:tblGrid>
              <a:tr h="310896">
                <a:tc>
                  <a:txBody>
                    <a:bodyPr wrap="square"/>
                    <a:lstStyle/>
                    <a:p>
                      <a:pPr algn="l"/>
                      <a:r>
                        <a:rPr sz="1100" b="1">
                          <a:solidFill>
                            <a:srgbClr val="FFFFFF"/>
                          </a:solidFill>
                          <a:latin typeface="Segoe UI"/>
                        </a:rPr>
                        <a:t>Item</a:t>
                      </a:r>
                    </a:p>
                  </a:txBody>
                  <a:tcPr marL="54864" marR="54864" marT="18288" marB="18288" anchor="ctr">
                    <a:solidFill>
                      <a:srgbClr val="0F2540"/>
                    </a:solidFill>
                  </a:tcPr>
                </a:tc>
                <a:tc>
                  <a:txBody>
                    <a:bodyPr wrap="square"/>
                    <a:lstStyle/>
                    <a:p>
                      <a:pPr algn="ctr"/>
                      <a:r>
                        <a:rPr sz="1100" b="1">
                          <a:solidFill>
                            <a:srgbClr val="FFFFFF"/>
                          </a:solidFill>
                          <a:latin typeface="Segoe UI"/>
                        </a:rPr>
                        <a:t>Type</a:t>
                      </a:r>
                    </a:p>
                  </a:txBody>
                  <a:tcPr marL="54864" marR="54864" marT="18288" marB="18288" anchor="ctr">
                    <a:solidFill>
                      <a:srgbClr val="0F2540"/>
                    </a:solidFill>
                  </a:tcPr>
                </a:tc>
                <a:tc>
                  <a:txBody>
                    <a:bodyPr wrap="square"/>
                    <a:lstStyle/>
                    <a:p>
                      <a:pPr algn="l"/>
                      <a:r>
                        <a:rPr sz="1100" b="1">
                          <a:solidFill>
                            <a:srgbClr val="FFFFFF"/>
                          </a:solidFill>
                          <a:latin typeface="Segoe UI"/>
                        </a:rPr>
                        <a:t>Owner action</a:t>
                      </a:r>
                    </a:p>
                  </a:txBody>
                  <a:tcPr marL="54864" marR="54864" marT="18288" marB="18288" anchor="ctr">
                    <a:solidFill>
                      <a:srgbClr val="0F2540"/>
                    </a:solidFill>
                  </a:tcPr>
                </a:tc>
              </a:tr>
              <a:tr h="566928">
                <a:tc>
                  <a:txBody>
                    <a:bodyPr wrap="square"/>
                    <a:lstStyle/>
                    <a:p>
                      <a:pPr algn="l"/>
                      <a:r>
                        <a:rPr sz="1100" b="0">
                          <a:solidFill>
                            <a:srgbClr val="1E2833"/>
                          </a:solidFill>
                          <a:latin typeface="Segoe UI"/>
                        </a:rPr>
                        <a:t>RTL reserve-energy threshold value (R6_BHV_RTL_RESERVE)</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Set policy value before first autonomous flight</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FC firmware — resolved to ArduCopter, but issues log still marked OPEN</a:t>
                      </a:r>
                    </a:p>
                  </a:txBody>
                  <a:tcPr marL="54864" marR="54864" marT="18288" marB="18288" anchor="ctr">
                    <a:solidFill>
                      <a:srgbClr val="F6F8FA"/>
                    </a:solidFill>
                  </a:tcPr>
                </a:tc>
                <a:tc>
                  <a:txBody>
                    <a:bodyPr wrap="square"/>
                    <a:lstStyle/>
                    <a:p>
                      <a:pPr algn="ctr"/>
                      <a:r>
                        <a:rPr sz="1100" b="0">
                          <a:solidFill>
                            <a:srgbClr val="2E86AB"/>
                          </a:solidFill>
                          <a:latin typeface="Segoe UI"/>
                        </a:rPr>
                        <a:t>Doc</a:t>
                      </a:r>
                    </a:p>
                  </a:txBody>
                  <a:tcPr marL="54864" marR="54864" marT="18288" marB="18288" anchor="ctr">
                    <a:solidFill>
                      <a:srgbClr val="F6F8FA"/>
                    </a:solidFill>
                  </a:tcPr>
                </a:tc>
                <a:tc>
                  <a:txBody>
                    <a:bodyPr wrap="square"/>
                    <a:lstStyle/>
                    <a:p>
                      <a:pPr algn="l"/>
                      <a:r>
                        <a:rPr sz="1100" b="0">
                          <a:solidFill>
                            <a:srgbClr val="1E2833"/>
                          </a:solidFill>
                          <a:latin typeface="Segoe UI"/>
                        </a:rPr>
                        <a:t>Reconcile MODEL_ISSUES.md §B7 with SELECTED_COMPONENTS</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Selected-frame deck &amp; battery-bay dimensions are estimates</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Confirm from vendor CAD / measurement (Phase 2 gate)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SBC mount — 3D-printed deck not yet designed or modeled</a:t>
                      </a:r>
                    </a:p>
                  </a:txBody>
                  <a:tcPr marL="54864" marR="54864" marT="18288" marB="18288" anchor="ctr">
                    <a:solidFill>
                      <a:srgbClr val="F6F8FA"/>
                    </a:solidFill>
                  </a:tcPr>
                </a:tc>
                <a:tc>
                  <a:txBody>
                    <a:bodyPr wrap="square"/>
                    <a:lstStyle/>
                    <a:p>
                      <a:pPr algn="ctr"/>
                      <a:r>
                        <a:rPr sz="1100" b="0">
                          <a:solidFill>
                            <a:srgbClr val="1F3A5F"/>
                          </a:solidFill>
                          <a:latin typeface="Segoe UI"/>
                        </a:rPr>
                        <a:t>Design</a:t>
                      </a:r>
                    </a:p>
                  </a:txBody>
                  <a:tcPr marL="54864" marR="54864" marT="18288" marB="18288" anchor="ctr">
                    <a:solidFill>
                      <a:srgbClr val="F6F8FA"/>
                    </a:solidFill>
                  </a:tcPr>
                </a:tc>
                <a:tc>
                  <a:txBody>
                    <a:bodyPr wrap="square"/>
                    <a:lstStyle/>
                    <a:p>
                      <a:pPr algn="l"/>
                      <a:r>
                        <a:rPr sz="1100" b="0">
                          <a:solidFill>
                            <a:srgbClr val="1E2833"/>
                          </a:solidFill>
                          <a:latin typeface="Segoe UI"/>
                        </a:rPr>
                        <a:t>Design the mount + add it to model.sysml and CAD (Phase 2 gate)</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AF5 (EMAX Hawk 7) mass gap — non-selected frame</a:t>
                      </a:r>
                    </a:p>
                  </a:txBody>
                  <a:tcPr marL="54864" marR="54864" marT="18288" marB="18288" anchor="ctr">
                    <a:solidFill>
                      <a:srgbClr val="FFFFFF"/>
                    </a:solidFill>
                  </a:tcPr>
                </a:tc>
                <a:tc>
                  <a:txBody>
                    <a:bodyPr wrap="square"/>
                    <a:lstStyle/>
                    <a:p>
                      <a:pPr algn="ctr"/>
                      <a:r>
                        <a:rPr sz="1100" b="0">
                          <a:solidFill>
                            <a:srgbClr val="D9821E"/>
                          </a:solidFill>
                          <a:latin typeface="Segoe UI"/>
                        </a:rPr>
                        <a:t>TBD</a:t>
                      </a:r>
                    </a:p>
                  </a:txBody>
                  <a:tcPr marL="54864" marR="54864" marT="18288" marB="18288" anchor="ctr">
                    <a:solidFill>
                      <a:srgbClr val="FFFFFF"/>
                    </a:solidFill>
                  </a:tcPr>
                </a:tc>
                <a:tc>
                  <a:txBody>
                    <a:bodyPr wrap="square"/>
                    <a:lstStyle/>
                    <a:p>
                      <a:pPr algn="l"/>
                      <a:r>
                        <a:rPr sz="1100" b="0">
                          <a:solidFill>
                            <a:srgbClr val="1E2833"/>
                          </a:solidFill>
                          <a:latin typeface="Segoe UI"/>
                        </a:rPr>
                        <a:t>Close or remove; no effect on baseline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Phase 4 (OpenHD) component pricing</a:t>
                      </a:r>
                    </a:p>
                  </a:txBody>
                  <a:tcPr marL="54864" marR="54864" marT="18288" marB="18288" anchor="ctr">
                    <a:solidFill>
                      <a:srgbClr val="F6F8FA"/>
                    </a:solidFill>
                  </a:tcPr>
                </a:tc>
                <a:tc>
                  <a:txBody>
                    <a:bodyPr wrap="square"/>
                    <a:lstStyle/>
                    <a:p>
                      <a:pPr algn="ctr"/>
                      <a:r>
                        <a:rPr sz="1100" b="0">
                          <a:solidFill>
                            <a:srgbClr val="D9821E"/>
                          </a:solidFill>
                          <a:latin typeface="Segoe UI"/>
                        </a:rPr>
                        <a:t>TBD</a:t>
                      </a:r>
                    </a:p>
                  </a:txBody>
                  <a:tcPr marL="54864" marR="54864" marT="18288" marB="18288" anchor="ctr">
                    <a:solidFill>
                      <a:srgbClr val="F6F8FA"/>
                    </a:solidFill>
                  </a:tcPr>
                </a:tc>
                <a:tc>
                  <a:txBody>
                    <a:bodyPr wrap="square"/>
                    <a:lstStyle/>
                    <a:p>
                      <a:pPr algn="l"/>
                      <a:r>
                        <a:rPr sz="1100" b="0">
                          <a:solidFill>
                            <a:srgbClr val="1E2833"/>
                          </a:solidFill>
                          <a:latin typeface="Segoe UI"/>
                        </a:rPr>
                        <a:t>Confirm before any Phase 4 build (deferred)</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Empirical validation of endurance / thermal / RF</a:t>
                      </a:r>
                    </a:p>
                  </a:txBody>
                  <a:tcPr marL="54864" marR="54864" marT="18288" marB="18288" anchor="ctr">
                    <a:solidFill>
                      <a:srgbClr val="FFFFFF"/>
                    </a:solidFill>
                  </a:tcPr>
                </a:tc>
                <a:tc>
                  <a:txBody>
                    <a:bodyPr wrap="square"/>
                    <a:lstStyle/>
                    <a:p>
                      <a:pPr algn="ctr"/>
                      <a:r>
                        <a:rPr sz="1100" b="0">
                          <a:solidFill>
                            <a:srgbClr val="1F3A5F"/>
                          </a:solidFill>
                          <a:latin typeface="Segoe UI"/>
                        </a:rPr>
                        <a:t>Action</a:t>
                      </a:r>
                    </a:p>
                  </a:txBody>
                  <a:tcPr marL="54864" marR="54864" marT="18288" marB="18288" anchor="ctr">
                    <a:solidFill>
                      <a:srgbClr val="FFFFFF"/>
                    </a:solidFill>
                  </a:tcPr>
                </a:tc>
                <a:tc>
                  <a:txBody>
                    <a:bodyPr wrap="square"/>
                    <a:lstStyle/>
                    <a:p>
                      <a:pPr algn="l"/>
                      <a:r>
                        <a:rPr sz="1100" b="0">
                          <a:solidFill>
                            <a:srgbClr val="1E2833"/>
                          </a:solidFill>
                          <a:latin typeface="Segoe UI"/>
                        </a:rPr>
                        <a:t>Flight test, field thermal capture, range test</a:t>
                      </a:r>
                    </a:p>
                  </a:txBody>
                  <a:tcPr marL="54864" marR="54864" marT="18288" marB="18288" anchor="ctr">
                    <a:solidFill>
                      <a:srgbClr val="FFFFFF"/>
                    </a:solidFill>
                  </a:tcPr>
                </a:tc>
              </a:tr>
            </a:tbl>
          </a:graphicData>
        </a:graphic>
      </p:graphicFrame>
      <p:sp>
        <p:nvSpPr>
          <p:cNvPr id="10" name="TextBox 9"/>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C6B7A"/>
                </a:solidFill>
                <a:latin typeface="Segoe UI"/>
              </a:rPr>
              <a:t>None of the open items block the design baseline; all are bounded and assignable. Empirical validation is the primary pre-operational activity.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SECTION 5 · CLOSURE</a:t>
            </a:r>
          </a:p>
        </p:txBody>
      </p:sp>
      <p:sp>
        <p:nvSpPr>
          <p:cNvPr id="5" name="TextBox 4"/>
          <p:cNvSpPr txBox="1"/>
          <p:nvPr/>
        </p:nvSpPr>
        <p:spPr>
          <a:xfrm>
            <a:off x="566928" y="822960"/>
            <a:ext cx="11055096"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Segoe UI"/>
              </a:rPr>
              <a:t>CDR Exit Assessment &amp; Recommendation</a:t>
            </a:r>
          </a:p>
        </p:txBody>
      </p:sp>
      <p:sp>
        <p:nvSpPr>
          <p:cNvPr id="6" name="TextBox 5"/>
          <p:cNvSpPr txBox="1"/>
          <p:nvPr/>
        </p:nvSpPr>
        <p:spPr>
          <a:xfrm>
            <a:off x="566928" y="1783080"/>
            <a:ext cx="60350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EXIT CRITERIA</a:t>
            </a:r>
          </a:p>
        </p:txBody>
      </p:sp>
      <p:sp>
        <p:nvSpPr>
          <p:cNvPr id="7" name="TextBox 6"/>
          <p:cNvSpPr txBox="1"/>
          <p:nvPr/>
        </p:nvSpPr>
        <p:spPr>
          <a:xfrm>
            <a:off x="566928" y="2194560"/>
            <a:ext cx="6126480" cy="3931920"/>
          </a:xfrm>
          <a:prstGeom prst="rect">
            <a:avLst/>
          </a:prstGeom>
          <a:noFill/>
        </p:spPr>
        <p:txBody>
          <a:bodyPr wrap="square">
            <a:spAutoFit/>
          </a:bodyPr>
          <a:lstStyle/>
          <a:p>
            <a:pPr>
              <a:lnSpc>
                <a:spcPct val="102000"/>
              </a:lnSpc>
              <a:spcAft>
                <a:spcPts val="800"/>
              </a:spcAft>
            </a:pPr>
            <a:r>
              <a:rPr sz="1350" b="1">
                <a:solidFill>
                  <a:srgbClr val="2E7D32"/>
                </a:solidFill>
                <a:latin typeface="Segoe UI"/>
              </a:rPr>
              <a:t>✓  </a:t>
            </a:r>
            <a:r>
              <a:rPr sz="1350">
                <a:solidFill>
                  <a:srgbClr val="E6ECF2"/>
                </a:solidFill>
                <a:latin typeface="Segoe UI"/>
              </a:rPr>
              <a:t>Detailed design complete &amp; traces to R1–R8</a:t>
            </a:r>
          </a:p>
          <a:p>
            <a:pPr>
              <a:lnSpc>
                <a:spcPct val="102000"/>
              </a:lnSpc>
              <a:spcAft>
                <a:spcPts val="800"/>
              </a:spcAft>
            </a:pPr>
            <a:r>
              <a:rPr sz="1350" b="1">
                <a:solidFill>
                  <a:srgbClr val="2E7D32"/>
                </a:solidFill>
                <a:latin typeface="Segoe UI"/>
              </a:rPr>
              <a:t>✓  </a:t>
            </a:r>
            <a:r>
              <a:rPr sz="1350">
                <a:solidFill>
                  <a:srgbClr val="E6ECF2"/>
                </a:solidFill>
                <a:latin typeface="Segoe UI"/>
              </a:rPr>
              <a:t>Interfaces defined (internal + external)</a:t>
            </a:r>
          </a:p>
          <a:p>
            <a:pPr>
              <a:lnSpc>
                <a:spcPct val="102000"/>
              </a:lnSpc>
              <a:spcAft>
                <a:spcPts val="800"/>
              </a:spcAft>
            </a:pPr>
            <a:r>
              <a:rPr sz="1350" b="1">
                <a:solidFill>
                  <a:srgbClr val="2E7D32"/>
                </a:solidFill>
                <a:latin typeface="Segoe UI"/>
              </a:rPr>
              <a:t>✓  </a:t>
            </a:r>
            <a:r>
              <a:rPr sz="1350">
                <a:solidFill>
                  <a:srgbClr val="E6ECF2"/>
                </a:solidFill>
                <a:latin typeface="Segoe UI"/>
              </a:rPr>
              <a:t>Analyses show compliance with margin</a:t>
            </a:r>
          </a:p>
          <a:p>
            <a:pPr>
              <a:lnSpc>
                <a:spcPct val="102000"/>
              </a:lnSpc>
              <a:spcAft>
                <a:spcPts val="800"/>
              </a:spcAft>
            </a:pPr>
            <a:r>
              <a:rPr sz="1350" b="1">
                <a:solidFill>
                  <a:srgbClr val="2E7D32"/>
                </a:solidFill>
                <a:latin typeface="Segoe UI"/>
              </a:rPr>
              <a:t>✓  </a:t>
            </a:r>
            <a:r>
              <a:rPr sz="1350">
                <a:solidFill>
                  <a:srgbClr val="E6ECF2"/>
                </a:solidFill>
                <a:latin typeface="Segoe UI"/>
              </a:rPr>
              <a:t>R4 cost ✓ (26% margin) · R6 ✓ · R7 ✓ · thermal detect ✓</a:t>
            </a:r>
          </a:p>
          <a:p>
            <a:pPr>
              <a:lnSpc>
                <a:spcPct val="102000"/>
              </a:lnSpc>
              <a:spcAft>
                <a:spcPts val="800"/>
              </a:spcAft>
            </a:pPr>
            <a:r>
              <a:rPr sz="1350" b="1">
                <a:solidFill>
                  <a:srgbClr val="D9821E"/>
                </a:solidFill>
                <a:latin typeface="Segoe UI"/>
              </a:rPr>
              <a:t>▲  </a:t>
            </a:r>
            <a:r>
              <a:rPr sz="1350">
                <a:solidFill>
                  <a:srgbClr val="E6ECF2"/>
                </a:solidFill>
                <a:latin typeface="Segoe UI"/>
              </a:rPr>
              <a:t>R8 stretch (60 min) not met — documented</a:t>
            </a:r>
          </a:p>
          <a:p>
            <a:pPr>
              <a:lnSpc>
                <a:spcPct val="102000"/>
              </a:lnSpc>
              <a:spcAft>
                <a:spcPts val="800"/>
              </a:spcAft>
            </a:pPr>
            <a:r>
              <a:rPr sz="1350" b="1">
                <a:solidFill>
                  <a:srgbClr val="2E7D32"/>
                </a:solidFill>
                <a:latin typeface="Segoe UI"/>
              </a:rPr>
              <a:t>✓  </a:t>
            </a:r>
            <a:r>
              <a:rPr sz="1350">
                <a:solidFill>
                  <a:srgbClr val="E6ECF2"/>
                </a:solidFill>
                <a:latin typeface="Segoe UI"/>
              </a:rPr>
              <a:t>Risks identified with mitigations</a:t>
            </a:r>
          </a:p>
          <a:p>
            <a:pPr>
              <a:lnSpc>
                <a:spcPct val="102000"/>
              </a:lnSpc>
              <a:spcAft>
                <a:spcPts val="800"/>
              </a:spcAft>
            </a:pPr>
            <a:r>
              <a:rPr sz="1350" b="1">
                <a:solidFill>
                  <a:srgbClr val="2E7D32"/>
                </a:solidFill>
                <a:latin typeface="Segoe UI"/>
              </a:rPr>
              <a:t>✓  </a:t>
            </a:r>
            <a:r>
              <a:rPr sz="1350">
                <a:solidFill>
                  <a:srgbClr val="E6ECF2"/>
                </a:solidFill>
                <a:latin typeface="Segoe UI"/>
              </a:rPr>
              <a:t>Open items bounded (none design-blocking)</a:t>
            </a:r>
          </a:p>
          <a:p>
            <a:pPr>
              <a:lnSpc>
                <a:spcPct val="102000"/>
              </a:lnSpc>
              <a:spcAft>
                <a:spcPts val="800"/>
              </a:spcAft>
            </a:pPr>
            <a:r>
              <a:rPr sz="1350" b="1">
                <a:solidFill>
                  <a:srgbClr val="D9821E"/>
                </a:solidFill>
                <a:latin typeface="Segoe UI"/>
              </a:rPr>
              <a:t>▲  </a:t>
            </a:r>
            <a:r>
              <a:rPr sz="1350">
                <a:solidFill>
                  <a:srgbClr val="E6ECF2"/>
                </a:solidFill>
                <a:latin typeface="Segoe UI"/>
              </a:rPr>
              <a:t>Empirical validation pending (design gate, not yet test)</a:t>
            </a:r>
          </a:p>
        </p:txBody>
      </p:sp>
      <p:sp>
        <p:nvSpPr>
          <p:cNvPr id="8" name="Rounded Rectangle 7"/>
          <p:cNvSpPr/>
          <p:nvPr/>
        </p:nvSpPr>
        <p:spPr>
          <a:xfrm>
            <a:off x="6858000" y="1783080"/>
            <a:ext cx="4754880" cy="4343400"/>
          </a:xfrm>
          <a:prstGeom prst="roundRect">
            <a:avLst/>
          </a:prstGeom>
          <a:solidFill>
            <a:srgbClr val="143052"/>
          </a:solidFill>
          <a:ln w="12700">
            <a:solidFill>
              <a:srgbClr val="2A44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11680"/>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D9821E"/>
                </a:solidFill>
                <a:latin typeface="Segoe UI"/>
              </a:rPr>
              <a:t>RECOMMENDATION</a:t>
            </a:r>
          </a:p>
        </p:txBody>
      </p:sp>
      <p:sp>
        <p:nvSpPr>
          <p:cNvPr id="10" name="TextBox 9"/>
          <p:cNvSpPr txBox="1"/>
          <p:nvPr/>
        </p:nvSpPr>
        <p:spPr>
          <a:xfrm>
            <a:off x="7132320" y="2468880"/>
            <a:ext cx="4206240" cy="3566160"/>
          </a:xfrm>
          <a:prstGeom prst="rect">
            <a:avLst/>
          </a:prstGeom>
          <a:noFill/>
        </p:spPr>
        <p:txBody>
          <a:bodyPr wrap="square" anchor="t" lIns="0" rIns="0" tIns="0" bIns="0">
            <a:spAutoFit/>
          </a:bodyPr>
          <a:lstStyle/>
          <a:p>
            <a:pPr algn="l">
              <a:lnSpc>
                <a:spcPct val="106000"/>
              </a:lnSpc>
              <a:spcBef>
                <a:spcPts val="0"/>
              </a:spcBef>
              <a:spcAft>
                <a:spcPts val="1000"/>
              </a:spcAft>
            </a:pPr>
            <a:r>
              <a:rPr sz="1600" b="1" i="0">
                <a:solidFill>
                  <a:srgbClr val="FFFFFF"/>
                </a:solidFill>
                <a:latin typeface="Segoe UI"/>
              </a:rPr>
              <a:t>Proceed to fabrication &amp; integration.</a:t>
            </a:r>
          </a:p>
          <a:p>
            <a:pPr algn="l">
              <a:lnSpc>
                <a:spcPct val="106000"/>
              </a:lnSpc>
              <a:spcBef>
                <a:spcPts val="0"/>
              </a:spcBef>
              <a:spcAft>
                <a:spcPts val="1000"/>
              </a:spcAft>
            </a:pPr>
            <a:r>
              <a:rPr sz="1250" b="0" i="0">
                <a:solidFill>
                  <a:srgbClr val="C9D8E6"/>
                </a:solidFill>
                <a:latin typeface="Segoe UI"/>
              </a:rPr>
              <a:t>The detailed design is complete, fully traced, and verified by analysis with margin on cost, endurance, RF range, and thermal detection.</a:t>
            </a:r>
          </a:p>
          <a:p>
            <a:pPr algn="l">
              <a:lnSpc>
                <a:spcPct val="106000"/>
              </a:lnSpc>
              <a:spcBef>
                <a:spcPts val="0"/>
              </a:spcBef>
              <a:spcAft>
                <a:spcPts val="1000"/>
              </a:spcAft>
            </a:pPr>
            <a:r>
              <a:rPr sz="1250" b="0" i="0">
                <a:solidFill>
                  <a:srgbClr val="C9D8E6"/>
                </a:solidFill>
                <a:latin typeface="Segoe UI"/>
              </a:rPr>
              <a:t>Gate to operations on: (1) an instrumented Phase-1 flight to correlate the endurance model, (2) field thermal capture to validate detection/classification, and (3) an established FAA BVLOS regulatory path (Part 107).</a:t>
            </a:r>
          </a:p>
        </p:txBody>
      </p:sp>
      <p:sp>
        <p:nvSpPr>
          <p:cNvPr id="11" name="TextBox 10"/>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7F95AB"/>
                </a:solidFill>
                <a:latin typeface="Segoe UI"/>
              </a:rPr>
              <a:t>Thermal Surveillance UAS · Critical Design Review · 2026-07-26 · Model-based (SysML v2), git-controlled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